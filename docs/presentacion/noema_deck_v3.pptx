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Language model alone</c:v>
                </c:pt>
              </c:strCache>
            </c:strRef>
          </c:tx>
          <c:spPr>
            <a:solidFill>
              <a:srgbClr val="1D1D1F"/>
            </a:solidFill>
            <a:effectLst/>
          </c:spPr>
          <c:invertIfNegative val="0"/>
          <c:dLbls>
            <c:numFmt formatCode="0&quot;%&quot;" sourceLinked="0"/>
            <c:txPr>
              <a:bodyPr/>
              <a:lstStyle/>
              <a:p>
                <a:pPr>
                  <a:defRPr b="0" i="0" strike="noStrike" sz="1200" u="none">
                    <a:solidFill>
                      <a:srgbClr val="1D1D1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Spanish (87)</c:v>
                  </c:pt>
                  <c:pt idx="1">
                    <c:v>Portuguese (47)</c:v>
                  </c:pt>
                  <c:pt idx="2">
                    <c:v>Adversarial (20)</c:v>
                  </c:pt>
                </c:lvl>
              </c:multiLvlStrCache>
            </c:multiLvlStrRef>
          </c:cat>
          <c:val>
            <c:numRef>
              <c:f>Sheet1!$B$2:$B$4</c:f>
              <c:numCache>
                <c:formatCode>General</c:formatCode>
                <c:ptCount val="3"/>
                <c:pt idx="0">
                  <c:v>97.7</c:v>
                </c:pt>
                <c:pt idx="1">
                  <c:v>100</c:v>
                </c:pt>
                <c:pt idx="2">
                  <c:v>70</c:v>
                </c:pt>
              </c:numCache>
            </c:numRef>
          </c:val>
        </c:ser>
        <c:ser>
          <c:idx val="1"/>
          <c:order val="1"/>
          <c:tx>
            <c:strRef>
              <c:f>Sheet1!$C$1</c:f>
              <c:strCache>
                <c:ptCount val="1"/>
                <c:pt idx="0">
                  <c:v>With tools</c:v>
                </c:pt>
              </c:strCache>
            </c:strRef>
          </c:tx>
          <c:spPr>
            <a:solidFill>
              <a:srgbClr val="0071E3"/>
            </a:solidFill>
            <a:effectLst/>
          </c:spPr>
          <c:invertIfNegative val="0"/>
          <c:dLbls>
            <c:numFmt formatCode="0&quot;%&quot;" sourceLinked="0"/>
            <c:txPr>
              <a:bodyPr/>
              <a:lstStyle/>
              <a:p>
                <a:pPr>
                  <a:defRPr b="0" i="0" strike="noStrike" sz="1200" u="none">
                    <a:solidFill>
                      <a:srgbClr val="1D1D1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Spanish (87)</c:v>
                  </c:pt>
                  <c:pt idx="1">
                    <c:v>Portuguese (47)</c:v>
                  </c:pt>
                  <c:pt idx="2">
                    <c:v>Adversarial (20)</c:v>
                  </c:pt>
                </c:lvl>
              </c:multiLvlStrCache>
            </c:multiLvlStrRef>
          </c:cat>
          <c:val>
            <c:numRef>
              <c:f>Sheet1!$C$2:$C$4</c:f>
              <c:numCache>
                <c:formatCode>General</c:formatCode>
                <c:ptCount val="3"/>
                <c:pt idx="0">
                  <c:v>0</c:v>
                </c:pt>
                <c:pt idx="1">
                  <c:v>0</c:v>
                </c:pt>
                <c:pt idx="2">
                  <c:v>0</c:v>
                </c:pt>
              </c:numCache>
            </c:numRef>
          </c:val>
        </c:ser>
        <c:dLbls>
          <c:numFmt formatCode="0&quot;%&quot;" sourceLinked="0"/>
          <c:txPr>
            <a:bodyPr/>
            <a:lstStyle/>
            <a:p>
              <a:pPr>
                <a:defRPr b="0" i="0" strike="noStrike" sz="1200" u="none">
                  <a:solidFill>
                    <a:srgbClr val="1D1D1F"/>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D1D1F"/>
                </a:solidFill>
                <a:latin typeface="Calibri"/>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ROC-AUC</c:v>
                </c:pt>
              </c:strCache>
            </c:strRef>
          </c:tx>
          <c:spPr>
            <a:solidFill>
              <a:srgbClr val="0071E3"/>
            </a:solidFill>
            <a:effectLst/>
          </c:spPr>
          <c:invertIfNegative val="0"/>
          <c:dLbls>
            <c:numFmt formatCode="0.00" sourceLinked="0"/>
            <c:txPr>
              <a:bodyPr/>
              <a:lstStyle/>
              <a:p>
                <a:pPr>
                  <a:defRPr b="0" i="0" strike="noStrike" sz="1300" u="none">
                    <a:solidFill>
                      <a:srgbClr val="1D1D1F"/>
                    </a:solidFill>
                    <a:latin typeface="Calibri"/>
                  </a:defRPr>
                </a:pPr>
              </a:p>
            </c:txPr>
            <c:showLegendKey val="0"/>
            <c:showVal val="1"/>
            <c:showCatName val="0"/>
            <c:showSerName val="0"/>
            <c:showPercent val="0"/>
            <c:showBubbleSize val="0"/>
            <c:showLeaderLines val="0"/>
          </c:dLbls>
          <c:cat>
            <c:multiLvlStrRef>
              <c:f>Sheet1!$A$2:$A$4</c:f>
              <c:multiLvlStrCache>
                <c:ptCount val="3"/>
                <c:lvl>
                  <c:pt idx="0">
                    <c:v>Chance</c:v>
                  </c:pt>
                  <c:pt idx="1">
                    <c:v>Deep network (3 seeds)</c:v>
                  </c:pt>
                  <c:pt idx="2">
                    <c:v>Logistic regression</c:v>
                  </c:pt>
                </c:lvl>
              </c:multiLvlStrCache>
            </c:multiLvlStrRef>
          </c:cat>
          <c:val>
            <c:numRef>
              <c:f>Sheet1!$B$2:$B$4</c:f>
              <c:numCache>
                <c:formatCode>General</c:formatCode>
                <c:ptCount val="3"/>
                <c:pt idx="0">
                  <c:v>0.5</c:v>
                </c:pt>
                <c:pt idx="1">
                  <c:v>0.656</c:v>
                </c:pt>
                <c:pt idx="2">
                  <c:v>0.657</c:v>
                </c:pt>
              </c:numCache>
            </c:numRef>
          </c:val>
        </c:ser>
        <c:dLbls>
          <c:numFmt formatCode="0.00" sourceLinked="0"/>
          <c:txPr>
            <a:bodyPr/>
            <a:lstStyle/>
            <a:p>
              <a:pPr>
                <a:defRPr b="0" i="0" strike="noStrike" sz="1300" u="none">
                  <a:solidFill>
                    <a:srgbClr val="1D1D1F"/>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D1D1F"/>
                </a:solidFill>
                <a:latin typeface="Calibri"/>
              </a:defRPr>
            </a:pPr>
            <a:endParaRPr lang="en-US"/>
          </a:p>
        </c:txPr>
        <c:crossAx val="2094734552"/>
        <c:crosses val="autoZero"/>
        <c:auto val="1"/>
        <c:lblAlgn val="ctr"/>
        <c:noMultiLvlLbl val="1"/>
      </c:catAx>
      <c:valAx>
        <c:axId val="2094734552"/>
        <c:scaling>
          <c:orientation val="minMax"/>
          <c:max val="1"/>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a banking chatbot can sound confident and still be wrong. Our answer is to separate the conversation from the decision. The model talks. Rules decide. No figure ever comes from the model. We are Eduardo and Federico, team noema.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here. We measured the same 154 cases three ways. With the model alone, nearly every Spanish case produced at least one figure that no data supported. With tools, zero. This is the whole reason for the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finding: this dataset has no learnable credit-default label. days_past_due looks like delinquency but is a flat distribution. fraud_score is two uniform ranges depending on the class. So we did not train a decision model on a target that does not measure what it claims. credit_score is coherent, which tells us the problem is the label, not the score. 78 findings are documented.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Federico ran a depth experiment with three seeds. The deep network averages 0.656 ROC-AUC; logistic regression 0.657. We kept the simpler model. The product-interest model predicts campaign conversion within 30 days; its test AUC is 0.67, with a bootstrap interval of 0.67 to 0.69. Prevalence is 0.57 percent, so the signal is weak, and we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Rejecting models is part of the method. We found a churn model that was predicting its own answer through a leaked column. We found a segmentation model evaluated on its training data. We found a default target that does not measure default. The jury sees what we refused to 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Capacity is a cash-flow proxy, not declared income and not an approval. A customer gets an estimate only when there are three active windows and no ambiguous transfers. The gain over a conservative baseline is small, and we say that. The next step turns this into a maximum monthly payment that feeds rules 3 and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is who decides. A policy decides, and it can be read, audited, and tested without any model. Changing a threshold changes behavior without touching code, and every change is in git. Offers come with several terms: personal loans at 24, 48 or 72 months; mortgages at 120, 180 or 240. When data is missing, the system asks or escalates. It does not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in v3. Once verified, the customer can ask what they owe. The system reads balance, limit and rate from the records. A personal loan's installment is an estimate on the policy's assumed term, and the reply says it is an estimate. Cards show the minimum payment. Without a verified session, the question returns nothing: it is treated like any other personal data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layers, and the important one is the model boundary. The model can extract a document number, but it cannot compare it to the database, and it cannot put a figure in a reply that no tool produced. If grounding fails twice, the turn escalates. Escalation case files carry no personal data in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Coverage: 87 Spanish cases, 47 Portuguese cases built for the test, and 20 adversarial cases. Each case is checked against the same outcome rules. Portuguese is a real requirement: the second guided conversation is entirely in Portuguese, and the rejection reasons from the engine are translated while keeping every figure, because the grounding check compares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live demo. Open the URL, press Play on the first guided conversation, and point at the panel on the right as each rule fires. Close on the limits: say them out loud. They are part of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014"/>
        </a:solidFill>
      </p:bgPr>
    </p:bg>
    <p:spTree>
      <p:nvGrpSpPr>
        <p:cNvPr id="1" name=""/>
        <p:cNvGrpSpPr/>
        <p:nvPr/>
      </p:nvGrpSpPr>
      <p:grpSpPr>
        <a:xfrm>
          <a:off x="0" y="0"/>
          <a:ext cx="0" cy="0"/>
          <a:chOff x="0" y="0"/>
          <a:chExt cx="0" cy="0"/>
        </a:xfrm>
      </p:grpSpPr>
      <p:sp>
        <p:nvSpPr>
          <p:cNvPr id="2" name="Text 0"/>
          <p:cNvSpPr txBox="1"/>
          <p:nvPr/>
        </p:nvSpPr>
        <p:spPr>
          <a:xfrm>
            <a:off x="548640" y="4800600"/>
            <a:ext cx="8046720" cy="201168"/>
          </a:xfrm>
          <a:prstGeom prst="rect">
            <a:avLst/>
          </a:prstGeom>
          <a:noFill/>
          <a:ln/>
        </p:spPr>
        <p:txBody>
          <a:bodyPr wrap="square" lIns="0" tIns="0" rIns="0" bIns="0" rtlCol="0" anchor="t"/>
          <a:lstStyle/>
          <a:p>
            <a:pPr indent="0" marL="0">
              <a:buNone/>
            </a:pPr>
            <a:r>
              <a:rPr lang="en-US" sz="1000" dirty="0">
                <a:solidFill>
                  <a:srgbClr val="A1A1A6"/>
                </a:solidFill>
                <a:latin typeface="Calibri" pitchFamily="34" charset="0"/>
                <a:ea typeface="Calibri" pitchFamily="34" charset="-122"/>
                <a:cs typeface="Calibri" pitchFamily="34" charset="-120"/>
              </a:rPr>
              <a:t>noema · Factored AI &amp; Data Hackathon 2026 · Eduardo Lozada &amp; Federico Vargas</a:t>
            </a:r>
            <a:endParaRPr lang="en-US" sz="1000" dirty="0"/>
          </a:p>
        </p:txBody>
      </p:sp>
      <p:sp>
        <p:nvSpPr>
          <p:cNvPr id="3" name="Text 1"/>
          <p:cNvSpPr txBox="1"/>
          <p:nvPr/>
        </p:nvSpPr>
        <p:spPr>
          <a:xfrm>
            <a:off x="548640" y="1097280"/>
            <a:ext cx="8046720" cy="1097280"/>
          </a:xfrm>
          <a:prstGeom prst="rect">
            <a:avLst/>
          </a:prstGeom>
          <a:noFill/>
          <a:ln/>
        </p:spPr>
        <p:txBody>
          <a:bodyPr wrap="square" lIns="0" tIns="0" rIns="0" bIns="0" rtlCol="0" anchor="t"/>
          <a:lstStyle/>
          <a:p>
            <a:pPr indent="0" marL="0">
              <a:buNone/>
            </a:pPr>
            <a:r>
              <a:rPr lang="en-US" sz="8000" b="1" dirty="0">
                <a:solidFill>
                  <a:srgbClr val="FFFFFF"/>
                </a:solidFill>
                <a:latin typeface="Calibri" pitchFamily="34" charset="0"/>
                <a:ea typeface="Calibri" pitchFamily="34" charset="-122"/>
                <a:cs typeface="Calibri" pitchFamily="34" charset="-120"/>
              </a:rPr>
              <a:t>noema</a:t>
            </a:r>
            <a:endParaRPr lang="en-US" sz="8000" dirty="0"/>
          </a:p>
        </p:txBody>
      </p:sp>
      <p:sp>
        <p:nvSpPr>
          <p:cNvPr id="4" name="Text 2"/>
          <p:cNvSpPr txBox="1"/>
          <p:nvPr/>
        </p:nvSpPr>
        <p:spPr>
          <a:xfrm>
            <a:off x="548640" y="2286000"/>
            <a:ext cx="8046720" cy="1097280"/>
          </a:xfrm>
          <a:prstGeom prst="rect">
            <a:avLst/>
          </a:prstGeom>
          <a:noFill/>
          <a:ln/>
        </p:spPr>
        <p:txBody>
          <a:bodyPr wrap="square" lIns="0" tIns="0" rIns="0" bIns="0" rtlCol="0" anchor="t"/>
          <a:lstStyle/>
          <a:p>
            <a:pPr indent="0" marL="0">
              <a:buNone/>
            </a:pPr>
            <a:r>
              <a:rPr lang="en-US" sz="3200" dirty="0">
                <a:solidFill>
                  <a:srgbClr val="FFFFFF"/>
                </a:solidFill>
                <a:latin typeface="Calibri" pitchFamily="34" charset="0"/>
                <a:ea typeface="Calibri" pitchFamily="34" charset="-122"/>
                <a:cs typeface="Calibri" pitchFamily="34" charset="-120"/>
              </a:rPr>
              <a:t>The chat that converses.</a:t>
            </a:r>
            <a:endParaRPr lang="en-US" sz="3200" dirty="0"/>
          </a:p>
          <a:p>
            <a:pPr indent="0" marL="0">
              <a:buNone/>
            </a:pPr>
            <a:r>
              <a:rPr lang="en-US" sz="3200" dirty="0">
                <a:solidFill>
                  <a:srgbClr val="FFFFFF"/>
                </a:solidFill>
                <a:latin typeface="Calibri" pitchFamily="34" charset="0"/>
                <a:ea typeface="Calibri" pitchFamily="34" charset="-122"/>
                <a:cs typeface="Calibri" pitchFamily="34" charset="-120"/>
              </a:rPr>
              <a:t>A rule that decides.</a:t>
            </a:r>
            <a:endParaRPr lang="en-US" sz="3200" dirty="0"/>
          </a:p>
        </p:txBody>
      </p:sp>
      <p:sp>
        <p:nvSpPr>
          <p:cNvPr id="5" name="Text 3"/>
          <p:cNvSpPr txBox="1"/>
          <p:nvPr/>
        </p:nvSpPr>
        <p:spPr>
          <a:xfrm>
            <a:off x="548640" y="3749040"/>
            <a:ext cx="8046720" cy="457200"/>
          </a:xfrm>
          <a:prstGeom prst="rect">
            <a:avLst/>
          </a:prstGeom>
          <a:noFill/>
          <a:ln/>
        </p:spPr>
        <p:txBody>
          <a:bodyPr wrap="square" lIns="0" tIns="0" rIns="0" bIns="0" rtlCol="0" anchor="t"/>
          <a:lstStyle/>
          <a:p>
            <a:pPr indent="0" marL="0">
              <a:buNone/>
            </a:pPr>
            <a:r>
              <a:rPr lang="en-US" sz="1600" dirty="0">
                <a:solidFill>
                  <a:srgbClr val="A1A1A6"/>
                </a:solidFill>
                <a:latin typeface="Calibri" pitchFamily="34" charset="0"/>
                <a:ea typeface="Calibri" pitchFamily="34" charset="-122"/>
                <a:cs typeface="Calibri" pitchFamily="34" charset="-120"/>
              </a:rPr>
              <a:t>Credit-product information and eligibility  ·  Factored AI &amp; Data Hackathon 2026</a:t>
            </a:r>
            <a:endParaRPr lang="en-US" sz="1600" dirty="0"/>
          </a:p>
        </p:txBody>
      </p:sp>
      <p:sp>
        <p:nvSpPr>
          <p:cNvPr id="6" name="Text 4"/>
          <p:cNvSpPr txBox="1"/>
          <p:nvPr/>
        </p:nvSpPr>
        <p:spPr>
          <a:xfrm>
            <a:off x="548640" y="4114800"/>
            <a:ext cx="8046720" cy="320040"/>
          </a:xfrm>
          <a:prstGeom prst="rect">
            <a:avLst/>
          </a:prstGeom>
          <a:noFill/>
          <a:ln/>
        </p:spPr>
        <p:txBody>
          <a:bodyPr wrap="square" lIns="0" tIns="0" rIns="0" bIns="0" rtlCol="0" anchor="t"/>
          <a:lstStyle/>
          <a:p>
            <a:pPr indent="0" marL="0">
              <a:buNone/>
            </a:pPr>
            <a:r>
              <a:rPr lang="en-US" sz="1400" dirty="0">
                <a:solidFill>
                  <a:srgbClr val="A1A1A6"/>
                </a:solidFill>
                <a:latin typeface="Calibri" pitchFamily="34" charset="0"/>
                <a:ea typeface="Calibri" pitchFamily="34" charset="-122"/>
                <a:cs typeface="Calibri" pitchFamily="34" charset="-120"/>
              </a:rPr>
              <a:t>Eduardo Lozada  ·  Federico Vargas  ·  team noema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74320"/>
          </a:xfrm>
          <a:prstGeom prst="rect">
            <a:avLst/>
          </a:prstGeom>
          <a:noFill/>
          <a:ln/>
        </p:spPr>
        <p:txBody>
          <a:bodyPr wrap="square" lIns="0" tIns="0" rIns="0" bIns="0" rtlCol="0" anchor="t"/>
          <a:lstStyle/>
          <a:p>
            <a:pPr indent="0" marL="0">
              <a:buNone/>
            </a:pPr>
            <a:r>
              <a:rPr lang="en-US" sz="1200" b="1" dirty="0">
                <a:solidFill>
                  <a:srgbClr val="0071E3"/>
                </a:solidFill>
                <a:latin typeface="Calibri" pitchFamily="34" charset="0"/>
                <a:ea typeface="Calibri" pitchFamily="34" charset="-122"/>
                <a:cs typeface="Calibri" pitchFamily="34" charset="-120"/>
              </a:rPr>
              <a:t>01 · THE PROBLEM</a:t>
            </a:r>
            <a:endParaRPr lang="en-US" sz="1200" dirty="0"/>
          </a:p>
        </p:txBody>
      </p:sp>
      <p:sp>
        <p:nvSpPr>
          <p:cNvPr id="3" name="Text 1"/>
          <p:cNvSpPr txBox="1"/>
          <p:nvPr/>
        </p:nvSpPr>
        <p:spPr>
          <a:xfrm>
            <a:off x="548640" y="640080"/>
            <a:ext cx="8046720" cy="868680"/>
          </a:xfrm>
          <a:prstGeom prst="rect">
            <a:avLst/>
          </a:prstGeom>
          <a:noFill/>
          <a:ln/>
        </p:spPr>
        <p:txBody>
          <a:bodyPr wrap="square" lIns="0" tIns="0" rIns="0" bIns="0" rtlCol="0" anchor="t"/>
          <a:lstStyle/>
          <a:p>
            <a:pPr indent="0" marL="0">
              <a:buNone/>
            </a:pPr>
            <a:r>
              <a:rPr lang="en-US" sz="2800" b="1" dirty="0">
                <a:solidFill>
                  <a:srgbClr val="1D1D1F"/>
                </a:solidFill>
                <a:latin typeface="Calibri" pitchFamily="34" charset="0"/>
                <a:ea typeface="Calibri" pitchFamily="34" charset="-122"/>
                <a:cs typeface="Calibri" pitchFamily="34" charset="-120"/>
              </a:rPr>
              <a:t>A fluent assistant can promise what it doesn't have.</a:t>
            </a:r>
            <a:endParaRPr lang="en-US" sz="2800" dirty="0"/>
          </a:p>
        </p:txBody>
      </p:sp>
      <p:sp>
        <p:nvSpPr>
          <p:cNvPr id="4" name="Text 2"/>
          <p:cNvSpPr txBox="1"/>
          <p:nvPr/>
        </p:nvSpPr>
        <p:spPr>
          <a:xfrm>
            <a:off x="548640" y="4800600"/>
            <a:ext cx="8046720" cy="201168"/>
          </a:xfrm>
          <a:prstGeom prst="rect">
            <a:avLst/>
          </a:prstGeom>
          <a:noFill/>
          <a:ln/>
        </p:spPr>
        <p:txBody>
          <a:bodyPr wrap="square" lIns="0" tIns="0" rIns="0" bIns="0" rtlCol="0" anchor="t"/>
          <a:lstStyle/>
          <a:p>
            <a:pPr indent="0" marL="0">
              <a:buNone/>
            </a:pPr>
            <a:r>
              <a:rPr lang="en-US" sz="1000" dirty="0">
                <a:solidFill>
                  <a:srgbClr val="6E6E73"/>
                </a:solidFill>
                <a:latin typeface="Calibri" pitchFamily="34" charset="0"/>
                <a:ea typeface="Calibri" pitchFamily="34" charset="-122"/>
                <a:cs typeface="Calibri" pitchFamily="34" charset="-120"/>
              </a:rPr>
              <a:t>noema · Factored AI &amp; Data Hackathon 2026 · Eduardo Lozada &amp; Federico Vargas</a:t>
            </a:r>
            <a:endParaRPr lang="en-US" sz="1000" dirty="0"/>
          </a:p>
        </p:txBody>
      </p:sp>
      <p:sp>
        <p:nvSpPr>
          <p:cNvPr id="5" name="Text 3"/>
          <p:cNvSpPr txBox="1"/>
          <p:nvPr/>
        </p:nvSpPr>
        <p:spPr>
          <a:xfrm>
            <a:off x="548640" y="1554480"/>
            <a:ext cx="5120640" cy="365760"/>
          </a:xfrm>
          <a:prstGeom prst="rect">
            <a:avLst/>
          </a:prstGeom>
          <a:noFill/>
          <a:ln/>
        </p:spPr>
        <p:txBody>
          <a:bodyPr wrap="square" lIns="0" tIns="0" rIns="0" bIns="0" rtlCol="0" anchor="t"/>
          <a:lstStyle/>
          <a:p>
            <a:pPr indent="0" marL="0">
              <a:buNone/>
            </a:pPr>
            <a:r>
              <a:rPr lang="en-US" sz="1400" b="1" dirty="0">
                <a:solidFill>
                  <a:srgbClr val="6E6E73"/>
                </a:solidFill>
                <a:latin typeface="Calibri" pitchFamily="34" charset="0"/>
                <a:ea typeface="Calibri" pitchFamily="34" charset="-122"/>
                <a:cs typeface="Calibri" pitchFamily="34" charset="-120"/>
              </a:rPr>
              <a:t>Unsafe answers: a figure no tool had produced in that turn</a:t>
            </a:r>
            <a:endParaRPr lang="en-US" sz="1400" dirty="0"/>
          </a:p>
        </p:txBody>
      </p:sp>
      <p:graphicFrame>
        <p:nvGraphicFramePr>
          <p:cNvPr id="6" name="Chart 0" descr=""/>
          <p:cNvGraphicFramePr/>
          <p:nvPr/>
        </p:nvGraphicFramePr>
        <p:xfrm>
          <a:off x="457200" y="1874520"/>
          <a:ext cx="4937760" cy="28346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852160" y="1645920"/>
            <a:ext cx="2743200" cy="640080"/>
          </a:xfrm>
          <a:prstGeom prst="rect">
            <a:avLst/>
          </a:prstGeom>
          <a:noFill/>
          <a:ln/>
        </p:spPr>
        <p:txBody>
          <a:bodyPr wrap="square" lIns="0" tIns="0" rIns="0" bIns="0" rtlCol="0" anchor="t"/>
          <a:lstStyle/>
          <a:p>
            <a:pPr indent="0" marL="0">
              <a:buNone/>
            </a:pPr>
            <a:r>
              <a:rPr lang="en-US" sz="4000" b="1" dirty="0">
                <a:solidFill>
                  <a:srgbClr val="C0392B"/>
                </a:solidFill>
                <a:latin typeface="Calibri" pitchFamily="34" charset="0"/>
                <a:ea typeface="Calibri" pitchFamily="34" charset="-122"/>
                <a:cs typeface="Calibri" pitchFamily="34" charset="-120"/>
              </a:rPr>
              <a:t>85 of 87</a:t>
            </a:r>
            <a:endParaRPr lang="en-US" sz="4000" dirty="0"/>
          </a:p>
        </p:txBody>
      </p:sp>
      <p:sp>
        <p:nvSpPr>
          <p:cNvPr id="8" name="Text 5"/>
          <p:cNvSpPr txBox="1"/>
          <p:nvPr/>
        </p:nvSpPr>
        <p:spPr>
          <a:xfrm>
            <a:off x="5852160" y="2304288"/>
            <a:ext cx="2743200" cy="731520"/>
          </a:xfrm>
          <a:prstGeom prst="rect">
            <a:avLst/>
          </a:prstGeom>
          <a:noFill/>
          <a:ln/>
        </p:spPr>
        <p:txBody>
          <a:bodyPr wrap="square" lIns="0" tIns="0" rIns="0" bIns="0" rtlCol="0" anchor="t"/>
          <a:lstStyle/>
          <a:p>
            <a:pPr indent="0" marL="0">
              <a:buNone/>
            </a:pPr>
            <a:r>
              <a:rPr lang="en-US" sz="1400" dirty="0">
                <a:solidFill>
                  <a:srgbClr val="6E6E73"/>
                </a:solidFill>
                <a:latin typeface="Calibri" pitchFamily="34" charset="0"/>
                <a:ea typeface="Calibri" pitchFamily="34" charset="-122"/>
                <a:cs typeface="Calibri" pitchFamily="34" charset="-120"/>
              </a:rPr>
              <a:t>Spanish cases where the model alone stated an unsupported figure.</a:t>
            </a:r>
            <a:endParaRPr lang="en-US" sz="1400" dirty="0"/>
          </a:p>
        </p:txBody>
      </p:sp>
      <p:sp>
        <p:nvSpPr>
          <p:cNvPr id="9" name="Text 6"/>
          <p:cNvSpPr txBox="1"/>
          <p:nvPr/>
        </p:nvSpPr>
        <p:spPr>
          <a:xfrm>
            <a:off x="5852160" y="2971800"/>
            <a:ext cx="2743200" cy="640080"/>
          </a:xfrm>
          <a:prstGeom prst="rect">
            <a:avLst/>
          </a:prstGeom>
          <a:noFill/>
          <a:ln/>
        </p:spPr>
        <p:txBody>
          <a:bodyPr wrap="square" lIns="0" tIns="0" rIns="0" bIns="0" rtlCol="0" anchor="t"/>
          <a:lstStyle/>
          <a:p>
            <a:pPr indent="0" marL="0">
              <a:buNone/>
            </a:pPr>
            <a:r>
              <a:rPr lang="en-US" sz="4000" b="1" dirty="0">
                <a:solidFill>
                  <a:srgbClr val="0071E3"/>
                </a:solidFill>
                <a:latin typeface="Calibri" pitchFamily="34" charset="0"/>
                <a:ea typeface="Calibri" pitchFamily="34" charset="-122"/>
                <a:cs typeface="Calibri" pitchFamily="34" charset="-120"/>
              </a:rPr>
              <a:t>0</a:t>
            </a:r>
            <a:endParaRPr lang="en-US" sz="4000" dirty="0"/>
          </a:p>
        </p:txBody>
      </p:sp>
      <p:sp>
        <p:nvSpPr>
          <p:cNvPr id="10" name="Text 7"/>
          <p:cNvSpPr txBox="1"/>
          <p:nvPr/>
        </p:nvSpPr>
        <p:spPr>
          <a:xfrm>
            <a:off x="5852160" y="3630168"/>
            <a:ext cx="2743200" cy="731520"/>
          </a:xfrm>
          <a:prstGeom prst="rect">
            <a:avLst/>
          </a:prstGeom>
          <a:noFill/>
          <a:ln/>
        </p:spPr>
        <p:txBody>
          <a:bodyPr wrap="square" lIns="0" tIns="0" rIns="0" bIns="0" rtlCol="0" anchor="t"/>
          <a:lstStyle/>
          <a:p>
            <a:pPr indent="0" marL="0">
              <a:buNone/>
            </a:pPr>
            <a:r>
              <a:rPr lang="en-US" sz="1400" dirty="0">
                <a:solidFill>
                  <a:srgbClr val="6E6E73"/>
                </a:solidFill>
                <a:latin typeface="Calibri" pitchFamily="34" charset="0"/>
                <a:ea typeface="Calibri" pitchFamily="34" charset="-122"/>
                <a:cs typeface="Calibri" pitchFamily="34" charset="-120"/>
              </a:rPr>
              <a:t>unsafe actions when the same cases run with tools.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74320"/>
          </a:xfrm>
          <a:prstGeom prst="rect">
            <a:avLst/>
          </a:prstGeom>
          <a:noFill/>
          <a:ln/>
        </p:spPr>
        <p:txBody>
          <a:bodyPr wrap="square" lIns="0" tIns="0" rIns="0" bIns="0" rtlCol="0" anchor="t"/>
          <a:lstStyle/>
          <a:p>
            <a:pPr indent="0" marL="0">
              <a:buNone/>
            </a:pPr>
            <a:r>
              <a:rPr lang="en-US" sz="1200" b="1" dirty="0">
                <a:solidFill>
                  <a:srgbClr val="0071E3"/>
                </a:solidFill>
                <a:latin typeface="Calibri" pitchFamily="34" charset="0"/>
                <a:ea typeface="Calibri" pitchFamily="34" charset="-122"/>
                <a:cs typeface="Calibri" pitchFamily="34" charset="-120"/>
              </a:rPr>
              <a:t>02 · THE DATA</a:t>
            </a:r>
            <a:endParaRPr lang="en-US" sz="1200" dirty="0"/>
          </a:p>
        </p:txBody>
      </p:sp>
      <p:sp>
        <p:nvSpPr>
          <p:cNvPr id="3" name="Text 1"/>
          <p:cNvSpPr txBox="1"/>
          <p:nvPr/>
        </p:nvSpPr>
        <p:spPr>
          <a:xfrm>
            <a:off x="548640" y="640080"/>
            <a:ext cx="8046720" cy="868680"/>
          </a:xfrm>
          <a:prstGeom prst="rect">
            <a:avLst/>
          </a:prstGeom>
          <a:noFill/>
          <a:ln/>
        </p:spPr>
        <p:txBody>
          <a:bodyPr wrap="square" lIns="0" tIns="0" rIns="0" bIns="0" rtlCol="0" anchor="t"/>
          <a:lstStyle/>
          <a:p>
            <a:pPr indent="0" marL="0">
              <a:buNone/>
            </a:pPr>
            <a:r>
              <a:rPr lang="en-US" sz="2800" b="1" dirty="0">
                <a:solidFill>
                  <a:srgbClr val="1D1D1F"/>
                </a:solidFill>
                <a:latin typeface="Calibri" pitchFamily="34" charset="0"/>
                <a:ea typeface="Calibri" pitchFamily="34" charset="-122"/>
                <a:cs typeface="Calibri" pitchFamily="34" charset="-120"/>
              </a:rPr>
              <a:t>We audited the data before we built anything.</a:t>
            </a:r>
            <a:endParaRPr lang="en-US" sz="2800" dirty="0"/>
          </a:p>
        </p:txBody>
      </p:sp>
      <p:sp>
        <p:nvSpPr>
          <p:cNvPr id="4" name="Text 2"/>
          <p:cNvSpPr txBox="1"/>
          <p:nvPr/>
        </p:nvSpPr>
        <p:spPr>
          <a:xfrm>
            <a:off x="548640" y="4800600"/>
            <a:ext cx="8046720" cy="201168"/>
          </a:xfrm>
          <a:prstGeom prst="rect">
            <a:avLst/>
          </a:prstGeom>
          <a:noFill/>
          <a:ln/>
        </p:spPr>
        <p:txBody>
          <a:bodyPr wrap="square" lIns="0" tIns="0" rIns="0" bIns="0" rtlCol="0" anchor="t"/>
          <a:lstStyle/>
          <a:p>
            <a:pPr indent="0" marL="0">
              <a:buNone/>
            </a:pPr>
            <a:r>
              <a:rPr lang="en-US" sz="1000" dirty="0">
                <a:solidFill>
                  <a:srgbClr val="6E6E73"/>
                </a:solidFill>
                <a:latin typeface="Calibri" pitchFamily="34" charset="0"/>
                <a:ea typeface="Calibri" pitchFamily="34" charset="-122"/>
                <a:cs typeface="Calibri" pitchFamily="34" charset="-120"/>
              </a:rPr>
              <a:t>noema · Factored AI &amp; Data Hackathon 2026 · Eduardo Lozada &amp; Federico Vargas</a:t>
            </a:r>
            <a:endParaRPr lang="en-US" sz="1000" dirty="0"/>
          </a:p>
        </p:txBody>
      </p:sp>
      <p:sp>
        <p:nvSpPr>
          <p:cNvPr id="5" name="Shape 3"/>
          <p:cNvSpPr/>
          <p:nvPr/>
        </p:nvSpPr>
        <p:spPr>
          <a:xfrm>
            <a:off x="548640" y="1600200"/>
            <a:ext cx="1874520" cy="1005840"/>
          </a:xfrm>
          <a:prstGeom prst="rect">
            <a:avLst/>
          </a:prstGeom>
          <a:solidFill>
            <a:srgbClr val="F5F5F7"/>
          </a:solidFill>
          <a:ln w="12700">
            <a:solidFill>
              <a:srgbClr val="F5F5F7"/>
            </a:solidFill>
            <a:prstDash val="solid"/>
          </a:ln>
        </p:spPr>
      </p:sp>
      <p:sp>
        <p:nvSpPr>
          <p:cNvPr id="6" name="Text 4"/>
          <p:cNvSpPr txBox="1"/>
          <p:nvPr/>
        </p:nvSpPr>
        <p:spPr>
          <a:xfrm>
            <a:off x="685800" y="1691640"/>
            <a:ext cx="1645920" cy="457200"/>
          </a:xfrm>
          <a:prstGeom prst="rect">
            <a:avLst/>
          </a:prstGeom>
          <a:noFill/>
          <a:ln/>
        </p:spPr>
        <p:txBody>
          <a:bodyPr wrap="square" lIns="0" tIns="0" rIns="0" bIns="0" rtlCol="0" anchor="t"/>
          <a:lstStyle/>
          <a:p>
            <a:pPr indent="0" marL="0">
              <a:buNone/>
            </a:pPr>
            <a:r>
              <a:rPr lang="en-US" sz="2600" b="1" dirty="0">
                <a:solidFill>
                  <a:srgbClr val="1D1D1F"/>
                </a:solidFill>
                <a:latin typeface="Calibri" pitchFamily="34" charset="0"/>
                <a:ea typeface="Calibri" pitchFamily="34" charset="-122"/>
                <a:cs typeface="Calibri" pitchFamily="34" charset="-120"/>
              </a:rPr>
              <a:t>13</a:t>
            </a:r>
            <a:endParaRPr lang="en-US" sz="2600" dirty="0"/>
          </a:p>
        </p:txBody>
      </p:sp>
      <p:sp>
        <p:nvSpPr>
          <p:cNvPr id="7" name="Text 5"/>
          <p:cNvSpPr txBox="1"/>
          <p:nvPr/>
        </p:nvSpPr>
        <p:spPr>
          <a:xfrm>
            <a:off x="685800" y="2194560"/>
            <a:ext cx="1645920" cy="320040"/>
          </a:xfrm>
          <a:prstGeom prst="rect">
            <a:avLst/>
          </a:prstGeom>
          <a:noFill/>
          <a:ln/>
        </p:spPr>
        <p:txBody>
          <a:bodyPr wrap="square" lIns="0" tIns="0" rIns="0" bIns="0" rtlCol="0" anchor="t"/>
          <a:lstStyle/>
          <a:p>
            <a:pPr indent="0" marL="0">
              <a:buNone/>
            </a:pPr>
            <a:r>
              <a:rPr lang="en-US" sz="1300" dirty="0">
                <a:solidFill>
                  <a:srgbClr val="6E6E73"/>
                </a:solidFill>
                <a:latin typeface="Calibri" pitchFamily="34" charset="0"/>
                <a:ea typeface="Calibri" pitchFamily="34" charset="-122"/>
                <a:cs typeface="Calibri" pitchFamily="34" charset="-120"/>
              </a:rPr>
              <a:t>source tables</a:t>
            </a:r>
            <a:endParaRPr lang="en-US" sz="1300" dirty="0"/>
          </a:p>
        </p:txBody>
      </p:sp>
      <p:sp>
        <p:nvSpPr>
          <p:cNvPr id="8" name="Shape 6"/>
          <p:cNvSpPr/>
          <p:nvPr/>
        </p:nvSpPr>
        <p:spPr>
          <a:xfrm>
            <a:off x="2606040" y="1600200"/>
            <a:ext cx="1874520" cy="1005840"/>
          </a:xfrm>
          <a:prstGeom prst="rect">
            <a:avLst/>
          </a:prstGeom>
          <a:solidFill>
            <a:srgbClr val="F5F5F7"/>
          </a:solidFill>
          <a:ln w="12700">
            <a:solidFill>
              <a:srgbClr val="F5F5F7"/>
            </a:solidFill>
            <a:prstDash val="solid"/>
          </a:ln>
        </p:spPr>
      </p:sp>
      <p:sp>
        <p:nvSpPr>
          <p:cNvPr id="9" name="Text 7"/>
          <p:cNvSpPr txBox="1"/>
          <p:nvPr/>
        </p:nvSpPr>
        <p:spPr>
          <a:xfrm>
            <a:off x="2743200" y="1691640"/>
            <a:ext cx="1645920" cy="457200"/>
          </a:xfrm>
          <a:prstGeom prst="rect">
            <a:avLst/>
          </a:prstGeom>
          <a:noFill/>
          <a:ln/>
        </p:spPr>
        <p:txBody>
          <a:bodyPr wrap="square" lIns="0" tIns="0" rIns="0" bIns="0" rtlCol="0" anchor="t"/>
          <a:lstStyle/>
          <a:p>
            <a:pPr indent="0" marL="0">
              <a:buNone/>
            </a:pPr>
            <a:r>
              <a:rPr lang="en-US" sz="2600" b="1" dirty="0">
                <a:solidFill>
                  <a:srgbClr val="1D1D1F"/>
                </a:solidFill>
                <a:latin typeface="Calibri" pitchFamily="34" charset="0"/>
                <a:ea typeface="Calibri" pitchFamily="34" charset="-122"/>
                <a:cs typeface="Calibri" pitchFamily="34" charset="-120"/>
              </a:rPr>
              <a:t>23.5 M</a:t>
            </a:r>
            <a:endParaRPr lang="en-US" sz="2600" dirty="0"/>
          </a:p>
        </p:txBody>
      </p:sp>
      <p:sp>
        <p:nvSpPr>
          <p:cNvPr id="10" name="Text 8"/>
          <p:cNvSpPr txBox="1"/>
          <p:nvPr/>
        </p:nvSpPr>
        <p:spPr>
          <a:xfrm>
            <a:off x="2743200" y="2194560"/>
            <a:ext cx="1645920" cy="320040"/>
          </a:xfrm>
          <a:prstGeom prst="rect">
            <a:avLst/>
          </a:prstGeom>
          <a:noFill/>
          <a:ln/>
        </p:spPr>
        <p:txBody>
          <a:bodyPr wrap="square" lIns="0" tIns="0" rIns="0" bIns="0" rtlCol="0" anchor="t"/>
          <a:lstStyle/>
          <a:p>
            <a:pPr indent="0" marL="0">
              <a:buNone/>
            </a:pPr>
            <a:r>
              <a:rPr lang="en-US" sz="1300" dirty="0">
                <a:solidFill>
                  <a:srgbClr val="6E6E73"/>
                </a:solidFill>
                <a:latin typeface="Calibri" pitchFamily="34" charset="0"/>
                <a:ea typeface="Calibri" pitchFamily="34" charset="-122"/>
                <a:cs typeface="Calibri" pitchFamily="34" charset="-120"/>
              </a:rPr>
              <a:t>rows processed</a:t>
            </a:r>
            <a:endParaRPr lang="en-US" sz="1300" dirty="0"/>
          </a:p>
        </p:txBody>
      </p:sp>
      <p:sp>
        <p:nvSpPr>
          <p:cNvPr id="11" name="Shape 9"/>
          <p:cNvSpPr/>
          <p:nvPr/>
        </p:nvSpPr>
        <p:spPr>
          <a:xfrm>
            <a:off x="4663440" y="1600200"/>
            <a:ext cx="1874520" cy="1005840"/>
          </a:xfrm>
          <a:prstGeom prst="rect">
            <a:avLst/>
          </a:prstGeom>
          <a:solidFill>
            <a:srgbClr val="F5F5F7"/>
          </a:solidFill>
          <a:ln w="12700">
            <a:solidFill>
              <a:srgbClr val="F5F5F7"/>
            </a:solidFill>
            <a:prstDash val="solid"/>
          </a:ln>
        </p:spPr>
      </p:sp>
      <p:sp>
        <p:nvSpPr>
          <p:cNvPr id="12" name="Text 10"/>
          <p:cNvSpPr txBox="1"/>
          <p:nvPr/>
        </p:nvSpPr>
        <p:spPr>
          <a:xfrm>
            <a:off x="4800600" y="1691640"/>
            <a:ext cx="1645920" cy="457200"/>
          </a:xfrm>
          <a:prstGeom prst="rect">
            <a:avLst/>
          </a:prstGeom>
          <a:noFill/>
          <a:ln/>
        </p:spPr>
        <p:txBody>
          <a:bodyPr wrap="square" lIns="0" tIns="0" rIns="0" bIns="0" rtlCol="0" anchor="t"/>
          <a:lstStyle/>
          <a:p>
            <a:pPr indent="0" marL="0">
              <a:buNone/>
            </a:pPr>
            <a:r>
              <a:rPr lang="en-US" sz="2600" b="1" dirty="0">
                <a:solidFill>
                  <a:srgbClr val="1D1D1F"/>
                </a:solidFill>
                <a:latin typeface="Calibri" pitchFamily="34" charset="0"/>
                <a:ea typeface="Calibri" pitchFamily="34" charset="-122"/>
                <a:cs typeface="Calibri" pitchFamily="34" charset="-120"/>
              </a:rPr>
              <a:t>84,926</a:t>
            </a:r>
            <a:endParaRPr lang="en-US" sz="2600" dirty="0"/>
          </a:p>
        </p:txBody>
      </p:sp>
      <p:sp>
        <p:nvSpPr>
          <p:cNvPr id="13" name="Text 11"/>
          <p:cNvSpPr txBox="1"/>
          <p:nvPr/>
        </p:nvSpPr>
        <p:spPr>
          <a:xfrm>
            <a:off x="4800600" y="2194560"/>
            <a:ext cx="1645920" cy="320040"/>
          </a:xfrm>
          <a:prstGeom prst="rect">
            <a:avLst/>
          </a:prstGeom>
          <a:noFill/>
          <a:ln/>
        </p:spPr>
        <p:txBody>
          <a:bodyPr wrap="square" lIns="0" tIns="0" rIns="0" bIns="0" rtlCol="0" anchor="t"/>
          <a:lstStyle/>
          <a:p>
            <a:pPr indent="0" marL="0">
              <a:buNone/>
            </a:pPr>
            <a:r>
              <a:rPr lang="en-US" sz="1300" dirty="0">
                <a:solidFill>
                  <a:srgbClr val="6E6E73"/>
                </a:solidFill>
                <a:latin typeface="Calibri" pitchFamily="34" charset="0"/>
                <a:ea typeface="Calibri" pitchFamily="34" charset="-122"/>
                <a:cs typeface="Calibri" pitchFamily="34" charset="-120"/>
              </a:rPr>
              <a:t>clients with credit</a:t>
            </a:r>
            <a:endParaRPr lang="en-US" sz="1300" dirty="0"/>
          </a:p>
        </p:txBody>
      </p:sp>
      <p:sp>
        <p:nvSpPr>
          <p:cNvPr id="14" name="Shape 12"/>
          <p:cNvSpPr/>
          <p:nvPr/>
        </p:nvSpPr>
        <p:spPr>
          <a:xfrm>
            <a:off x="6720840" y="1600200"/>
            <a:ext cx="1874520" cy="1005840"/>
          </a:xfrm>
          <a:prstGeom prst="rect">
            <a:avLst/>
          </a:prstGeom>
          <a:solidFill>
            <a:srgbClr val="F5F5F7"/>
          </a:solidFill>
          <a:ln w="12700">
            <a:solidFill>
              <a:srgbClr val="F5F5F7"/>
            </a:solidFill>
            <a:prstDash val="solid"/>
          </a:ln>
        </p:spPr>
      </p:sp>
      <p:sp>
        <p:nvSpPr>
          <p:cNvPr id="15" name="Text 13"/>
          <p:cNvSpPr txBox="1"/>
          <p:nvPr/>
        </p:nvSpPr>
        <p:spPr>
          <a:xfrm>
            <a:off x="6858000" y="1691640"/>
            <a:ext cx="1645920" cy="457200"/>
          </a:xfrm>
          <a:prstGeom prst="rect">
            <a:avLst/>
          </a:prstGeom>
          <a:noFill/>
          <a:ln/>
        </p:spPr>
        <p:txBody>
          <a:bodyPr wrap="square" lIns="0" tIns="0" rIns="0" bIns="0" rtlCol="0" anchor="t"/>
          <a:lstStyle/>
          <a:p>
            <a:pPr indent="0" marL="0">
              <a:buNone/>
            </a:pPr>
            <a:r>
              <a:rPr lang="en-US" sz="2600" b="1" dirty="0">
                <a:solidFill>
                  <a:srgbClr val="1D1D1F"/>
                </a:solidFill>
                <a:latin typeface="Calibri" pitchFamily="34" charset="0"/>
                <a:ea typeface="Calibri" pitchFamily="34" charset="-122"/>
                <a:cs typeface="Calibri" pitchFamily="34" charset="-120"/>
              </a:rPr>
              <a:t>10.71 %</a:t>
            </a:r>
            <a:endParaRPr lang="en-US" sz="2600" dirty="0"/>
          </a:p>
        </p:txBody>
      </p:sp>
      <p:sp>
        <p:nvSpPr>
          <p:cNvPr id="16" name="Text 14"/>
          <p:cNvSpPr txBox="1"/>
          <p:nvPr/>
        </p:nvSpPr>
        <p:spPr>
          <a:xfrm>
            <a:off x="6858000" y="2194560"/>
            <a:ext cx="1645920" cy="320040"/>
          </a:xfrm>
          <a:prstGeom prst="rect">
            <a:avLst/>
          </a:prstGeom>
          <a:noFill/>
          <a:ln/>
        </p:spPr>
        <p:txBody>
          <a:bodyPr wrap="square" lIns="0" tIns="0" rIns="0" bIns="0" rtlCol="0" anchor="t"/>
          <a:lstStyle/>
          <a:p>
            <a:pPr indent="0" marL="0">
              <a:buNone/>
            </a:pPr>
            <a:r>
              <a:rPr lang="en-US" sz="1300" dirty="0">
                <a:solidFill>
                  <a:srgbClr val="6E6E73"/>
                </a:solidFill>
                <a:latin typeface="Calibri" pitchFamily="34" charset="0"/>
                <a:ea typeface="Calibri" pitchFamily="34" charset="-122"/>
                <a:cs typeface="Calibri" pitchFamily="34" charset="-120"/>
              </a:rPr>
              <a:t>90-day delinquency</a:t>
            </a:r>
            <a:endParaRPr lang="en-US" sz="1300" dirty="0"/>
          </a:p>
        </p:txBody>
      </p:sp>
      <p:sp>
        <p:nvSpPr>
          <p:cNvPr id="17" name="Shape 15"/>
          <p:cNvSpPr/>
          <p:nvPr/>
        </p:nvSpPr>
        <p:spPr>
          <a:xfrm>
            <a:off x="548640" y="2834640"/>
            <a:ext cx="2560320" cy="1600200"/>
          </a:xfrm>
          <a:prstGeom prst="rect">
            <a:avLst/>
          </a:prstGeom>
          <a:solidFill>
            <a:srgbClr val="FFFFFF"/>
          </a:solidFill>
          <a:ln w="12700">
            <a:solidFill>
              <a:srgbClr val="FFFFFF"/>
            </a:solidFill>
            <a:prstDash val="solid"/>
          </a:ln>
        </p:spPr>
      </p:sp>
      <p:sp>
        <p:nvSpPr>
          <p:cNvPr id="18" name="Shape 16"/>
          <p:cNvSpPr/>
          <p:nvPr/>
        </p:nvSpPr>
        <p:spPr>
          <a:xfrm>
            <a:off x="548640" y="2834640"/>
            <a:ext cx="2560320" cy="1600200"/>
          </a:xfrm>
          <a:prstGeom prst="rect">
            <a:avLst/>
          </a:prstGeom>
          <a:ln w="9525">
            <a:solidFill>
              <a:srgbClr val="D2D2D7"/>
            </a:solidFill>
            <a:prstDash val="solid"/>
          </a:ln>
        </p:spPr>
      </p:sp>
      <p:sp>
        <p:nvSpPr>
          <p:cNvPr id="19" name="Text 17"/>
          <p:cNvSpPr txBox="1"/>
          <p:nvPr/>
        </p:nvSpPr>
        <p:spPr>
          <a:xfrm>
            <a:off x="731520" y="2944368"/>
            <a:ext cx="2194560" cy="274320"/>
          </a:xfrm>
          <a:prstGeom prst="rect">
            <a:avLst/>
          </a:prstGeom>
          <a:noFill/>
          <a:ln/>
        </p:spPr>
        <p:txBody>
          <a:bodyPr wrap="square" lIns="0" tIns="0" rIns="0" bIns="0" rtlCol="0" anchor="t"/>
          <a:lstStyle/>
          <a:p>
            <a:pPr indent="0" marL="0">
              <a:buNone/>
            </a:pPr>
            <a:r>
              <a:rPr lang="en-US" sz="1200" b="1" dirty="0">
                <a:solidFill>
                  <a:srgbClr val="C0392B"/>
                </a:solidFill>
                <a:latin typeface="Calibri" pitchFamily="34" charset="0"/>
                <a:ea typeface="Calibri" pitchFamily="34" charset="-122"/>
                <a:cs typeface="Calibri" pitchFamily="34" charset="-120"/>
              </a:rPr>
              <a:t>NOT USABLE</a:t>
            </a:r>
            <a:endParaRPr lang="en-US" sz="1200" dirty="0"/>
          </a:p>
        </p:txBody>
      </p:sp>
      <p:sp>
        <p:nvSpPr>
          <p:cNvPr id="20" name="Text 18"/>
          <p:cNvSpPr txBox="1"/>
          <p:nvPr/>
        </p:nvSpPr>
        <p:spPr>
          <a:xfrm>
            <a:off x="731520" y="3200400"/>
            <a:ext cx="2194560" cy="365760"/>
          </a:xfrm>
          <a:prstGeom prst="rect">
            <a:avLst/>
          </a:prstGeom>
          <a:noFill/>
          <a:ln/>
        </p:spPr>
        <p:txBody>
          <a:bodyPr wrap="square" lIns="0" tIns="0" rIns="0" bIns="0" rtlCol="0" anchor="t"/>
          <a:lstStyle/>
          <a:p>
            <a:pPr indent="0" marL="0">
              <a:buNone/>
            </a:pPr>
            <a:r>
              <a:rPr lang="en-US" sz="1700" b="1" dirty="0">
                <a:solidFill>
                  <a:srgbClr val="1D1D1F"/>
                </a:solidFill>
                <a:latin typeface="Calibri" pitchFamily="34" charset="0"/>
                <a:ea typeface="Calibri" pitchFamily="34" charset="-122"/>
                <a:cs typeface="Calibri" pitchFamily="34" charset="-120"/>
              </a:rPr>
              <a:t>days_past_due</a:t>
            </a:r>
            <a:endParaRPr lang="en-US" sz="1700" dirty="0"/>
          </a:p>
        </p:txBody>
      </p:sp>
      <p:sp>
        <p:nvSpPr>
          <p:cNvPr id="21" name="Text 19"/>
          <p:cNvSpPr txBox="1"/>
          <p:nvPr/>
        </p:nvSpPr>
        <p:spPr>
          <a:xfrm>
            <a:off x="731520" y="3584448"/>
            <a:ext cx="2194560" cy="777240"/>
          </a:xfrm>
          <a:prstGeom prst="rect">
            <a:avLst/>
          </a:prstGeom>
          <a:noFill/>
          <a:ln/>
        </p:spPr>
        <p:txBody>
          <a:bodyPr wrap="square" lIns="0" tIns="0" rIns="0" bIns="0" rtlCol="0" anchor="t"/>
          <a:lstStyle/>
          <a:p>
            <a:pPr indent="0" marL="0">
              <a:buNone/>
            </a:pPr>
            <a:r>
              <a:rPr lang="en-US" sz="1300" dirty="0">
                <a:solidFill>
                  <a:srgbClr val="6E6E73"/>
                </a:solidFill>
                <a:latin typeface="Calibri" pitchFamily="34" charset="0"/>
                <a:ea typeface="Calibri" pitchFamily="34" charset="-122"/>
                <a:cs typeface="Calibri" pitchFamily="34" charset="-120"/>
              </a:rPr>
              <a:t>Seven values, equally likely (p = 0.48). Not a measured delinquency.</a:t>
            </a:r>
            <a:endParaRPr lang="en-US" sz="1300" dirty="0"/>
          </a:p>
        </p:txBody>
      </p:sp>
      <p:sp>
        <p:nvSpPr>
          <p:cNvPr id="22" name="Shape 20"/>
          <p:cNvSpPr/>
          <p:nvPr/>
        </p:nvSpPr>
        <p:spPr>
          <a:xfrm>
            <a:off x="3291840" y="2834640"/>
            <a:ext cx="2560320" cy="1600200"/>
          </a:xfrm>
          <a:prstGeom prst="rect">
            <a:avLst/>
          </a:prstGeom>
          <a:solidFill>
            <a:srgbClr val="FFFFFF"/>
          </a:solidFill>
          <a:ln w="12700">
            <a:solidFill>
              <a:srgbClr val="FFFFFF"/>
            </a:solidFill>
            <a:prstDash val="solid"/>
          </a:ln>
        </p:spPr>
      </p:sp>
      <p:sp>
        <p:nvSpPr>
          <p:cNvPr id="23" name="Shape 21"/>
          <p:cNvSpPr/>
          <p:nvPr/>
        </p:nvSpPr>
        <p:spPr>
          <a:xfrm>
            <a:off x="3291840" y="2834640"/>
            <a:ext cx="2560320" cy="1600200"/>
          </a:xfrm>
          <a:prstGeom prst="rect">
            <a:avLst/>
          </a:prstGeom>
          <a:ln w="9525">
            <a:solidFill>
              <a:srgbClr val="D2D2D7"/>
            </a:solidFill>
            <a:prstDash val="solid"/>
          </a:ln>
        </p:spPr>
      </p:sp>
      <p:sp>
        <p:nvSpPr>
          <p:cNvPr id="24" name="Text 22"/>
          <p:cNvSpPr txBox="1"/>
          <p:nvPr/>
        </p:nvSpPr>
        <p:spPr>
          <a:xfrm>
            <a:off x="3474720" y="2944368"/>
            <a:ext cx="2194560" cy="274320"/>
          </a:xfrm>
          <a:prstGeom prst="rect">
            <a:avLst/>
          </a:prstGeom>
          <a:noFill/>
          <a:ln/>
        </p:spPr>
        <p:txBody>
          <a:bodyPr wrap="square" lIns="0" tIns="0" rIns="0" bIns="0" rtlCol="0" anchor="t"/>
          <a:lstStyle/>
          <a:p>
            <a:pPr indent="0" marL="0">
              <a:buNone/>
            </a:pPr>
            <a:r>
              <a:rPr lang="en-US" sz="1200" b="1" dirty="0">
                <a:solidFill>
                  <a:srgbClr val="C0392B"/>
                </a:solidFill>
                <a:latin typeface="Calibri" pitchFamily="34" charset="0"/>
                <a:ea typeface="Calibri" pitchFamily="34" charset="-122"/>
                <a:cs typeface="Calibri" pitchFamily="34" charset="-120"/>
              </a:rPr>
              <a:t>NOT USABLE</a:t>
            </a:r>
            <a:endParaRPr lang="en-US" sz="1200" dirty="0"/>
          </a:p>
        </p:txBody>
      </p:sp>
      <p:sp>
        <p:nvSpPr>
          <p:cNvPr id="25" name="Text 23"/>
          <p:cNvSpPr txBox="1"/>
          <p:nvPr/>
        </p:nvSpPr>
        <p:spPr>
          <a:xfrm>
            <a:off x="3474720" y="3200400"/>
            <a:ext cx="2194560" cy="365760"/>
          </a:xfrm>
          <a:prstGeom prst="rect">
            <a:avLst/>
          </a:prstGeom>
          <a:noFill/>
          <a:ln/>
        </p:spPr>
        <p:txBody>
          <a:bodyPr wrap="square" lIns="0" tIns="0" rIns="0" bIns="0" rtlCol="0" anchor="t"/>
          <a:lstStyle/>
          <a:p>
            <a:pPr indent="0" marL="0">
              <a:buNone/>
            </a:pPr>
            <a:r>
              <a:rPr lang="en-US" sz="1700" b="1" dirty="0">
                <a:solidFill>
                  <a:srgbClr val="1D1D1F"/>
                </a:solidFill>
                <a:latin typeface="Calibri" pitchFamily="34" charset="0"/>
                <a:ea typeface="Calibri" pitchFamily="34" charset="-122"/>
                <a:cs typeface="Calibri" pitchFamily="34" charset="-120"/>
              </a:rPr>
              <a:t>fraud_score</a:t>
            </a:r>
            <a:endParaRPr lang="en-US" sz="1700" dirty="0"/>
          </a:p>
        </p:txBody>
      </p:sp>
      <p:sp>
        <p:nvSpPr>
          <p:cNvPr id="26" name="Text 24"/>
          <p:cNvSpPr txBox="1"/>
          <p:nvPr/>
        </p:nvSpPr>
        <p:spPr>
          <a:xfrm>
            <a:off x="3474720" y="3584448"/>
            <a:ext cx="2194560" cy="777240"/>
          </a:xfrm>
          <a:prstGeom prst="rect">
            <a:avLst/>
          </a:prstGeom>
          <a:noFill/>
          <a:ln/>
        </p:spPr>
        <p:txBody>
          <a:bodyPr wrap="square" lIns="0" tIns="0" rIns="0" bIns="0" rtlCol="0" anchor="t"/>
          <a:lstStyle/>
          <a:p>
            <a:pPr indent="0" marL="0">
              <a:buNone/>
            </a:pPr>
            <a:r>
              <a:rPr lang="en-US" sz="1300" dirty="0">
                <a:solidFill>
                  <a:srgbClr val="6E6E73"/>
                </a:solidFill>
                <a:latin typeface="Calibri" pitchFamily="34" charset="0"/>
                <a:ea typeface="Calibri" pitchFamily="34" charset="-122"/>
                <a:cs typeface="Calibri" pitchFamily="34" charset="-120"/>
              </a:rPr>
              <a:t>Uniform ranges that differ by class. Not a model output.</a:t>
            </a:r>
            <a:endParaRPr lang="en-US" sz="1300" dirty="0"/>
          </a:p>
        </p:txBody>
      </p:sp>
      <p:sp>
        <p:nvSpPr>
          <p:cNvPr id="27" name="Shape 25"/>
          <p:cNvSpPr/>
          <p:nvPr/>
        </p:nvSpPr>
        <p:spPr>
          <a:xfrm>
            <a:off x="6035040" y="2834640"/>
            <a:ext cx="2560320" cy="1600200"/>
          </a:xfrm>
          <a:prstGeom prst="rect">
            <a:avLst/>
          </a:prstGeom>
          <a:solidFill>
            <a:srgbClr val="FFFFFF"/>
          </a:solidFill>
          <a:ln w="12700">
            <a:solidFill>
              <a:srgbClr val="FFFFFF"/>
            </a:solidFill>
            <a:prstDash val="solid"/>
          </a:ln>
        </p:spPr>
      </p:sp>
      <p:sp>
        <p:nvSpPr>
          <p:cNvPr id="28" name="Shape 26"/>
          <p:cNvSpPr/>
          <p:nvPr/>
        </p:nvSpPr>
        <p:spPr>
          <a:xfrm>
            <a:off x="6035040" y="2834640"/>
            <a:ext cx="2560320" cy="1600200"/>
          </a:xfrm>
          <a:prstGeom prst="rect">
            <a:avLst/>
          </a:prstGeom>
          <a:ln w="9525">
            <a:solidFill>
              <a:srgbClr val="D2D2D7"/>
            </a:solidFill>
            <a:prstDash val="solid"/>
          </a:ln>
        </p:spPr>
      </p:sp>
      <p:sp>
        <p:nvSpPr>
          <p:cNvPr id="29" name="Text 27"/>
          <p:cNvSpPr txBox="1"/>
          <p:nvPr/>
        </p:nvSpPr>
        <p:spPr>
          <a:xfrm>
            <a:off x="6217920" y="2944368"/>
            <a:ext cx="2194560" cy="274320"/>
          </a:xfrm>
          <a:prstGeom prst="rect">
            <a:avLst/>
          </a:prstGeom>
          <a:noFill/>
          <a:ln/>
        </p:spPr>
        <p:txBody>
          <a:bodyPr wrap="square" lIns="0" tIns="0" rIns="0" bIns="0" rtlCol="0" anchor="t"/>
          <a:lstStyle/>
          <a:p>
            <a:pPr indent="0" marL="0">
              <a:buNone/>
            </a:pPr>
            <a:r>
              <a:rPr lang="en-US" sz="1200" b="1" dirty="0">
                <a:solidFill>
                  <a:srgbClr val="0071E3"/>
                </a:solidFill>
                <a:latin typeface="Calibri" pitchFamily="34" charset="0"/>
                <a:ea typeface="Calibri" pitchFamily="34" charset="-122"/>
                <a:cs typeface="Calibri" pitchFamily="34" charset="-120"/>
              </a:rPr>
              <a:t>COHERENT</a:t>
            </a:r>
            <a:endParaRPr lang="en-US" sz="1200" dirty="0"/>
          </a:p>
        </p:txBody>
      </p:sp>
      <p:sp>
        <p:nvSpPr>
          <p:cNvPr id="30" name="Text 28"/>
          <p:cNvSpPr txBox="1"/>
          <p:nvPr/>
        </p:nvSpPr>
        <p:spPr>
          <a:xfrm>
            <a:off x="6217920" y="3200400"/>
            <a:ext cx="2194560" cy="365760"/>
          </a:xfrm>
          <a:prstGeom prst="rect">
            <a:avLst/>
          </a:prstGeom>
          <a:noFill/>
          <a:ln/>
        </p:spPr>
        <p:txBody>
          <a:bodyPr wrap="square" lIns="0" tIns="0" rIns="0" bIns="0" rtlCol="0" anchor="t"/>
          <a:lstStyle/>
          <a:p>
            <a:pPr indent="0" marL="0">
              <a:buNone/>
            </a:pPr>
            <a:r>
              <a:rPr lang="en-US" sz="1700" b="1" dirty="0">
                <a:solidFill>
                  <a:srgbClr val="1D1D1F"/>
                </a:solidFill>
                <a:latin typeface="Calibri" pitchFamily="34" charset="0"/>
                <a:ea typeface="Calibri" pitchFamily="34" charset="-122"/>
                <a:cs typeface="Calibri" pitchFamily="34" charset="-120"/>
              </a:rPr>
              <a:t>credit_score</a:t>
            </a:r>
            <a:endParaRPr lang="en-US" sz="1700" dirty="0"/>
          </a:p>
        </p:txBody>
      </p:sp>
      <p:sp>
        <p:nvSpPr>
          <p:cNvPr id="31" name="Text 29"/>
          <p:cNvSpPr txBox="1"/>
          <p:nvPr/>
        </p:nvSpPr>
        <p:spPr>
          <a:xfrm>
            <a:off x="6217920" y="3584448"/>
            <a:ext cx="2194560" cy="777240"/>
          </a:xfrm>
          <a:prstGeom prst="rect">
            <a:avLst/>
          </a:prstGeom>
          <a:noFill/>
          <a:ln/>
        </p:spPr>
        <p:txBody>
          <a:bodyPr wrap="square" lIns="0" tIns="0" rIns="0" bIns="0" rtlCol="0" anchor="t"/>
          <a:lstStyle/>
          <a:p>
            <a:pPr indent="0" marL="0">
              <a:buNone/>
            </a:pPr>
            <a:r>
              <a:rPr lang="en-US" sz="1300" dirty="0">
                <a:solidFill>
                  <a:srgbClr val="6E6E73"/>
                </a:solidFill>
                <a:latin typeface="Calibri" pitchFamily="34" charset="0"/>
                <a:ea typeface="Calibri" pitchFamily="34" charset="-122"/>
                <a:cs typeface="Calibri" pitchFamily="34" charset="-120"/>
              </a:rPr>
              <a:t>Correlates 0.36 with income. The score is fine; the label is not.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74320"/>
          </a:xfrm>
          <a:prstGeom prst="rect">
            <a:avLst/>
          </a:prstGeom>
          <a:noFill/>
          <a:ln/>
        </p:spPr>
        <p:txBody>
          <a:bodyPr wrap="square" lIns="0" tIns="0" rIns="0" bIns="0" rtlCol="0" anchor="t"/>
          <a:lstStyle/>
          <a:p>
            <a:pPr indent="0" marL="0">
              <a:buNone/>
            </a:pPr>
            <a:r>
              <a:rPr lang="en-US" sz="1200" b="1" dirty="0">
                <a:solidFill>
                  <a:srgbClr val="0071E3"/>
                </a:solidFill>
                <a:latin typeface="Calibri" pitchFamily="34" charset="0"/>
                <a:ea typeface="Calibri" pitchFamily="34" charset="-122"/>
                <a:cs typeface="Calibri" pitchFamily="34" charset="-120"/>
              </a:rPr>
              <a:t>03 · THE MODELS</a:t>
            </a:r>
            <a:endParaRPr lang="en-US" sz="1200" dirty="0"/>
          </a:p>
        </p:txBody>
      </p:sp>
      <p:sp>
        <p:nvSpPr>
          <p:cNvPr id="3" name="Text 1"/>
          <p:cNvSpPr txBox="1"/>
          <p:nvPr/>
        </p:nvSpPr>
        <p:spPr>
          <a:xfrm>
            <a:off x="548640" y="640080"/>
            <a:ext cx="8046720" cy="868680"/>
          </a:xfrm>
          <a:prstGeom prst="rect">
            <a:avLst/>
          </a:prstGeom>
          <a:noFill/>
          <a:ln/>
        </p:spPr>
        <p:txBody>
          <a:bodyPr wrap="square" lIns="0" tIns="0" rIns="0" bIns="0" rtlCol="0" anchor="t"/>
          <a:lstStyle/>
          <a:p>
            <a:pPr indent="0" marL="0">
              <a:buNone/>
            </a:pPr>
            <a:r>
              <a:rPr lang="en-US" sz="2800" b="1" dirty="0">
                <a:solidFill>
                  <a:srgbClr val="1D1D1F"/>
                </a:solidFill>
                <a:latin typeface="Calibri" pitchFamily="34" charset="0"/>
                <a:ea typeface="Calibri" pitchFamily="34" charset="-122"/>
                <a:cs typeface="Calibri" pitchFamily="34" charset="-120"/>
              </a:rPr>
              <a:t>We tested deeper models. Depth added nothing.</a:t>
            </a:r>
            <a:endParaRPr lang="en-US" sz="2800" dirty="0"/>
          </a:p>
        </p:txBody>
      </p:sp>
      <p:sp>
        <p:nvSpPr>
          <p:cNvPr id="4" name="Text 2"/>
          <p:cNvSpPr txBox="1"/>
          <p:nvPr/>
        </p:nvSpPr>
        <p:spPr>
          <a:xfrm>
            <a:off x="548640" y="4800600"/>
            <a:ext cx="8046720" cy="201168"/>
          </a:xfrm>
          <a:prstGeom prst="rect">
            <a:avLst/>
          </a:prstGeom>
          <a:noFill/>
          <a:ln/>
        </p:spPr>
        <p:txBody>
          <a:bodyPr wrap="square" lIns="0" tIns="0" rIns="0" bIns="0" rtlCol="0" anchor="t"/>
          <a:lstStyle/>
          <a:p>
            <a:pPr indent="0" marL="0">
              <a:buNone/>
            </a:pPr>
            <a:r>
              <a:rPr lang="en-US" sz="1000" dirty="0">
                <a:solidFill>
                  <a:srgbClr val="6E6E73"/>
                </a:solidFill>
                <a:latin typeface="Calibri" pitchFamily="34" charset="0"/>
                <a:ea typeface="Calibri" pitchFamily="34" charset="-122"/>
                <a:cs typeface="Calibri" pitchFamily="34" charset="-120"/>
              </a:rPr>
              <a:t>noema · Factored AI &amp; Data Hackathon 2026 · Eduardo Lozada &amp; Federico Vargas</a:t>
            </a:r>
            <a:endParaRPr lang="en-US" sz="1000" dirty="0"/>
          </a:p>
        </p:txBody>
      </p:sp>
      <p:sp>
        <p:nvSpPr>
          <p:cNvPr id="5" name="Text 3"/>
          <p:cNvSpPr txBox="1"/>
          <p:nvPr/>
        </p:nvSpPr>
        <p:spPr>
          <a:xfrm>
            <a:off x="548640" y="1554480"/>
            <a:ext cx="5120640" cy="365760"/>
          </a:xfrm>
          <a:prstGeom prst="rect">
            <a:avLst/>
          </a:prstGeom>
          <a:noFill/>
          <a:ln/>
        </p:spPr>
        <p:txBody>
          <a:bodyPr wrap="square" lIns="0" tIns="0" rIns="0" bIns="0" rtlCol="0" anchor="t"/>
          <a:lstStyle/>
          <a:p>
            <a:pPr indent="0" marL="0">
              <a:buNone/>
            </a:pPr>
            <a:r>
              <a:rPr lang="en-US" sz="1400" b="1" dirty="0">
                <a:solidFill>
                  <a:srgbClr val="6E6E73"/>
                </a:solidFill>
                <a:latin typeface="Calibri" pitchFamily="34" charset="0"/>
                <a:ea typeface="Calibri" pitchFamily="34" charset="-122"/>
                <a:cs typeface="Calibri" pitchFamily="34" charset="-120"/>
              </a:rPr>
              <a:t>Discrimination on the same protocol (ROC-AUC, 0.5 = chance)</a:t>
            </a:r>
            <a:endParaRPr lang="en-US" sz="1400" dirty="0"/>
          </a:p>
        </p:txBody>
      </p:sp>
      <p:graphicFrame>
        <p:nvGraphicFramePr>
          <p:cNvPr id="6" name="Chart 0" descr=""/>
          <p:cNvGraphicFramePr/>
          <p:nvPr/>
        </p:nvGraphicFramePr>
        <p:xfrm>
          <a:off x="457200" y="1874520"/>
          <a:ext cx="4754880" cy="274320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577840" y="1645920"/>
            <a:ext cx="3017520" cy="2834640"/>
          </a:xfrm>
          <a:prstGeom prst="rect">
            <a:avLst/>
          </a:prstGeom>
          <a:solidFill>
            <a:srgbClr val="F5F5F7"/>
          </a:solidFill>
          <a:ln w="12700">
            <a:solidFill>
              <a:srgbClr val="F5F5F7"/>
            </a:solidFill>
            <a:prstDash val="solid"/>
          </a:ln>
        </p:spPr>
      </p:sp>
      <p:sp>
        <p:nvSpPr>
          <p:cNvPr id="8" name="Text 5"/>
          <p:cNvSpPr txBox="1"/>
          <p:nvPr/>
        </p:nvSpPr>
        <p:spPr>
          <a:xfrm>
            <a:off x="5806440" y="1783080"/>
            <a:ext cx="2651760" cy="320040"/>
          </a:xfrm>
          <a:prstGeom prst="rect">
            <a:avLst/>
          </a:prstGeom>
          <a:noFill/>
          <a:ln/>
        </p:spPr>
        <p:txBody>
          <a:bodyPr wrap="square" lIns="0" tIns="0" rIns="0" bIns="0" rtlCol="0" anchor="t"/>
          <a:lstStyle/>
          <a:p>
            <a:pPr indent="0" marL="0">
              <a:buNone/>
            </a:pPr>
            <a:r>
              <a:rPr lang="en-US" sz="1600" b="1" dirty="0">
                <a:solidFill>
                  <a:srgbClr val="1D1D1F"/>
                </a:solidFill>
                <a:latin typeface="Calibri" pitchFamily="34" charset="0"/>
                <a:ea typeface="Calibri" pitchFamily="34" charset="-122"/>
                <a:cs typeface="Calibri" pitchFamily="34" charset="-120"/>
              </a:rPr>
              <a:t>What we read from it</a:t>
            </a:r>
            <a:endParaRPr lang="en-US" sz="1600" dirty="0"/>
          </a:p>
        </p:txBody>
      </p:sp>
      <p:sp>
        <p:nvSpPr>
          <p:cNvPr id="9" name="Text 6"/>
          <p:cNvSpPr txBox="1"/>
          <p:nvPr/>
        </p:nvSpPr>
        <p:spPr>
          <a:xfrm>
            <a:off x="5806440" y="2194560"/>
            <a:ext cx="2651760" cy="868680"/>
          </a:xfrm>
          <a:prstGeom prst="rect">
            <a:avLst/>
          </a:prstGeom>
          <a:noFill/>
          <a:ln/>
        </p:spPr>
        <p:txBody>
          <a:bodyPr wrap="square" lIns="0" tIns="0" rIns="0" bIns="0" rtlCol="0" anchor="t"/>
          <a:lstStyle/>
          <a:p>
            <a:pPr indent="0" marL="0">
              <a:buNone/>
            </a:pPr>
            <a:r>
              <a:rPr lang="en-US" sz="1400" dirty="0">
                <a:solidFill>
                  <a:srgbClr val="1D1D1F"/>
                </a:solidFill>
                <a:latin typeface="Calibri" pitchFamily="34" charset="0"/>
                <a:ea typeface="Calibri" pitchFamily="34" charset="-122"/>
                <a:cs typeface="Calibri" pitchFamily="34" charset="-120"/>
              </a:rPr>
              <a:t>Logistic regression is the recommended model: it matches the deep network with far less complexity.</a:t>
            </a:r>
            <a:endParaRPr lang="en-US" sz="1400" dirty="0"/>
          </a:p>
        </p:txBody>
      </p:sp>
      <p:sp>
        <p:nvSpPr>
          <p:cNvPr id="10" name="Text 7"/>
          <p:cNvSpPr txBox="1"/>
          <p:nvPr/>
        </p:nvSpPr>
        <p:spPr>
          <a:xfrm>
            <a:off x="5806440" y="3200400"/>
            <a:ext cx="2651760" cy="1188720"/>
          </a:xfrm>
          <a:prstGeom prst="rect">
            <a:avLst/>
          </a:prstGeom>
          <a:noFill/>
          <a:ln/>
        </p:spPr>
        <p:txBody>
          <a:bodyPr wrap="square" lIns="0" tIns="0" rIns="0" bIns="0" rtlCol="0" anchor="t"/>
          <a:lstStyle/>
          <a:p>
            <a:pPr indent="0" marL="0">
              <a:buNone/>
            </a:pPr>
            <a:r>
              <a:rPr lang="en-US" sz="1400" dirty="0">
                <a:solidFill>
                  <a:srgbClr val="6E6E73"/>
                </a:solidFill>
                <a:latin typeface="Calibri" pitchFamily="34" charset="0"/>
                <a:ea typeface="Calibri" pitchFamily="34" charset="-122"/>
                <a:cs typeface="Calibri" pitchFamily="34" charset="-120"/>
              </a:rPr>
              <a:t>The chosen product-interest model reaches ROC-AUC 0.67 (95 % CI 0.67–0.69). Weak signal, used for interest only, never for eligibility.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74320"/>
          </a:xfrm>
          <a:prstGeom prst="rect">
            <a:avLst/>
          </a:prstGeom>
          <a:noFill/>
          <a:ln/>
        </p:spPr>
        <p:txBody>
          <a:bodyPr wrap="square" lIns="0" tIns="0" rIns="0" bIns="0" rtlCol="0" anchor="t"/>
          <a:lstStyle/>
          <a:p>
            <a:pPr indent="0" marL="0">
              <a:buNone/>
            </a:pPr>
            <a:r>
              <a:rPr lang="en-US" sz="1200" b="1" dirty="0">
                <a:solidFill>
                  <a:srgbClr val="0071E3"/>
                </a:solidFill>
                <a:latin typeface="Calibri" pitchFamily="34" charset="0"/>
                <a:ea typeface="Calibri" pitchFamily="34" charset="-122"/>
                <a:cs typeface="Calibri" pitchFamily="34" charset="-120"/>
              </a:rPr>
              <a:t>04 · WHAT WE REJECTED</a:t>
            </a:r>
            <a:endParaRPr lang="en-US" sz="1200" dirty="0"/>
          </a:p>
        </p:txBody>
      </p:sp>
      <p:sp>
        <p:nvSpPr>
          <p:cNvPr id="3" name="Text 1"/>
          <p:cNvSpPr txBox="1"/>
          <p:nvPr/>
        </p:nvSpPr>
        <p:spPr>
          <a:xfrm>
            <a:off x="548640" y="640080"/>
            <a:ext cx="8046720" cy="868680"/>
          </a:xfrm>
          <a:prstGeom prst="rect">
            <a:avLst/>
          </a:prstGeom>
          <a:noFill/>
          <a:ln/>
        </p:spPr>
        <p:txBody>
          <a:bodyPr wrap="square" lIns="0" tIns="0" rIns="0" bIns="0" rtlCol="0" anchor="t"/>
          <a:lstStyle/>
          <a:p>
            <a:pPr indent="0" marL="0">
              <a:buNone/>
            </a:pPr>
            <a:r>
              <a:rPr lang="en-US" sz="2800" b="1" dirty="0">
                <a:solidFill>
                  <a:srgbClr val="1D1D1F"/>
                </a:solidFill>
                <a:latin typeface="Calibri" pitchFamily="34" charset="0"/>
                <a:ea typeface="Calibri" pitchFamily="34" charset="-122"/>
                <a:cs typeface="Calibri" pitchFamily="34" charset="-120"/>
              </a:rPr>
              <a:t>Three models we did not ship, and why.</a:t>
            </a:r>
            <a:endParaRPr lang="en-US" sz="2800" dirty="0"/>
          </a:p>
        </p:txBody>
      </p:sp>
      <p:sp>
        <p:nvSpPr>
          <p:cNvPr id="4" name="Text 2"/>
          <p:cNvSpPr txBox="1"/>
          <p:nvPr/>
        </p:nvSpPr>
        <p:spPr>
          <a:xfrm>
            <a:off x="548640" y="4800600"/>
            <a:ext cx="8046720" cy="201168"/>
          </a:xfrm>
          <a:prstGeom prst="rect">
            <a:avLst/>
          </a:prstGeom>
          <a:noFill/>
          <a:ln/>
        </p:spPr>
        <p:txBody>
          <a:bodyPr wrap="square" lIns="0" tIns="0" rIns="0" bIns="0" rtlCol="0" anchor="t"/>
          <a:lstStyle/>
          <a:p>
            <a:pPr indent="0" marL="0">
              <a:buNone/>
            </a:pPr>
            <a:r>
              <a:rPr lang="en-US" sz="1000" dirty="0">
                <a:solidFill>
                  <a:srgbClr val="6E6E73"/>
                </a:solidFill>
                <a:latin typeface="Calibri" pitchFamily="34" charset="0"/>
                <a:ea typeface="Calibri" pitchFamily="34" charset="-122"/>
                <a:cs typeface="Calibri" pitchFamily="34" charset="-120"/>
              </a:rPr>
              <a:t>noema · Factored AI &amp; Data Hackathon 2026 · Eduardo Lozada &amp; Federico Vargas</a:t>
            </a:r>
            <a:endParaRPr lang="en-US" sz="1000" dirty="0"/>
          </a:p>
        </p:txBody>
      </p:sp>
      <p:sp>
        <p:nvSpPr>
          <p:cNvPr id="5" name="Shape 3"/>
          <p:cNvSpPr/>
          <p:nvPr/>
        </p:nvSpPr>
        <p:spPr>
          <a:xfrm>
            <a:off x="548640" y="1691640"/>
            <a:ext cx="8046720" cy="896112"/>
          </a:xfrm>
          <a:prstGeom prst="rect">
            <a:avLst/>
          </a:prstGeom>
          <a:solidFill>
            <a:srgbClr val="F5F5F7"/>
          </a:solidFill>
          <a:ln w="12700">
            <a:solidFill>
              <a:srgbClr val="F5F5F7"/>
            </a:solidFill>
            <a:prstDash val="solid"/>
          </a:ln>
        </p:spPr>
      </p:sp>
      <p:sp>
        <p:nvSpPr>
          <p:cNvPr id="6" name="Shape 4"/>
          <p:cNvSpPr/>
          <p:nvPr/>
        </p:nvSpPr>
        <p:spPr>
          <a:xfrm>
            <a:off x="777240" y="1938528"/>
            <a:ext cx="402336" cy="402336"/>
          </a:xfrm>
          <a:prstGeom prst="ellipse">
            <a:avLst/>
          </a:prstGeom>
          <a:solidFill>
            <a:srgbClr val="C0392B"/>
          </a:solidFill>
          <a:ln w="12700">
            <a:solidFill>
              <a:srgbClr val="C0392B"/>
            </a:solidFill>
            <a:prstDash val="solid"/>
          </a:ln>
        </p:spPr>
      </p:sp>
      <p:sp>
        <p:nvSpPr>
          <p:cNvPr id="7" name="Text 5"/>
          <p:cNvSpPr txBox="1"/>
          <p:nvPr/>
        </p:nvSpPr>
        <p:spPr>
          <a:xfrm>
            <a:off x="777240" y="1965960"/>
            <a:ext cx="402336"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463040" y="1801368"/>
            <a:ext cx="6949440" cy="320040"/>
          </a:xfrm>
          <a:prstGeom prst="rect">
            <a:avLst/>
          </a:prstGeom>
          <a:noFill/>
          <a:ln/>
        </p:spPr>
        <p:txBody>
          <a:bodyPr wrap="square" lIns="0" tIns="0" rIns="0" bIns="0" rtlCol="0" anchor="t"/>
          <a:lstStyle/>
          <a:p>
            <a:pPr indent="0" marL="0">
              <a:buNone/>
            </a:pPr>
            <a:r>
              <a:rPr lang="en-US" sz="1700" b="1" dirty="0">
                <a:solidFill>
                  <a:srgbClr val="1D1D1F"/>
                </a:solidFill>
                <a:latin typeface="Calibri" pitchFamily="34" charset="0"/>
                <a:ea typeface="Calibri" pitchFamily="34" charset="-122"/>
                <a:cs typeface="Calibri" pitchFamily="34" charset="-120"/>
              </a:rPr>
              <a:t>Churn model</a:t>
            </a:r>
            <a:endParaRPr lang="en-US" sz="1700" dirty="0"/>
          </a:p>
        </p:txBody>
      </p:sp>
      <p:sp>
        <p:nvSpPr>
          <p:cNvPr id="9" name="Text 7"/>
          <p:cNvSpPr txBox="1"/>
          <p:nvPr/>
        </p:nvSpPr>
        <p:spPr>
          <a:xfrm>
            <a:off x="1463040" y="2103120"/>
            <a:ext cx="6949440" cy="457200"/>
          </a:xfrm>
          <a:prstGeom prst="rect">
            <a:avLst/>
          </a:prstGeom>
          <a:noFill/>
          <a:ln/>
        </p:spPr>
        <p:txBody>
          <a:bodyPr wrap="square" lIns="0" tIns="0" rIns="0" bIns="0" rtlCol="0" anchor="t"/>
          <a:lstStyle/>
          <a:p>
            <a:pPr indent="0" marL="0">
              <a:buNone/>
            </a:pPr>
            <a:r>
              <a:rPr lang="en-US" sz="1300" dirty="0">
                <a:solidFill>
                  <a:srgbClr val="6E6E73"/>
                </a:solidFill>
                <a:latin typeface="Calibri" pitchFamily="34" charset="0"/>
                <a:ea typeface="Calibri" pitchFamily="34" charset="-122"/>
                <a:cs typeface="Calibri" pitchFamily="34" charset="-120"/>
              </a:rPr>
              <a:t>Its target was predicted from a column that leaks the answer. Its test required an unversioned file, so the branch was red on any clone.</a:t>
            </a:r>
            <a:endParaRPr lang="en-US" sz="1300" dirty="0"/>
          </a:p>
        </p:txBody>
      </p:sp>
      <p:sp>
        <p:nvSpPr>
          <p:cNvPr id="10" name="Shape 8"/>
          <p:cNvSpPr/>
          <p:nvPr/>
        </p:nvSpPr>
        <p:spPr>
          <a:xfrm>
            <a:off x="548640" y="2715768"/>
            <a:ext cx="8046720" cy="896112"/>
          </a:xfrm>
          <a:prstGeom prst="rect">
            <a:avLst/>
          </a:prstGeom>
          <a:solidFill>
            <a:srgbClr val="F5F5F7"/>
          </a:solidFill>
          <a:ln w="12700">
            <a:solidFill>
              <a:srgbClr val="F5F5F7"/>
            </a:solidFill>
            <a:prstDash val="solid"/>
          </a:ln>
        </p:spPr>
      </p:sp>
      <p:sp>
        <p:nvSpPr>
          <p:cNvPr id="11" name="Shape 9"/>
          <p:cNvSpPr/>
          <p:nvPr/>
        </p:nvSpPr>
        <p:spPr>
          <a:xfrm>
            <a:off x="777240" y="2962656"/>
            <a:ext cx="402336" cy="402336"/>
          </a:xfrm>
          <a:prstGeom prst="ellipse">
            <a:avLst/>
          </a:prstGeom>
          <a:solidFill>
            <a:srgbClr val="C0392B"/>
          </a:solidFill>
          <a:ln w="12700">
            <a:solidFill>
              <a:srgbClr val="C0392B"/>
            </a:solidFill>
            <a:prstDash val="solid"/>
          </a:ln>
        </p:spPr>
      </p:sp>
      <p:sp>
        <p:nvSpPr>
          <p:cNvPr id="12" name="Text 10"/>
          <p:cNvSpPr txBox="1"/>
          <p:nvPr/>
        </p:nvSpPr>
        <p:spPr>
          <a:xfrm>
            <a:off x="777240" y="2990088"/>
            <a:ext cx="402336"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3" name="Text 11"/>
          <p:cNvSpPr txBox="1"/>
          <p:nvPr/>
        </p:nvSpPr>
        <p:spPr>
          <a:xfrm>
            <a:off x="1463040" y="2825496"/>
            <a:ext cx="6949440" cy="320040"/>
          </a:xfrm>
          <a:prstGeom prst="rect">
            <a:avLst/>
          </a:prstGeom>
          <a:noFill/>
          <a:ln/>
        </p:spPr>
        <p:txBody>
          <a:bodyPr wrap="square" lIns="0" tIns="0" rIns="0" bIns="0" rtlCol="0" anchor="t"/>
          <a:lstStyle/>
          <a:p>
            <a:pPr indent="0" marL="0">
              <a:buNone/>
            </a:pPr>
            <a:r>
              <a:rPr lang="en-US" sz="1700" b="1" dirty="0">
                <a:solidFill>
                  <a:srgbClr val="1D1D1F"/>
                </a:solidFill>
                <a:latin typeface="Calibri" pitchFamily="34" charset="0"/>
                <a:ea typeface="Calibri" pitchFamily="34" charset="-122"/>
                <a:cs typeface="Calibri" pitchFamily="34" charset="-120"/>
              </a:rPr>
              <a:t>Customer segmentation</a:t>
            </a:r>
            <a:endParaRPr lang="en-US" sz="1700" dirty="0"/>
          </a:p>
        </p:txBody>
      </p:sp>
      <p:sp>
        <p:nvSpPr>
          <p:cNvPr id="14" name="Text 12"/>
          <p:cNvSpPr txBox="1"/>
          <p:nvPr/>
        </p:nvSpPr>
        <p:spPr>
          <a:xfrm>
            <a:off x="1463040" y="3127248"/>
            <a:ext cx="6949440" cy="457200"/>
          </a:xfrm>
          <a:prstGeom prst="rect">
            <a:avLst/>
          </a:prstGeom>
          <a:noFill/>
          <a:ln/>
        </p:spPr>
        <p:txBody>
          <a:bodyPr wrap="square" lIns="0" tIns="0" rIns="0" bIns="0" rtlCol="0" anchor="t"/>
          <a:lstStyle/>
          <a:p>
            <a:pPr indent="0" marL="0">
              <a:buNone/>
            </a:pPr>
            <a:r>
              <a:rPr lang="en-US" sz="1300" dirty="0">
                <a:solidFill>
                  <a:srgbClr val="6E6E73"/>
                </a:solidFill>
                <a:latin typeface="Calibri" pitchFamily="34" charset="0"/>
                <a:ea typeface="Calibri" pitchFamily="34" charset="-122"/>
                <a:cs typeface="Calibri" pitchFamily="34" charset="-120"/>
              </a:rPr>
              <a:t>Trained and evaluated on the same records, then declared production-ready. An evaluation that cannot fail proves nothing.</a:t>
            </a:r>
            <a:endParaRPr lang="en-US" sz="1300" dirty="0"/>
          </a:p>
        </p:txBody>
      </p:sp>
      <p:sp>
        <p:nvSpPr>
          <p:cNvPr id="15" name="Shape 13"/>
          <p:cNvSpPr/>
          <p:nvPr/>
        </p:nvSpPr>
        <p:spPr>
          <a:xfrm>
            <a:off x="548640" y="3739896"/>
            <a:ext cx="8046720" cy="896112"/>
          </a:xfrm>
          <a:prstGeom prst="rect">
            <a:avLst/>
          </a:prstGeom>
          <a:solidFill>
            <a:srgbClr val="F5F5F7"/>
          </a:solidFill>
          <a:ln w="12700">
            <a:solidFill>
              <a:srgbClr val="F5F5F7"/>
            </a:solidFill>
            <a:prstDash val="solid"/>
          </a:ln>
        </p:spPr>
      </p:sp>
      <p:sp>
        <p:nvSpPr>
          <p:cNvPr id="16" name="Shape 14"/>
          <p:cNvSpPr/>
          <p:nvPr/>
        </p:nvSpPr>
        <p:spPr>
          <a:xfrm>
            <a:off x="777240" y="3986784"/>
            <a:ext cx="402336" cy="402336"/>
          </a:xfrm>
          <a:prstGeom prst="ellipse">
            <a:avLst/>
          </a:prstGeom>
          <a:solidFill>
            <a:srgbClr val="C0392B"/>
          </a:solidFill>
          <a:ln w="12700">
            <a:solidFill>
              <a:srgbClr val="C0392B"/>
            </a:solidFill>
            <a:prstDash val="solid"/>
          </a:ln>
        </p:spPr>
      </p:sp>
      <p:sp>
        <p:nvSpPr>
          <p:cNvPr id="17" name="Text 15"/>
          <p:cNvSpPr txBox="1"/>
          <p:nvPr/>
        </p:nvSpPr>
        <p:spPr>
          <a:xfrm>
            <a:off x="777240" y="4014216"/>
            <a:ext cx="402336"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8" name="Text 16"/>
          <p:cNvSpPr txBox="1"/>
          <p:nvPr/>
        </p:nvSpPr>
        <p:spPr>
          <a:xfrm>
            <a:off x="1463040" y="3849624"/>
            <a:ext cx="6949440" cy="320040"/>
          </a:xfrm>
          <a:prstGeom prst="rect">
            <a:avLst/>
          </a:prstGeom>
          <a:noFill/>
          <a:ln/>
        </p:spPr>
        <p:txBody>
          <a:bodyPr wrap="square" lIns="0" tIns="0" rIns="0" bIns="0" rtlCol="0" anchor="t"/>
          <a:lstStyle/>
          <a:p>
            <a:pPr indent="0" marL="0">
              <a:buNone/>
            </a:pPr>
            <a:r>
              <a:rPr lang="en-US" sz="1700" b="1" dirty="0">
                <a:solidFill>
                  <a:srgbClr val="1D1D1F"/>
                </a:solidFill>
                <a:latin typeface="Calibri" pitchFamily="34" charset="0"/>
                <a:ea typeface="Calibri" pitchFamily="34" charset="-122"/>
                <a:cs typeface="Calibri" pitchFamily="34" charset="-120"/>
              </a:rPr>
              <a:t>Default probability</a:t>
            </a:r>
            <a:endParaRPr lang="en-US" sz="1700" dirty="0"/>
          </a:p>
        </p:txBody>
      </p:sp>
      <p:sp>
        <p:nvSpPr>
          <p:cNvPr id="19" name="Text 17"/>
          <p:cNvSpPr txBox="1"/>
          <p:nvPr/>
        </p:nvSpPr>
        <p:spPr>
          <a:xfrm>
            <a:off x="1463040" y="4151376"/>
            <a:ext cx="6949440" cy="457200"/>
          </a:xfrm>
          <a:prstGeom prst="rect">
            <a:avLst/>
          </a:prstGeom>
          <a:noFill/>
          <a:ln/>
        </p:spPr>
        <p:txBody>
          <a:bodyPr wrap="square" lIns="0" tIns="0" rIns="0" bIns="0" rtlCol="0" anchor="t"/>
          <a:lstStyle/>
          <a:p>
            <a:pPr indent="0" marL="0">
              <a:buNone/>
            </a:pPr>
            <a:r>
              <a:rPr lang="en-US" sz="1300" dirty="0">
                <a:solidFill>
                  <a:srgbClr val="6E6E73"/>
                </a:solidFill>
                <a:latin typeface="Calibri" pitchFamily="34" charset="0"/>
                <a:ea typeface="Calibri" pitchFamily="34" charset="-122"/>
                <a:cs typeface="Calibri" pitchFamily="34" charset="-120"/>
              </a:rPr>
              <a:t>No measurable default label exists in this dataset (slide 3). Reported as a validation result, not used to decide.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74320"/>
          </a:xfrm>
          <a:prstGeom prst="rect">
            <a:avLst/>
          </a:prstGeom>
          <a:noFill/>
          <a:ln/>
        </p:spPr>
        <p:txBody>
          <a:bodyPr wrap="square" lIns="0" tIns="0" rIns="0" bIns="0" rtlCol="0" anchor="t"/>
          <a:lstStyle/>
          <a:p>
            <a:pPr indent="0" marL="0">
              <a:buNone/>
            </a:pPr>
            <a:r>
              <a:rPr lang="en-US" sz="1200" b="1" dirty="0">
                <a:solidFill>
                  <a:srgbClr val="0071E3"/>
                </a:solidFill>
                <a:latin typeface="Calibri" pitchFamily="34" charset="0"/>
                <a:ea typeface="Calibri" pitchFamily="34" charset="-122"/>
                <a:cs typeface="Calibri" pitchFamily="34" charset="-120"/>
              </a:rPr>
              <a:t>05 · CAPACITY</a:t>
            </a:r>
            <a:endParaRPr lang="en-US" sz="1200" dirty="0"/>
          </a:p>
        </p:txBody>
      </p:sp>
      <p:sp>
        <p:nvSpPr>
          <p:cNvPr id="3" name="Text 1"/>
          <p:cNvSpPr txBox="1"/>
          <p:nvPr/>
        </p:nvSpPr>
        <p:spPr>
          <a:xfrm>
            <a:off x="548640" y="640080"/>
            <a:ext cx="8046720" cy="868680"/>
          </a:xfrm>
          <a:prstGeom prst="rect">
            <a:avLst/>
          </a:prstGeom>
          <a:noFill/>
          <a:ln/>
        </p:spPr>
        <p:txBody>
          <a:bodyPr wrap="square" lIns="0" tIns="0" rIns="0" bIns="0" rtlCol="0" anchor="t"/>
          <a:lstStyle/>
          <a:p>
            <a:pPr indent="0" marL="0">
              <a:buNone/>
            </a:pPr>
            <a:r>
              <a:rPr lang="en-US" sz="2800" b="1" dirty="0">
                <a:solidFill>
                  <a:srgbClr val="1D1D1F"/>
                </a:solidFill>
                <a:latin typeface="Calibri" pitchFamily="34" charset="0"/>
                <a:ea typeface="Calibri" pitchFamily="34" charset="-122"/>
                <a:cs typeface="Calibri" pitchFamily="34" charset="-120"/>
              </a:rPr>
              <a:t>How much can this customer repay each month?</a:t>
            </a:r>
            <a:endParaRPr lang="en-US" sz="2800" dirty="0"/>
          </a:p>
        </p:txBody>
      </p:sp>
      <p:sp>
        <p:nvSpPr>
          <p:cNvPr id="4" name="Text 2"/>
          <p:cNvSpPr txBox="1"/>
          <p:nvPr/>
        </p:nvSpPr>
        <p:spPr>
          <a:xfrm>
            <a:off x="548640" y="4800600"/>
            <a:ext cx="8046720" cy="201168"/>
          </a:xfrm>
          <a:prstGeom prst="rect">
            <a:avLst/>
          </a:prstGeom>
          <a:noFill/>
          <a:ln/>
        </p:spPr>
        <p:txBody>
          <a:bodyPr wrap="square" lIns="0" tIns="0" rIns="0" bIns="0" rtlCol="0" anchor="t"/>
          <a:lstStyle/>
          <a:p>
            <a:pPr indent="0" marL="0">
              <a:buNone/>
            </a:pPr>
            <a:r>
              <a:rPr lang="en-US" sz="1000" dirty="0">
                <a:solidFill>
                  <a:srgbClr val="6E6E73"/>
                </a:solidFill>
                <a:latin typeface="Calibri" pitchFamily="34" charset="0"/>
                <a:ea typeface="Calibri" pitchFamily="34" charset="-122"/>
                <a:cs typeface="Calibri" pitchFamily="34" charset="-120"/>
              </a:rPr>
              <a:t>noema · Factored AI &amp; Data Hackathon 2026 · Eduardo Lozada &amp; Federico Vargas</a:t>
            </a:r>
            <a:endParaRPr lang="en-US" sz="1000" dirty="0"/>
          </a:p>
        </p:txBody>
      </p:sp>
      <p:sp>
        <p:nvSpPr>
          <p:cNvPr id="5" name="Shape 3"/>
          <p:cNvSpPr/>
          <p:nvPr/>
        </p:nvSpPr>
        <p:spPr>
          <a:xfrm>
            <a:off x="548640" y="1645920"/>
            <a:ext cx="1828800" cy="1691640"/>
          </a:xfrm>
          <a:prstGeom prst="rect">
            <a:avLst/>
          </a:prstGeom>
          <a:solidFill>
            <a:srgbClr val="F5F5F7"/>
          </a:solidFill>
          <a:ln w="12700">
            <a:solidFill>
              <a:srgbClr val="F5F5F7"/>
            </a:solidFill>
            <a:prstDash val="solid"/>
          </a:ln>
        </p:spPr>
      </p:sp>
      <p:sp>
        <p:nvSpPr>
          <p:cNvPr id="6" name="Text 4"/>
          <p:cNvSpPr txBox="1"/>
          <p:nvPr/>
        </p:nvSpPr>
        <p:spPr>
          <a:xfrm>
            <a:off x="685800" y="1737360"/>
            <a:ext cx="457200" cy="365760"/>
          </a:xfrm>
          <a:prstGeom prst="rect">
            <a:avLst/>
          </a:prstGeom>
          <a:noFill/>
          <a:ln/>
        </p:spPr>
        <p:txBody>
          <a:bodyPr wrap="square" lIns="0" tIns="0" rIns="0" bIns="0" rtlCol="0" anchor="t"/>
          <a:lstStyle/>
          <a:p>
            <a:pPr indent="0" marL="0">
              <a:buNone/>
            </a:pPr>
            <a:r>
              <a:rPr lang="en-US" sz="2200" b="1" dirty="0">
                <a:solidFill>
                  <a:srgbClr val="0071E3"/>
                </a:solidFill>
                <a:latin typeface="Calibri" pitchFamily="34" charset="0"/>
                <a:ea typeface="Calibri" pitchFamily="34" charset="-122"/>
                <a:cs typeface="Calibri" pitchFamily="34" charset="-120"/>
              </a:rPr>
              <a:t>1</a:t>
            </a:r>
            <a:endParaRPr lang="en-US" sz="2200" dirty="0"/>
          </a:p>
        </p:txBody>
      </p:sp>
      <p:sp>
        <p:nvSpPr>
          <p:cNvPr id="7" name="Text 5"/>
          <p:cNvSpPr txBox="1"/>
          <p:nvPr/>
        </p:nvSpPr>
        <p:spPr>
          <a:xfrm>
            <a:off x="685800" y="2103120"/>
            <a:ext cx="1600200" cy="320040"/>
          </a:xfrm>
          <a:prstGeom prst="rect">
            <a:avLst/>
          </a:prstGeom>
          <a:noFill/>
          <a:ln/>
        </p:spPr>
        <p:txBody>
          <a:bodyPr wrap="square" lIns="0" tIns="0" rIns="0" bIns="0" rtlCol="0" anchor="t"/>
          <a:lstStyle/>
          <a:p>
            <a:pPr indent="0" marL="0">
              <a:buNone/>
            </a:pPr>
            <a:r>
              <a:rPr lang="en-US" sz="1400" b="1" dirty="0">
                <a:solidFill>
                  <a:srgbClr val="1D1D1F"/>
                </a:solidFill>
                <a:latin typeface="Calibri" pitchFamily="34" charset="0"/>
                <a:ea typeface="Calibri" pitchFamily="34" charset="-122"/>
                <a:cs typeface="Calibri" pitchFamily="34" charset="-120"/>
              </a:rPr>
              <a:t>Observed flow</a:t>
            </a:r>
            <a:endParaRPr lang="en-US" sz="1400" dirty="0"/>
          </a:p>
        </p:txBody>
      </p:sp>
      <p:sp>
        <p:nvSpPr>
          <p:cNvPr id="8" name="Text 6"/>
          <p:cNvSpPr txBox="1"/>
          <p:nvPr/>
        </p:nvSpPr>
        <p:spPr>
          <a:xfrm>
            <a:off x="685800" y="2450592"/>
            <a:ext cx="1600200" cy="822960"/>
          </a:xfrm>
          <a:prstGeom prst="rect">
            <a:avLst/>
          </a:prstGeom>
          <a:noFill/>
          <a:ln/>
        </p:spPr>
        <p:txBody>
          <a:bodyPr wrap="square" lIns="0" tIns="0" rIns="0" bIns="0" rtlCol="0" anchor="t"/>
          <a:lstStyle/>
          <a:p>
            <a:pPr indent="0" marL="0">
              <a:buNone/>
            </a:pPr>
            <a:r>
              <a:rPr lang="en-US" sz="1200" dirty="0">
                <a:solidFill>
                  <a:srgbClr val="6E6E73"/>
                </a:solidFill>
                <a:latin typeface="Calibri" pitchFamily="34" charset="0"/>
                <a:ea typeface="Calibri" pitchFamily="34" charset="-122"/>
                <a:cs typeface="Calibri" pitchFamily="34" charset="-120"/>
              </a:rPr>
              <a:t>Deposits and outflows from approved transactions</a:t>
            </a:r>
            <a:endParaRPr lang="en-US" sz="1200" dirty="0"/>
          </a:p>
        </p:txBody>
      </p:sp>
      <p:sp>
        <p:nvSpPr>
          <p:cNvPr id="9" name="Text 7"/>
          <p:cNvSpPr txBox="1"/>
          <p:nvPr/>
        </p:nvSpPr>
        <p:spPr>
          <a:xfrm>
            <a:off x="2377440" y="2286000"/>
            <a:ext cx="228600" cy="365760"/>
          </a:xfrm>
          <a:prstGeom prst="rect">
            <a:avLst/>
          </a:prstGeom>
          <a:noFill/>
          <a:ln/>
        </p:spPr>
        <p:txBody>
          <a:bodyPr wrap="square" lIns="0" tIns="0" rIns="0" bIns="0" rtlCol="0" anchor="t"/>
          <a:lstStyle/>
          <a:p>
            <a:pPr algn="ctr" indent="0" marL="0">
              <a:buNone/>
            </a:pPr>
            <a:r>
              <a:rPr lang="en-US" sz="1800" b="1" dirty="0">
                <a:solidFill>
                  <a:srgbClr val="0071E3"/>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2606040" y="1645920"/>
            <a:ext cx="1828800" cy="1691640"/>
          </a:xfrm>
          <a:prstGeom prst="rect">
            <a:avLst/>
          </a:prstGeom>
          <a:solidFill>
            <a:srgbClr val="F5F5F7"/>
          </a:solidFill>
          <a:ln w="12700">
            <a:solidFill>
              <a:srgbClr val="F5F5F7"/>
            </a:solidFill>
            <a:prstDash val="solid"/>
          </a:ln>
        </p:spPr>
      </p:sp>
      <p:sp>
        <p:nvSpPr>
          <p:cNvPr id="11" name="Text 9"/>
          <p:cNvSpPr txBox="1"/>
          <p:nvPr/>
        </p:nvSpPr>
        <p:spPr>
          <a:xfrm>
            <a:off x="2743200" y="1737360"/>
            <a:ext cx="457200" cy="365760"/>
          </a:xfrm>
          <a:prstGeom prst="rect">
            <a:avLst/>
          </a:prstGeom>
          <a:noFill/>
          <a:ln/>
        </p:spPr>
        <p:txBody>
          <a:bodyPr wrap="square" lIns="0" tIns="0" rIns="0" bIns="0" rtlCol="0" anchor="t"/>
          <a:lstStyle/>
          <a:p>
            <a:pPr indent="0" marL="0">
              <a:buNone/>
            </a:pPr>
            <a:r>
              <a:rPr lang="en-US" sz="2200" b="1" dirty="0">
                <a:solidFill>
                  <a:srgbClr val="0071E3"/>
                </a:solidFill>
                <a:latin typeface="Calibri" pitchFamily="34" charset="0"/>
                <a:ea typeface="Calibri" pitchFamily="34" charset="-122"/>
                <a:cs typeface="Calibri" pitchFamily="34" charset="-120"/>
              </a:rPr>
              <a:t>2</a:t>
            </a:r>
            <a:endParaRPr lang="en-US" sz="2200" dirty="0"/>
          </a:p>
        </p:txBody>
      </p:sp>
      <p:sp>
        <p:nvSpPr>
          <p:cNvPr id="12" name="Text 10"/>
          <p:cNvSpPr txBox="1"/>
          <p:nvPr/>
        </p:nvSpPr>
        <p:spPr>
          <a:xfrm>
            <a:off x="2743200" y="2103120"/>
            <a:ext cx="1600200" cy="320040"/>
          </a:xfrm>
          <a:prstGeom prst="rect">
            <a:avLst/>
          </a:prstGeom>
          <a:noFill/>
          <a:ln/>
        </p:spPr>
        <p:txBody>
          <a:bodyPr wrap="square" lIns="0" tIns="0" rIns="0" bIns="0" rtlCol="0" anchor="t"/>
          <a:lstStyle/>
          <a:p>
            <a:pPr indent="0" marL="0">
              <a:buNone/>
            </a:pPr>
            <a:r>
              <a:rPr lang="en-US" sz="1400" b="1" dirty="0">
                <a:solidFill>
                  <a:srgbClr val="1D1D1F"/>
                </a:solidFill>
                <a:latin typeface="Calibri" pitchFamily="34" charset="0"/>
                <a:ea typeface="Calibri" pitchFamily="34" charset="-122"/>
                <a:cs typeface="Calibri" pitchFamily="34" charset="-120"/>
              </a:rPr>
              <a:t>Conservative capacity</a:t>
            </a:r>
            <a:endParaRPr lang="en-US" sz="1400" dirty="0"/>
          </a:p>
        </p:txBody>
      </p:sp>
      <p:sp>
        <p:nvSpPr>
          <p:cNvPr id="13" name="Text 11"/>
          <p:cNvSpPr txBox="1"/>
          <p:nvPr/>
        </p:nvSpPr>
        <p:spPr>
          <a:xfrm>
            <a:off x="2743200" y="2450592"/>
            <a:ext cx="1600200" cy="822960"/>
          </a:xfrm>
          <a:prstGeom prst="rect">
            <a:avLst/>
          </a:prstGeom>
          <a:noFill/>
          <a:ln/>
        </p:spPr>
        <p:txBody>
          <a:bodyPr wrap="square" lIns="0" tIns="0" rIns="0" bIns="0" rtlCol="0" anchor="t"/>
          <a:lstStyle/>
          <a:p>
            <a:pPr indent="0" marL="0">
              <a:buNone/>
            </a:pPr>
            <a:r>
              <a:rPr lang="en-US" sz="1200" dirty="0">
                <a:solidFill>
                  <a:srgbClr val="6E6E73"/>
                </a:solidFill>
                <a:latin typeface="Calibri" pitchFamily="34" charset="0"/>
                <a:ea typeface="Calibri" pitchFamily="34" charset="-122"/>
                <a:cs typeface="Calibri" pitchFamily="34" charset="-120"/>
              </a:rPr>
              <a:t>Smaller of monthly surplus and 30 % of deposits, never negative</a:t>
            </a:r>
            <a:endParaRPr lang="en-US" sz="1200" dirty="0"/>
          </a:p>
        </p:txBody>
      </p:sp>
      <p:sp>
        <p:nvSpPr>
          <p:cNvPr id="14" name="Text 12"/>
          <p:cNvSpPr txBox="1"/>
          <p:nvPr/>
        </p:nvSpPr>
        <p:spPr>
          <a:xfrm>
            <a:off x="4434840" y="2286000"/>
            <a:ext cx="228600" cy="365760"/>
          </a:xfrm>
          <a:prstGeom prst="rect">
            <a:avLst/>
          </a:prstGeom>
          <a:noFill/>
          <a:ln/>
        </p:spPr>
        <p:txBody>
          <a:bodyPr wrap="square" lIns="0" tIns="0" rIns="0" bIns="0" rtlCol="0" anchor="t"/>
          <a:lstStyle/>
          <a:p>
            <a:pPr algn="ctr" indent="0" marL="0">
              <a:buNone/>
            </a:pPr>
            <a:r>
              <a:rPr lang="en-US" sz="1800" b="1" dirty="0">
                <a:solidFill>
                  <a:srgbClr val="0071E3"/>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4663440" y="1645920"/>
            <a:ext cx="1828800" cy="1691640"/>
          </a:xfrm>
          <a:prstGeom prst="rect">
            <a:avLst/>
          </a:prstGeom>
          <a:solidFill>
            <a:srgbClr val="F5F5F7"/>
          </a:solidFill>
          <a:ln w="12700">
            <a:solidFill>
              <a:srgbClr val="F5F5F7"/>
            </a:solidFill>
            <a:prstDash val="solid"/>
          </a:ln>
        </p:spPr>
      </p:sp>
      <p:sp>
        <p:nvSpPr>
          <p:cNvPr id="16" name="Text 14"/>
          <p:cNvSpPr txBox="1"/>
          <p:nvPr/>
        </p:nvSpPr>
        <p:spPr>
          <a:xfrm>
            <a:off x="4800600" y="1737360"/>
            <a:ext cx="457200" cy="365760"/>
          </a:xfrm>
          <a:prstGeom prst="rect">
            <a:avLst/>
          </a:prstGeom>
          <a:noFill/>
          <a:ln/>
        </p:spPr>
        <p:txBody>
          <a:bodyPr wrap="square" lIns="0" tIns="0" rIns="0" bIns="0" rtlCol="0" anchor="t"/>
          <a:lstStyle/>
          <a:p>
            <a:pPr indent="0" marL="0">
              <a:buNone/>
            </a:pPr>
            <a:r>
              <a:rPr lang="en-US" sz="2200" b="1" dirty="0">
                <a:solidFill>
                  <a:srgbClr val="0071E3"/>
                </a:solidFill>
                <a:latin typeface="Calibri" pitchFamily="34" charset="0"/>
                <a:ea typeface="Calibri" pitchFamily="34" charset="-122"/>
                <a:cs typeface="Calibri" pitchFamily="34" charset="-120"/>
              </a:rPr>
              <a:t>3</a:t>
            </a:r>
            <a:endParaRPr lang="en-US" sz="2200" dirty="0"/>
          </a:p>
        </p:txBody>
      </p:sp>
      <p:sp>
        <p:nvSpPr>
          <p:cNvPr id="17" name="Text 15"/>
          <p:cNvSpPr txBox="1"/>
          <p:nvPr/>
        </p:nvSpPr>
        <p:spPr>
          <a:xfrm>
            <a:off x="4800600" y="2103120"/>
            <a:ext cx="1600200" cy="320040"/>
          </a:xfrm>
          <a:prstGeom prst="rect">
            <a:avLst/>
          </a:prstGeom>
          <a:noFill/>
          <a:ln/>
        </p:spPr>
        <p:txBody>
          <a:bodyPr wrap="square" lIns="0" tIns="0" rIns="0" bIns="0" rtlCol="0" anchor="t"/>
          <a:lstStyle/>
          <a:p>
            <a:pPr indent="0" marL="0">
              <a:buNone/>
            </a:pPr>
            <a:r>
              <a:rPr lang="en-US" sz="1400" b="1" dirty="0">
                <a:solidFill>
                  <a:srgbClr val="1D1D1F"/>
                </a:solidFill>
                <a:latin typeface="Calibri" pitchFamily="34" charset="0"/>
                <a:ea typeface="Calibri" pitchFamily="34" charset="-122"/>
                <a:cs typeface="Calibri" pitchFamily="34" charset="-120"/>
              </a:rPr>
              <a:t>Forecast</a:t>
            </a:r>
            <a:endParaRPr lang="en-US" sz="1400" dirty="0"/>
          </a:p>
        </p:txBody>
      </p:sp>
      <p:sp>
        <p:nvSpPr>
          <p:cNvPr id="18" name="Text 16"/>
          <p:cNvSpPr txBox="1"/>
          <p:nvPr/>
        </p:nvSpPr>
        <p:spPr>
          <a:xfrm>
            <a:off x="4800600" y="2450592"/>
            <a:ext cx="1600200" cy="822960"/>
          </a:xfrm>
          <a:prstGeom prst="rect">
            <a:avLst/>
          </a:prstGeom>
          <a:noFill/>
          <a:ln/>
        </p:spPr>
        <p:txBody>
          <a:bodyPr wrap="square" lIns="0" tIns="0" rIns="0" bIns="0" rtlCol="0" anchor="t"/>
          <a:lstStyle/>
          <a:p>
            <a:pPr indent="0" marL="0">
              <a:buNone/>
            </a:pPr>
            <a:r>
              <a:rPr lang="en-US" sz="1200" dirty="0">
                <a:solidFill>
                  <a:srgbClr val="6E6E73"/>
                </a:solidFill>
                <a:latin typeface="Calibri" pitchFamily="34" charset="0"/>
                <a:ea typeface="Calibri" pitchFamily="34" charset="-122"/>
                <a:cs typeface="Calibri" pitchFamily="34" charset="-120"/>
              </a:rPr>
              <a:t>Regression predicts next month's capacity from 4 features</a:t>
            </a:r>
            <a:endParaRPr lang="en-US" sz="1200" dirty="0"/>
          </a:p>
        </p:txBody>
      </p:sp>
      <p:sp>
        <p:nvSpPr>
          <p:cNvPr id="19" name="Text 17"/>
          <p:cNvSpPr txBox="1"/>
          <p:nvPr/>
        </p:nvSpPr>
        <p:spPr>
          <a:xfrm>
            <a:off x="6492240" y="2286000"/>
            <a:ext cx="228600" cy="365760"/>
          </a:xfrm>
          <a:prstGeom prst="rect">
            <a:avLst/>
          </a:prstGeom>
          <a:noFill/>
          <a:ln/>
        </p:spPr>
        <p:txBody>
          <a:bodyPr wrap="square" lIns="0" tIns="0" rIns="0" bIns="0" rtlCol="0" anchor="t"/>
          <a:lstStyle/>
          <a:p>
            <a:pPr algn="ctr" indent="0" marL="0">
              <a:buNone/>
            </a:pPr>
            <a:r>
              <a:rPr lang="en-US" sz="1800" b="1" dirty="0">
                <a:solidFill>
                  <a:srgbClr val="0071E3"/>
                </a:solidFill>
                <a:latin typeface="Calibri" pitchFamily="34" charset="0"/>
                <a:ea typeface="Calibri" pitchFamily="34" charset="-122"/>
                <a:cs typeface="Calibri" pitchFamily="34" charset="-120"/>
              </a:rPr>
              <a:t>→</a:t>
            </a:r>
            <a:endParaRPr lang="en-US" sz="1800" dirty="0"/>
          </a:p>
        </p:txBody>
      </p:sp>
      <p:sp>
        <p:nvSpPr>
          <p:cNvPr id="20" name="Shape 18"/>
          <p:cNvSpPr/>
          <p:nvPr/>
        </p:nvSpPr>
        <p:spPr>
          <a:xfrm>
            <a:off x="6720840" y="1645920"/>
            <a:ext cx="1828800" cy="1691640"/>
          </a:xfrm>
          <a:prstGeom prst="rect">
            <a:avLst/>
          </a:prstGeom>
          <a:solidFill>
            <a:srgbClr val="FFFFFF"/>
          </a:solidFill>
          <a:ln w="12700">
            <a:solidFill>
              <a:srgbClr val="FFFFFF"/>
            </a:solidFill>
            <a:prstDash val="solid"/>
          </a:ln>
        </p:spPr>
      </p:sp>
      <p:sp>
        <p:nvSpPr>
          <p:cNvPr id="21" name="Shape 19"/>
          <p:cNvSpPr/>
          <p:nvPr/>
        </p:nvSpPr>
        <p:spPr>
          <a:xfrm>
            <a:off x="6720840" y="1645920"/>
            <a:ext cx="1828800" cy="1691640"/>
          </a:xfrm>
          <a:prstGeom prst="rect">
            <a:avLst/>
          </a:prstGeom>
          <a:ln w="15875">
            <a:solidFill>
              <a:srgbClr val="0071E3"/>
            </a:solidFill>
            <a:prstDash val="dash"/>
          </a:ln>
        </p:spPr>
      </p:sp>
      <p:sp>
        <p:nvSpPr>
          <p:cNvPr id="22" name="Text 20"/>
          <p:cNvSpPr txBox="1"/>
          <p:nvPr/>
        </p:nvSpPr>
        <p:spPr>
          <a:xfrm>
            <a:off x="6858000" y="1737360"/>
            <a:ext cx="457200" cy="365760"/>
          </a:xfrm>
          <a:prstGeom prst="rect">
            <a:avLst/>
          </a:prstGeom>
          <a:noFill/>
          <a:ln/>
        </p:spPr>
        <p:txBody>
          <a:bodyPr wrap="square" lIns="0" tIns="0" rIns="0" bIns="0" rtlCol="0" anchor="t"/>
          <a:lstStyle/>
          <a:p>
            <a:pPr indent="0" marL="0">
              <a:buNone/>
            </a:pPr>
            <a:r>
              <a:rPr lang="en-US" sz="2200" b="1" dirty="0">
                <a:solidFill>
                  <a:srgbClr val="0071E3"/>
                </a:solidFill>
                <a:latin typeface="Calibri" pitchFamily="34" charset="0"/>
                <a:ea typeface="Calibri" pitchFamily="34" charset="-122"/>
                <a:cs typeface="Calibri" pitchFamily="34" charset="-120"/>
              </a:rPr>
              <a:t>4</a:t>
            </a:r>
            <a:endParaRPr lang="en-US" sz="2200" dirty="0"/>
          </a:p>
        </p:txBody>
      </p:sp>
      <p:sp>
        <p:nvSpPr>
          <p:cNvPr id="23" name="Text 21"/>
          <p:cNvSpPr txBox="1"/>
          <p:nvPr/>
        </p:nvSpPr>
        <p:spPr>
          <a:xfrm>
            <a:off x="6858000" y="2103120"/>
            <a:ext cx="1600200" cy="320040"/>
          </a:xfrm>
          <a:prstGeom prst="rect">
            <a:avLst/>
          </a:prstGeom>
          <a:noFill/>
          <a:ln/>
        </p:spPr>
        <p:txBody>
          <a:bodyPr wrap="square" lIns="0" tIns="0" rIns="0" bIns="0" rtlCol="0" anchor="t"/>
          <a:lstStyle/>
          <a:p>
            <a:pPr indent="0" marL="0">
              <a:buNone/>
            </a:pPr>
            <a:r>
              <a:rPr lang="en-US" sz="1400" b="1" dirty="0">
                <a:solidFill>
                  <a:srgbClr val="1D1D1F"/>
                </a:solidFill>
                <a:latin typeface="Calibri" pitchFamily="34" charset="0"/>
                <a:ea typeface="Calibri" pitchFamily="34" charset="-122"/>
                <a:cs typeface="Calibri" pitchFamily="34" charset="-120"/>
              </a:rPr>
              <a:t>Maximum payment</a:t>
            </a:r>
            <a:endParaRPr lang="en-US" sz="1400" dirty="0"/>
          </a:p>
        </p:txBody>
      </p:sp>
      <p:sp>
        <p:nvSpPr>
          <p:cNvPr id="24" name="Text 22"/>
          <p:cNvSpPr txBox="1"/>
          <p:nvPr/>
        </p:nvSpPr>
        <p:spPr>
          <a:xfrm>
            <a:off x="6858000" y="2450592"/>
            <a:ext cx="1600200" cy="822960"/>
          </a:xfrm>
          <a:prstGeom prst="rect">
            <a:avLst/>
          </a:prstGeom>
          <a:noFill/>
          <a:ln/>
        </p:spPr>
        <p:txBody>
          <a:bodyPr wrap="square" lIns="0" tIns="0" rIns="0" bIns="0" rtlCol="0" anchor="t"/>
          <a:lstStyle/>
          <a:p>
            <a:pPr indent="0" marL="0">
              <a:buNone/>
            </a:pPr>
            <a:r>
              <a:rPr lang="en-US" sz="1200" dirty="0">
                <a:solidFill>
                  <a:srgbClr val="6E6E73"/>
                </a:solidFill>
                <a:latin typeface="Calibri" pitchFamily="34" charset="0"/>
                <a:ea typeface="Calibri" pitchFamily="34" charset="-122"/>
                <a:cs typeface="Calibri" pitchFamily="34" charset="-120"/>
              </a:rPr>
              <a:t>Monthly payment the customer can carry (in progress)</a:t>
            </a:r>
            <a:endParaRPr lang="en-US" sz="1200" dirty="0"/>
          </a:p>
        </p:txBody>
      </p:sp>
      <p:sp>
        <p:nvSpPr>
          <p:cNvPr id="25" name="Text 23"/>
          <p:cNvSpPr txBox="1"/>
          <p:nvPr/>
        </p:nvSpPr>
        <p:spPr>
          <a:xfrm>
            <a:off x="548640" y="3566160"/>
            <a:ext cx="2377440" cy="640080"/>
          </a:xfrm>
          <a:prstGeom prst="rect">
            <a:avLst/>
          </a:prstGeom>
          <a:noFill/>
          <a:ln/>
        </p:spPr>
        <p:txBody>
          <a:bodyPr wrap="square" lIns="0" tIns="0" rIns="0" bIns="0" rtlCol="0" anchor="t"/>
          <a:lstStyle/>
          <a:p>
            <a:pPr indent="0" marL="0">
              <a:buNone/>
            </a:pPr>
            <a:r>
              <a:rPr lang="en-US" sz="4000" b="1" dirty="0">
                <a:solidFill>
                  <a:srgbClr val="0071E3"/>
                </a:solidFill>
                <a:latin typeface="Calibri" pitchFamily="34" charset="0"/>
                <a:ea typeface="Calibri" pitchFamily="34" charset="-122"/>
                <a:cs typeface="Calibri" pitchFamily="34" charset="-120"/>
              </a:rPr>
              <a:t>150,000</a:t>
            </a:r>
            <a:endParaRPr lang="en-US" sz="4000" dirty="0"/>
          </a:p>
        </p:txBody>
      </p:sp>
      <p:sp>
        <p:nvSpPr>
          <p:cNvPr id="26" name="Text 24"/>
          <p:cNvSpPr txBox="1"/>
          <p:nvPr/>
        </p:nvSpPr>
        <p:spPr>
          <a:xfrm>
            <a:off x="548640" y="4224528"/>
            <a:ext cx="2377440" cy="731520"/>
          </a:xfrm>
          <a:prstGeom prst="rect">
            <a:avLst/>
          </a:prstGeom>
          <a:noFill/>
          <a:ln/>
        </p:spPr>
        <p:txBody>
          <a:bodyPr wrap="square" lIns="0" tIns="0" rIns="0" bIns="0" rtlCol="0" anchor="t"/>
          <a:lstStyle/>
          <a:p>
            <a:pPr indent="0" marL="0">
              <a:buNone/>
            </a:pPr>
            <a:r>
              <a:rPr lang="en-US" sz="1400" dirty="0">
                <a:solidFill>
                  <a:srgbClr val="6E6E73"/>
                </a:solidFill>
                <a:latin typeface="Calibri" pitchFamily="34" charset="0"/>
                <a:ea typeface="Calibri" pitchFamily="34" charset="-122"/>
                <a:cs typeface="Calibri" pitchFamily="34" charset="-120"/>
              </a:rPr>
              <a:t>training examples, validated on a later period</a:t>
            </a:r>
            <a:endParaRPr lang="en-US" sz="1400" dirty="0"/>
          </a:p>
        </p:txBody>
      </p:sp>
      <p:sp>
        <p:nvSpPr>
          <p:cNvPr id="27" name="Text 25"/>
          <p:cNvSpPr txBox="1"/>
          <p:nvPr/>
        </p:nvSpPr>
        <p:spPr>
          <a:xfrm>
            <a:off x="3108960" y="3566160"/>
            <a:ext cx="2377440" cy="640080"/>
          </a:xfrm>
          <a:prstGeom prst="rect">
            <a:avLst/>
          </a:prstGeom>
          <a:noFill/>
          <a:ln/>
        </p:spPr>
        <p:txBody>
          <a:bodyPr wrap="square" lIns="0" tIns="0" rIns="0" bIns="0" rtlCol="0" anchor="t"/>
          <a:lstStyle/>
          <a:p>
            <a:pPr indent="0" marL="0">
              <a:buNone/>
            </a:pPr>
            <a:r>
              <a:rPr lang="en-US" sz="4000" b="1" dirty="0">
                <a:solidFill>
                  <a:srgbClr val="0071E3"/>
                </a:solidFill>
                <a:latin typeface="Calibri" pitchFamily="34" charset="0"/>
                <a:ea typeface="Calibri" pitchFamily="34" charset="-122"/>
                <a:cs typeface="Calibri" pitchFamily="34" charset="-120"/>
              </a:rPr>
              <a:t>5.57 %</a:t>
            </a:r>
            <a:endParaRPr lang="en-US" sz="4000" dirty="0"/>
          </a:p>
        </p:txBody>
      </p:sp>
      <p:sp>
        <p:nvSpPr>
          <p:cNvPr id="28" name="Text 26"/>
          <p:cNvSpPr txBox="1"/>
          <p:nvPr/>
        </p:nvSpPr>
        <p:spPr>
          <a:xfrm>
            <a:off x="3108960" y="4224528"/>
            <a:ext cx="2377440" cy="731520"/>
          </a:xfrm>
          <a:prstGeom prst="rect">
            <a:avLst/>
          </a:prstGeom>
          <a:noFill/>
          <a:ln/>
        </p:spPr>
        <p:txBody>
          <a:bodyPr wrap="square" lIns="0" tIns="0" rIns="0" bIns="0" rtlCol="0" anchor="t"/>
          <a:lstStyle/>
          <a:p>
            <a:pPr indent="0" marL="0">
              <a:buNone/>
            </a:pPr>
            <a:r>
              <a:rPr lang="en-US" sz="1400" dirty="0">
                <a:solidFill>
                  <a:srgbClr val="6E6E73"/>
                </a:solidFill>
                <a:latin typeface="Calibri" pitchFamily="34" charset="0"/>
                <a:ea typeface="Calibri" pitchFamily="34" charset="-122"/>
                <a:cs typeface="Calibri" pitchFamily="34" charset="-120"/>
              </a:rPr>
              <a:t>of clients get an estimate. The rest abstain by design.</a:t>
            </a:r>
            <a:endParaRPr lang="en-US" sz="1400" dirty="0"/>
          </a:p>
        </p:txBody>
      </p:sp>
      <p:sp>
        <p:nvSpPr>
          <p:cNvPr id="29" name="Text 27"/>
          <p:cNvSpPr txBox="1"/>
          <p:nvPr/>
        </p:nvSpPr>
        <p:spPr>
          <a:xfrm>
            <a:off x="5669280" y="3566160"/>
            <a:ext cx="2926080" cy="640080"/>
          </a:xfrm>
          <a:prstGeom prst="rect">
            <a:avLst/>
          </a:prstGeom>
          <a:noFill/>
          <a:ln/>
        </p:spPr>
        <p:txBody>
          <a:bodyPr wrap="square" lIns="0" tIns="0" rIns="0" bIns="0" rtlCol="0" anchor="t"/>
          <a:lstStyle/>
          <a:p>
            <a:pPr indent="0" marL="0">
              <a:buNone/>
            </a:pPr>
            <a:r>
              <a:rPr lang="en-US" sz="4000" b="1" dirty="0">
                <a:solidFill>
                  <a:srgbClr val="6E6E73"/>
                </a:solidFill>
                <a:latin typeface="Calibri" pitchFamily="34" charset="0"/>
                <a:ea typeface="Calibri" pitchFamily="34" charset="-122"/>
                <a:cs typeface="Calibri" pitchFamily="34" charset="-120"/>
              </a:rPr>
              <a:t>+0.39 %</a:t>
            </a:r>
            <a:endParaRPr lang="en-US" sz="4000" dirty="0"/>
          </a:p>
        </p:txBody>
      </p:sp>
      <p:sp>
        <p:nvSpPr>
          <p:cNvPr id="30" name="Text 28"/>
          <p:cNvSpPr txBox="1"/>
          <p:nvPr/>
        </p:nvSpPr>
        <p:spPr>
          <a:xfrm>
            <a:off x="5669280" y="4224528"/>
            <a:ext cx="2926080" cy="731520"/>
          </a:xfrm>
          <a:prstGeom prst="rect">
            <a:avLst/>
          </a:prstGeom>
          <a:noFill/>
          <a:ln/>
        </p:spPr>
        <p:txBody>
          <a:bodyPr wrap="square" lIns="0" tIns="0" rIns="0" bIns="0" rtlCol="0" anchor="t"/>
          <a:lstStyle/>
          <a:p>
            <a:pPr indent="0" marL="0">
              <a:buNone/>
            </a:pPr>
            <a:r>
              <a:rPr lang="en-US" sz="1400" dirty="0">
                <a:solidFill>
                  <a:srgbClr val="6E6E73"/>
                </a:solidFill>
                <a:latin typeface="Calibri" pitchFamily="34" charset="0"/>
                <a:ea typeface="Calibri" pitchFamily="34" charset="-122"/>
                <a:cs typeface="Calibri" pitchFamily="34" charset="-120"/>
              </a:rPr>
              <a:t>gain over the baseline. Modest, and reported as such.</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74320"/>
          </a:xfrm>
          <a:prstGeom prst="rect">
            <a:avLst/>
          </a:prstGeom>
          <a:noFill/>
          <a:ln/>
        </p:spPr>
        <p:txBody>
          <a:bodyPr wrap="square" lIns="0" tIns="0" rIns="0" bIns="0" rtlCol="0" anchor="t"/>
          <a:lstStyle/>
          <a:p>
            <a:pPr indent="0" marL="0">
              <a:buNone/>
            </a:pPr>
            <a:r>
              <a:rPr lang="en-US" sz="1200" b="1" dirty="0">
                <a:solidFill>
                  <a:srgbClr val="0071E3"/>
                </a:solidFill>
                <a:latin typeface="Calibri" pitchFamily="34" charset="0"/>
                <a:ea typeface="Calibri" pitchFamily="34" charset="-122"/>
                <a:cs typeface="Calibri" pitchFamily="34" charset="-120"/>
              </a:rPr>
              <a:t>06 · THE POLICY</a:t>
            </a:r>
            <a:endParaRPr lang="en-US" sz="1200" dirty="0"/>
          </a:p>
        </p:txBody>
      </p:sp>
      <p:sp>
        <p:nvSpPr>
          <p:cNvPr id="3" name="Text 1"/>
          <p:cNvSpPr txBox="1"/>
          <p:nvPr/>
        </p:nvSpPr>
        <p:spPr>
          <a:xfrm>
            <a:off x="548640" y="640080"/>
            <a:ext cx="8046720" cy="868680"/>
          </a:xfrm>
          <a:prstGeom prst="rect">
            <a:avLst/>
          </a:prstGeom>
          <a:noFill/>
          <a:ln/>
        </p:spPr>
        <p:txBody>
          <a:bodyPr wrap="square" lIns="0" tIns="0" rIns="0" bIns="0" rtlCol="0" anchor="t"/>
          <a:lstStyle/>
          <a:p>
            <a:pPr indent="0" marL="0">
              <a:buNone/>
            </a:pPr>
            <a:r>
              <a:rPr lang="en-US" sz="2800" b="1" dirty="0">
                <a:solidFill>
                  <a:srgbClr val="1D1D1F"/>
                </a:solidFill>
                <a:latin typeface="Calibri" pitchFamily="34" charset="0"/>
                <a:ea typeface="Calibri" pitchFamily="34" charset="-122"/>
                <a:cs typeface="Calibri" pitchFamily="34" charset="-120"/>
              </a:rPr>
              <a:t>Seven rules decide. A versioned policy, no model.</a:t>
            </a:r>
            <a:endParaRPr lang="en-US" sz="2800" dirty="0"/>
          </a:p>
        </p:txBody>
      </p:sp>
      <p:sp>
        <p:nvSpPr>
          <p:cNvPr id="4" name="Text 2"/>
          <p:cNvSpPr txBox="1"/>
          <p:nvPr/>
        </p:nvSpPr>
        <p:spPr>
          <a:xfrm>
            <a:off x="548640" y="4800600"/>
            <a:ext cx="8046720" cy="201168"/>
          </a:xfrm>
          <a:prstGeom prst="rect">
            <a:avLst/>
          </a:prstGeom>
          <a:noFill/>
          <a:ln/>
        </p:spPr>
        <p:txBody>
          <a:bodyPr wrap="square" lIns="0" tIns="0" rIns="0" bIns="0" rtlCol="0" anchor="t"/>
          <a:lstStyle/>
          <a:p>
            <a:pPr indent="0" marL="0">
              <a:buNone/>
            </a:pPr>
            <a:r>
              <a:rPr lang="en-US" sz="1000" dirty="0">
                <a:solidFill>
                  <a:srgbClr val="6E6E73"/>
                </a:solidFill>
                <a:latin typeface="Calibri" pitchFamily="34" charset="0"/>
                <a:ea typeface="Calibri" pitchFamily="34" charset="-122"/>
                <a:cs typeface="Calibri" pitchFamily="34" charset="-120"/>
              </a:rPr>
              <a:t>noema · Factored AI &amp; Data Hackathon 2026 · Eduardo Lozada &amp; Federico Vargas</a:t>
            </a:r>
            <a:endParaRPr lang="en-US" sz="1000" dirty="0"/>
          </a:p>
        </p:txBody>
      </p:sp>
      <p:sp>
        <p:nvSpPr>
          <p:cNvPr id="5" name="Shape 3"/>
          <p:cNvSpPr/>
          <p:nvPr/>
        </p:nvSpPr>
        <p:spPr>
          <a:xfrm>
            <a:off x="548640" y="1600200"/>
            <a:ext cx="3931920" cy="621792"/>
          </a:xfrm>
          <a:prstGeom prst="rect">
            <a:avLst/>
          </a:prstGeom>
          <a:solidFill>
            <a:srgbClr val="F5F5F7"/>
          </a:solidFill>
          <a:ln w="12700">
            <a:solidFill>
              <a:srgbClr val="F5F5F7"/>
            </a:solidFill>
            <a:prstDash val="solid"/>
          </a:ln>
        </p:spPr>
      </p:sp>
      <p:sp>
        <p:nvSpPr>
          <p:cNvPr id="6" name="Shape 4"/>
          <p:cNvSpPr/>
          <p:nvPr/>
        </p:nvSpPr>
        <p:spPr>
          <a:xfrm>
            <a:off x="685800" y="1737360"/>
            <a:ext cx="347472" cy="347472"/>
          </a:xfrm>
          <a:prstGeom prst="ellipse">
            <a:avLst/>
          </a:prstGeom>
          <a:solidFill>
            <a:srgbClr val="0071E3"/>
          </a:solidFill>
          <a:ln w="12700">
            <a:solidFill>
              <a:srgbClr val="0071E3"/>
            </a:solidFill>
            <a:prstDash val="solid"/>
          </a:ln>
        </p:spPr>
      </p:sp>
      <p:sp>
        <p:nvSpPr>
          <p:cNvPr id="7" name="Text 5"/>
          <p:cNvSpPr txBox="1"/>
          <p:nvPr/>
        </p:nvSpPr>
        <p:spPr>
          <a:xfrm>
            <a:off x="685800" y="1773936"/>
            <a:ext cx="347472" cy="27432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188720" y="1673352"/>
            <a:ext cx="3200400" cy="274320"/>
          </a:xfrm>
          <a:prstGeom prst="rect">
            <a:avLst/>
          </a:prstGeom>
          <a:noFill/>
          <a:ln/>
        </p:spPr>
        <p:txBody>
          <a:bodyPr wrap="square" lIns="0" tIns="0" rIns="0" bIns="0" rtlCol="0" anchor="t"/>
          <a:lstStyle/>
          <a:p>
            <a:pPr indent="0" marL="0">
              <a:buNone/>
            </a:pPr>
            <a:r>
              <a:rPr lang="en-US" sz="1400" b="1" dirty="0">
                <a:solidFill>
                  <a:srgbClr val="1D1D1F"/>
                </a:solidFill>
                <a:latin typeface="Calibri" pitchFamily="34" charset="0"/>
                <a:ea typeface="Calibri" pitchFamily="34" charset="-122"/>
                <a:cs typeface="Calibri" pitchFamily="34" charset="-120"/>
              </a:rPr>
              <a:t>Tenure</a:t>
            </a:r>
            <a:endParaRPr lang="en-US" sz="1400" dirty="0"/>
          </a:p>
        </p:txBody>
      </p:sp>
      <p:sp>
        <p:nvSpPr>
          <p:cNvPr id="9" name="Text 7"/>
          <p:cNvSpPr txBox="1"/>
          <p:nvPr/>
        </p:nvSpPr>
        <p:spPr>
          <a:xfrm>
            <a:off x="1188720" y="1929384"/>
            <a:ext cx="3200400" cy="256032"/>
          </a:xfrm>
          <a:prstGeom prst="rect">
            <a:avLst/>
          </a:prstGeom>
          <a:noFill/>
          <a:ln/>
        </p:spPr>
        <p:txBody>
          <a:bodyPr wrap="square" lIns="0" tIns="0" rIns="0" bIns="0" rtlCol="0" anchor="t"/>
          <a:lstStyle/>
          <a:p>
            <a:pPr indent="0" marL="0">
              <a:buNone/>
            </a:pPr>
            <a:r>
              <a:rPr lang="en-US" sz="1200" dirty="0">
                <a:solidFill>
                  <a:srgbClr val="6E6E73"/>
                </a:solidFill>
                <a:latin typeface="Calibri" pitchFamily="34" charset="0"/>
                <a:ea typeface="Calibri" pitchFamily="34" charset="-122"/>
                <a:cs typeface="Calibri" pitchFamily="34" charset="-120"/>
              </a:rPr>
              <a:t>At least 6 months with the bank</a:t>
            </a:r>
            <a:endParaRPr lang="en-US" sz="1200" dirty="0"/>
          </a:p>
        </p:txBody>
      </p:sp>
      <p:sp>
        <p:nvSpPr>
          <p:cNvPr id="10" name="Shape 8"/>
          <p:cNvSpPr/>
          <p:nvPr/>
        </p:nvSpPr>
        <p:spPr>
          <a:xfrm>
            <a:off x="548640" y="2331720"/>
            <a:ext cx="3931920" cy="621792"/>
          </a:xfrm>
          <a:prstGeom prst="rect">
            <a:avLst/>
          </a:prstGeom>
          <a:solidFill>
            <a:srgbClr val="F5F5F7"/>
          </a:solidFill>
          <a:ln w="12700">
            <a:solidFill>
              <a:srgbClr val="F5F5F7"/>
            </a:solidFill>
            <a:prstDash val="solid"/>
          </a:ln>
        </p:spPr>
      </p:sp>
      <p:sp>
        <p:nvSpPr>
          <p:cNvPr id="11" name="Shape 9"/>
          <p:cNvSpPr/>
          <p:nvPr/>
        </p:nvSpPr>
        <p:spPr>
          <a:xfrm>
            <a:off x="685800" y="2468880"/>
            <a:ext cx="347472" cy="347472"/>
          </a:xfrm>
          <a:prstGeom prst="ellipse">
            <a:avLst/>
          </a:prstGeom>
          <a:solidFill>
            <a:srgbClr val="0071E3"/>
          </a:solidFill>
          <a:ln w="12700">
            <a:solidFill>
              <a:srgbClr val="0071E3"/>
            </a:solidFill>
            <a:prstDash val="solid"/>
          </a:ln>
        </p:spPr>
      </p:sp>
      <p:sp>
        <p:nvSpPr>
          <p:cNvPr id="12" name="Text 10"/>
          <p:cNvSpPr txBox="1"/>
          <p:nvPr/>
        </p:nvSpPr>
        <p:spPr>
          <a:xfrm>
            <a:off x="685800" y="2505456"/>
            <a:ext cx="347472" cy="27432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1188720" y="2404872"/>
            <a:ext cx="3200400" cy="274320"/>
          </a:xfrm>
          <a:prstGeom prst="rect">
            <a:avLst/>
          </a:prstGeom>
          <a:noFill/>
          <a:ln/>
        </p:spPr>
        <p:txBody>
          <a:bodyPr wrap="square" lIns="0" tIns="0" rIns="0" bIns="0" rtlCol="0" anchor="t"/>
          <a:lstStyle/>
          <a:p>
            <a:pPr indent="0" marL="0">
              <a:buNone/>
            </a:pPr>
            <a:r>
              <a:rPr lang="en-US" sz="1400" b="1" dirty="0">
                <a:solidFill>
                  <a:srgbClr val="1D1D1F"/>
                </a:solidFill>
                <a:latin typeface="Calibri" pitchFamily="34" charset="0"/>
                <a:ea typeface="Calibri" pitchFamily="34" charset="-122"/>
                <a:cs typeface="Calibri" pitchFamily="34" charset="-120"/>
              </a:rPr>
              <a:t>Products</a:t>
            </a:r>
            <a:endParaRPr lang="en-US" sz="1400" dirty="0"/>
          </a:p>
        </p:txBody>
      </p:sp>
      <p:sp>
        <p:nvSpPr>
          <p:cNvPr id="14" name="Text 12"/>
          <p:cNvSpPr txBox="1"/>
          <p:nvPr/>
        </p:nvSpPr>
        <p:spPr>
          <a:xfrm>
            <a:off x="1188720" y="2660904"/>
            <a:ext cx="3200400" cy="256032"/>
          </a:xfrm>
          <a:prstGeom prst="rect">
            <a:avLst/>
          </a:prstGeom>
          <a:noFill/>
          <a:ln/>
        </p:spPr>
        <p:txBody>
          <a:bodyPr wrap="square" lIns="0" tIns="0" rIns="0" bIns="0" rtlCol="0" anchor="t"/>
          <a:lstStyle/>
          <a:p>
            <a:pPr indent="0" marL="0">
              <a:buNone/>
            </a:pPr>
            <a:r>
              <a:rPr lang="en-US" sz="1200" dirty="0">
                <a:solidFill>
                  <a:srgbClr val="6E6E73"/>
                </a:solidFill>
                <a:latin typeface="Calibri" pitchFamily="34" charset="0"/>
                <a:ea typeface="Calibri" pitchFamily="34" charset="-122"/>
                <a:cs typeface="Calibri" pitchFamily="34" charset="-120"/>
              </a:rPr>
              <a:t>At most 4 active credit products</a:t>
            </a:r>
            <a:endParaRPr lang="en-US" sz="1200" dirty="0"/>
          </a:p>
        </p:txBody>
      </p:sp>
      <p:sp>
        <p:nvSpPr>
          <p:cNvPr id="15" name="Shape 13"/>
          <p:cNvSpPr/>
          <p:nvPr/>
        </p:nvSpPr>
        <p:spPr>
          <a:xfrm>
            <a:off x="548640" y="3063240"/>
            <a:ext cx="3931920" cy="621792"/>
          </a:xfrm>
          <a:prstGeom prst="rect">
            <a:avLst/>
          </a:prstGeom>
          <a:solidFill>
            <a:srgbClr val="F5F5F7"/>
          </a:solidFill>
          <a:ln w="12700">
            <a:solidFill>
              <a:srgbClr val="F5F5F7"/>
            </a:solidFill>
            <a:prstDash val="solid"/>
          </a:ln>
        </p:spPr>
      </p:sp>
      <p:sp>
        <p:nvSpPr>
          <p:cNvPr id="16" name="Shape 14"/>
          <p:cNvSpPr/>
          <p:nvPr/>
        </p:nvSpPr>
        <p:spPr>
          <a:xfrm>
            <a:off x="685800" y="3200400"/>
            <a:ext cx="347472" cy="347472"/>
          </a:xfrm>
          <a:prstGeom prst="ellipse">
            <a:avLst/>
          </a:prstGeom>
          <a:solidFill>
            <a:srgbClr val="0071E3"/>
          </a:solidFill>
          <a:ln w="12700">
            <a:solidFill>
              <a:srgbClr val="0071E3"/>
            </a:solidFill>
            <a:prstDash val="solid"/>
          </a:ln>
        </p:spPr>
      </p:sp>
      <p:sp>
        <p:nvSpPr>
          <p:cNvPr id="17" name="Text 15"/>
          <p:cNvSpPr txBox="1"/>
          <p:nvPr/>
        </p:nvSpPr>
        <p:spPr>
          <a:xfrm>
            <a:off x="685800" y="3236976"/>
            <a:ext cx="347472" cy="27432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188720" y="3136392"/>
            <a:ext cx="3200400" cy="274320"/>
          </a:xfrm>
          <a:prstGeom prst="rect">
            <a:avLst/>
          </a:prstGeom>
          <a:noFill/>
          <a:ln/>
        </p:spPr>
        <p:txBody>
          <a:bodyPr wrap="square" lIns="0" tIns="0" rIns="0" bIns="0" rtlCol="0" anchor="t"/>
          <a:lstStyle/>
          <a:p>
            <a:pPr indent="0" marL="0">
              <a:buNone/>
            </a:pPr>
            <a:r>
              <a:rPr lang="en-US" sz="1400" b="1" dirty="0">
                <a:solidFill>
                  <a:srgbClr val="1D1D1F"/>
                </a:solidFill>
                <a:latin typeface="Calibri" pitchFamily="34" charset="0"/>
                <a:ea typeface="Calibri" pitchFamily="34" charset="-122"/>
                <a:cs typeface="Calibri" pitchFamily="34" charset="-120"/>
              </a:rPr>
              <a:t>Hard debt cap</a:t>
            </a:r>
            <a:endParaRPr lang="en-US" sz="1400" dirty="0"/>
          </a:p>
        </p:txBody>
      </p:sp>
      <p:sp>
        <p:nvSpPr>
          <p:cNvPr id="19" name="Text 17"/>
          <p:cNvSpPr txBox="1"/>
          <p:nvPr/>
        </p:nvSpPr>
        <p:spPr>
          <a:xfrm>
            <a:off x="1188720" y="3392424"/>
            <a:ext cx="3200400" cy="256032"/>
          </a:xfrm>
          <a:prstGeom prst="rect">
            <a:avLst/>
          </a:prstGeom>
          <a:noFill/>
          <a:ln/>
        </p:spPr>
        <p:txBody>
          <a:bodyPr wrap="square" lIns="0" tIns="0" rIns="0" bIns="0" rtlCol="0" anchor="t"/>
          <a:lstStyle/>
          <a:p>
            <a:pPr indent="0" marL="0">
              <a:buNone/>
            </a:pPr>
            <a:r>
              <a:rPr lang="en-US" sz="1200" dirty="0">
                <a:solidFill>
                  <a:srgbClr val="6E6E73"/>
                </a:solidFill>
                <a:latin typeface="Calibri" pitchFamily="34" charset="0"/>
                <a:ea typeface="Calibri" pitchFamily="34" charset="-122"/>
                <a:cs typeface="Calibri" pitchFamily="34" charset="-120"/>
              </a:rPr>
              <a:t>Payments above 60 % of income: no offer</a:t>
            </a:r>
            <a:endParaRPr lang="en-US" sz="1200" dirty="0"/>
          </a:p>
        </p:txBody>
      </p:sp>
      <p:sp>
        <p:nvSpPr>
          <p:cNvPr id="20" name="Shape 18"/>
          <p:cNvSpPr/>
          <p:nvPr/>
        </p:nvSpPr>
        <p:spPr>
          <a:xfrm>
            <a:off x="548640" y="3794760"/>
            <a:ext cx="3931920" cy="621792"/>
          </a:xfrm>
          <a:prstGeom prst="rect">
            <a:avLst/>
          </a:prstGeom>
          <a:solidFill>
            <a:srgbClr val="F5F5F7"/>
          </a:solidFill>
          <a:ln w="12700">
            <a:solidFill>
              <a:srgbClr val="F5F5F7"/>
            </a:solidFill>
            <a:prstDash val="solid"/>
          </a:ln>
        </p:spPr>
      </p:sp>
      <p:sp>
        <p:nvSpPr>
          <p:cNvPr id="21" name="Shape 19"/>
          <p:cNvSpPr/>
          <p:nvPr/>
        </p:nvSpPr>
        <p:spPr>
          <a:xfrm>
            <a:off x="685800" y="3931920"/>
            <a:ext cx="347472" cy="347472"/>
          </a:xfrm>
          <a:prstGeom prst="ellipse">
            <a:avLst/>
          </a:prstGeom>
          <a:solidFill>
            <a:srgbClr val="0071E3"/>
          </a:solidFill>
          <a:ln w="12700">
            <a:solidFill>
              <a:srgbClr val="0071E3"/>
            </a:solidFill>
            <a:prstDash val="solid"/>
          </a:ln>
        </p:spPr>
      </p:sp>
      <p:sp>
        <p:nvSpPr>
          <p:cNvPr id="22" name="Text 20"/>
          <p:cNvSpPr txBox="1"/>
          <p:nvPr/>
        </p:nvSpPr>
        <p:spPr>
          <a:xfrm>
            <a:off x="685800" y="3968496"/>
            <a:ext cx="347472" cy="27432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1188720" y="3867912"/>
            <a:ext cx="3200400" cy="274320"/>
          </a:xfrm>
          <a:prstGeom prst="rect">
            <a:avLst/>
          </a:prstGeom>
          <a:noFill/>
          <a:ln/>
        </p:spPr>
        <p:txBody>
          <a:bodyPr wrap="square" lIns="0" tIns="0" rIns="0" bIns="0" rtlCol="0" anchor="t"/>
          <a:lstStyle/>
          <a:p>
            <a:pPr indent="0" marL="0">
              <a:buNone/>
            </a:pPr>
            <a:r>
              <a:rPr lang="en-US" sz="1400" b="1" dirty="0">
                <a:solidFill>
                  <a:srgbClr val="1D1D1F"/>
                </a:solidFill>
                <a:latin typeface="Calibri" pitchFamily="34" charset="0"/>
                <a:ea typeface="Calibri" pitchFamily="34" charset="-122"/>
                <a:cs typeface="Calibri" pitchFamily="34" charset="-120"/>
              </a:rPr>
              <a:t>Exposure</a:t>
            </a:r>
            <a:endParaRPr lang="en-US" sz="1400" dirty="0"/>
          </a:p>
        </p:txBody>
      </p:sp>
      <p:sp>
        <p:nvSpPr>
          <p:cNvPr id="24" name="Text 22"/>
          <p:cNvSpPr txBox="1"/>
          <p:nvPr/>
        </p:nvSpPr>
        <p:spPr>
          <a:xfrm>
            <a:off x="1188720" y="4123944"/>
            <a:ext cx="3200400" cy="256032"/>
          </a:xfrm>
          <a:prstGeom prst="rect">
            <a:avLst/>
          </a:prstGeom>
          <a:noFill/>
          <a:ln/>
        </p:spPr>
        <p:txBody>
          <a:bodyPr wrap="square" lIns="0" tIns="0" rIns="0" bIns="0" rtlCol="0" anchor="t"/>
          <a:lstStyle/>
          <a:p>
            <a:pPr indent="0" marL="0">
              <a:buNone/>
            </a:pPr>
            <a:r>
              <a:rPr lang="en-US" sz="1200" dirty="0">
                <a:solidFill>
                  <a:srgbClr val="6E6E73"/>
                </a:solidFill>
                <a:latin typeface="Calibri" pitchFamily="34" charset="0"/>
                <a:ea typeface="Calibri" pitchFamily="34" charset="-122"/>
                <a:cs typeface="Calibri" pitchFamily="34" charset="-120"/>
              </a:rPr>
              <a:t>At most 3.0 times annual income</a:t>
            </a:r>
            <a:endParaRPr lang="en-US" sz="1200" dirty="0"/>
          </a:p>
        </p:txBody>
      </p:sp>
      <p:sp>
        <p:nvSpPr>
          <p:cNvPr id="25" name="Shape 23"/>
          <p:cNvSpPr/>
          <p:nvPr/>
        </p:nvSpPr>
        <p:spPr>
          <a:xfrm>
            <a:off x="4663440" y="1600200"/>
            <a:ext cx="3931920" cy="621792"/>
          </a:xfrm>
          <a:prstGeom prst="rect">
            <a:avLst/>
          </a:prstGeom>
          <a:solidFill>
            <a:srgbClr val="F5F5F7"/>
          </a:solidFill>
          <a:ln w="12700">
            <a:solidFill>
              <a:srgbClr val="F5F5F7"/>
            </a:solidFill>
            <a:prstDash val="solid"/>
          </a:ln>
        </p:spPr>
      </p:sp>
      <p:sp>
        <p:nvSpPr>
          <p:cNvPr id="26" name="Shape 24"/>
          <p:cNvSpPr/>
          <p:nvPr/>
        </p:nvSpPr>
        <p:spPr>
          <a:xfrm>
            <a:off x="4800600" y="1737360"/>
            <a:ext cx="347472" cy="347472"/>
          </a:xfrm>
          <a:prstGeom prst="ellipse">
            <a:avLst/>
          </a:prstGeom>
          <a:solidFill>
            <a:srgbClr val="0071E3"/>
          </a:solidFill>
          <a:ln w="12700">
            <a:solidFill>
              <a:srgbClr val="0071E3"/>
            </a:solidFill>
            <a:prstDash val="solid"/>
          </a:ln>
        </p:spPr>
      </p:sp>
      <p:sp>
        <p:nvSpPr>
          <p:cNvPr id="27" name="Text 25"/>
          <p:cNvSpPr txBox="1"/>
          <p:nvPr/>
        </p:nvSpPr>
        <p:spPr>
          <a:xfrm>
            <a:off x="4800600" y="1773936"/>
            <a:ext cx="347472" cy="27432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txBox="1"/>
          <p:nvPr/>
        </p:nvSpPr>
        <p:spPr>
          <a:xfrm>
            <a:off x="5303520" y="1673352"/>
            <a:ext cx="3200400" cy="274320"/>
          </a:xfrm>
          <a:prstGeom prst="rect">
            <a:avLst/>
          </a:prstGeom>
          <a:noFill/>
          <a:ln/>
        </p:spPr>
        <p:txBody>
          <a:bodyPr wrap="square" lIns="0" tIns="0" rIns="0" bIns="0" rtlCol="0" anchor="t"/>
          <a:lstStyle/>
          <a:p>
            <a:pPr indent="0" marL="0">
              <a:buNone/>
            </a:pPr>
            <a:r>
              <a:rPr lang="en-US" sz="1400" b="1" dirty="0">
                <a:solidFill>
                  <a:srgbClr val="1D1D1F"/>
                </a:solidFill>
                <a:latin typeface="Calibri" pitchFamily="34" charset="0"/>
                <a:ea typeface="Calibri" pitchFamily="34" charset="-122"/>
                <a:cs typeface="Calibri" pitchFamily="34" charset="-120"/>
              </a:rPr>
              <a:t>Available margin</a:t>
            </a:r>
            <a:endParaRPr lang="en-US" sz="1400" dirty="0"/>
          </a:p>
        </p:txBody>
      </p:sp>
      <p:sp>
        <p:nvSpPr>
          <p:cNvPr id="29" name="Text 27"/>
          <p:cNvSpPr txBox="1"/>
          <p:nvPr/>
        </p:nvSpPr>
        <p:spPr>
          <a:xfrm>
            <a:off x="5303520" y="1929384"/>
            <a:ext cx="3200400" cy="256032"/>
          </a:xfrm>
          <a:prstGeom prst="rect">
            <a:avLst/>
          </a:prstGeom>
          <a:noFill/>
          <a:ln/>
        </p:spPr>
        <p:txBody>
          <a:bodyPr wrap="square" lIns="0" tIns="0" rIns="0" bIns="0" rtlCol="0" anchor="t"/>
          <a:lstStyle/>
          <a:p>
            <a:pPr indent="0" marL="0">
              <a:buNone/>
            </a:pPr>
            <a:r>
              <a:rPr lang="en-US" sz="1200" dirty="0">
                <a:solidFill>
                  <a:srgbClr val="6E6E73"/>
                </a:solidFill>
                <a:latin typeface="Calibri" pitchFamily="34" charset="0"/>
                <a:ea typeface="Calibri" pitchFamily="34" charset="-122"/>
                <a:cs typeface="Calibri" pitchFamily="34" charset="-120"/>
              </a:rPr>
              <a:t>Payment must fit a 40 % ratio</a:t>
            </a:r>
            <a:endParaRPr lang="en-US" sz="1200" dirty="0"/>
          </a:p>
        </p:txBody>
      </p:sp>
      <p:sp>
        <p:nvSpPr>
          <p:cNvPr id="30" name="Shape 28"/>
          <p:cNvSpPr/>
          <p:nvPr/>
        </p:nvSpPr>
        <p:spPr>
          <a:xfrm>
            <a:off x="4663440" y="2331720"/>
            <a:ext cx="3931920" cy="621792"/>
          </a:xfrm>
          <a:prstGeom prst="rect">
            <a:avLst/>
          </a:prstGeom>
          <a:solidFill>
            <a:srgbClr val="F5F5F7"/>
          </a:solidFill>
          <a:ln w="12700">
            <a:solidFill>
              <a:srgbClr val="F5F5F7"/>
            </a:solidFill>
            <a:prstDash val="solid"/>
          </a:ln>
        </p:spPr>
      </p:sp>
      <p:sp>
        <p:nvSpPr>
          <p:cNvPr id="31" name="Shape 29"/>
          <p:cNvSpPr/>
          <p:nvPr/>
        </p:nvSpPr>
        <p:spPr>
          <a:xfrm>
            <a:off x="4800600" y="2468880"/>
            <a:ext cx="347472" cy="347472"/>
          </a:xfrm>
          <a:prstGeom prst="ellipse">
            <a:avLst/>
          </a:prstGeom>
          <a:solidFill>
            <a:srgbClr val="0071E3"/>
          </a:solidFill>
          <a:ln w="12700">
            <a:solidFill>
              <a:srgbClr val="0071E3"/>
            </a:solidFill>
            <a:prstDash val="solid"/>
          </a:ln>
        </p:spPr>
      </p:sp>
      <p:sp>
        <p:nvSpPr>
          <p:cNvPr id="32" name="Text 30"/>
          <p:cNvSpPr txBox="1"/>
          <p:nvPr/>
        </p:nvSpPr>
        <p:spPr>
          <a:xfrm>
            <a:off x="4800600" y="2505456"/>
            <a:ext cx="347472" cy="27432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1"/>
          <p:cNvSpPr txBox="1"/>
          <p:nvPr/>
        </p:nvSpPr>
        <p:spPr>
          <a:xfrm>
            <a:off x="5303520" y="2404872"/>
            <a:ext cx="3200400" cy="274320"/>
          </a:xfrm>
          <a:prstGeom prst="rect">
            <a:avLst/>
          </a:prstGeom>
          <a:noFill/>
          <a:ln/>
        </p:spPr>
        <p:txBody>
          <a:bodyPr wrap="square" lIns="0" tIns="0" rIns="0" bIns="0" rtlCol="0" anchor="t"/>
          <a:lstStyle/>
          <a:p>
            <a:pPr indent="0" marL="0">
              <a:buNone/>
            </a:pPr>
            <a:r>
              <a:rPr lang="en-US" sz="1400" b="1" dirty="0">
                <a:solidFill>
                  <a:srgbClr val="1D1D1F"/>
                </a:solidFill>
                <a:latin typeface="Calibri" pitchFamily="34" charset="0"/>
                <a:ea typeface="Calibri" pitchFamily="34" charset="-122"/>
                <a:cs typeface="Calibri" pitchFamily="34" charset="-120"/>
              </a:rPr>
              <a:t>Minimum amount</a:t>
            </a:r>
            <a:endParaRPr lang="en-US" sz="1400" dirty="0"/>
          </a:p>
        </p:txBody>
      </p:sp>
      <p:sp>
        <p:nvSpPr>
          <p:cNvPr id="34" name="Text 32"/>
          <p:cNvSpPr txBox="1"/>
          <p:nvPr/>
        </p:nvSpPr>
        <p:spPr>
          <a:xfrm>
            <a:off x="5303520" y="2660904"/>
            <a:ext cx="3200400" cy="256032"/>
          </a:xfrm>
          <a:prstGeom prst="rect">
            <a:avLst/>
          </a:prstGeom>
          <a:noFill/>
          <a:ln/>
        </p:spPr>
        <p:txBody>
          <a:bodyPr wrap="square" lIns="0" tIns="0" rIns="0" bIns="0" rtlCol="0" anchor="t"/>
          <a:lstStyle/>
          <a:p>
            <a:pPr indent="0" marL="0">
              <a:buNone/>
            </a:pPr>
            <a:r>
              <a:rPr lang="en-US" sz="1200" dirty="0">
                <a:solidFill>
                  <a:srgbClr val="6E6E73"/>
                </a:solidFill>
                <a:latin typeface="Calibri" pitchFamily="34" charset="0"/>
                <a:ea typeface="Calibri" pitchFamily="34" charset="-122"/>
                <a:cs typeface="Calibri" pitchFamily="34" charset="-120"/>
              </a:rPr>
              <a:t>Card 500 · loan 1,000 · mortgage 20,000 USD</a:t>
            </a:r>
            <a:endParaRPr lang="en-US" sz="1200" dirty="0"/>
          </a:p>
        </p:txBody>
      </p:sp>
      <p:sp>
        <p:nvSpPr>
          <p:cNvPr id="35" name="Shape 33"/>
          <p:cNvSpPr/>
          <p:nvPr/>
        </p:nvSpPr>
        <p:spPr>
          <a:xfrm>
            <a:off x="4663440" y="3063240"/>
            <a:ext cx="3931920" cy="621792"/>
          </a:xfrm>
          <a:prstGeom prst="rect">
            <a:avLst/>
          </a:prstGeom>
          <a:solidFill>
            <a:srgbClr val="F5F5F7"/>
          </a:solidFill>
          <a:ln w="12700">
            <a:solidFill>
              <a:srgbClr val="F5F5F7"/>
            </a:solidFill>
            <a:prstDash val="solid"/>
          </a:ln>
        </p:spPr>
      </p:sp>
      <p:sp>
        <p:nvSpPr>
          <p:cNvPr id="36" name="Shape 34"/>
          <p:cNvSpPr/>
          <p:nvPr/>
        </p:nvSpPr>
        <p:spPr>
          <a:xfrm>
            <a:off x="4800600" y="3200400"/>
            <a:ext cx="347472" cy="347472"/>
          </a:xfrm>
          <a:prstGeom prst="ellipse">
            <a:avLst/>
          </a:prstGeom>
          <a:solidFill>
            <a:srgbClr val="0071E3"/>
          </a:solidFill>
          <a:ln w="12700">
            <a:solidFill>
              <a:srgbClr val="0071E3"/>
            </a:solidFill>
            <a:prstDash val="solid"/>
          </a:ln>
        </p:spPr>
      </p:sp>
      <p:sp>
        <p:nvSpPr>
          <p:cNvPr id="37" name="Text 35"/>
          <p:cNvSpPr txBox="1"/>
          <p:nvPr/>
        </p:nvSpPr>
        <p:spPr>
          <a:xfrm>
            <a:off x="4800600" y="3236976"/>
            <a:ext cx="347472" cy="27432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8" name="Text 36"/>
          <p:cNvSpPr txBox="1"/>
          <p:nvPr/>
        </p:nvSpPr>
        <p:spPr>
          <a:xfrm>
            <a:off x="5303520" y="3136392"/>
            <a:ext cx="3200400" cy="274320"/>
          </a:xfrm>
          <a:prstGeom prst="rect">
            <a:avLst/>
          </a:prstGeom>
          <a:noFill/>
          <a:ln/>
        </p:spPr>
        <p:txBody>
          <a:bodyPr wrap="square" lIns="0" tIns="0" rIns="0" bIns="0" rtlCol="0" anchor="t"/>
          <a:lstStyle/>
          <a:p>
            <a:pPr indent="0" marL="0">
              <a:buNone/>
            </a:pPr>
            <a:r>
              <a:rPr lang="en-US" sz="1400" b="1" dirty="0">
                <a:solidFill>
                  <a:srgbClr val="1D1D1F"/>
                </a:solidFill>
                <a:latin typeface="Calibri" pitchFamily="34" charset="0"/>
                <a:ea typeface="Calibri" pitchFamily="34" charset="-122"/>
                <a:cs typeface="Calibri" pitchFamily="34" charset="-120"/>
              </a:rPr>
              <a:t>Segment</a:t>
            </a:r>
            <a:endParaRPr lang="en-US" sz="1400" dirty="0"/>
          </a:p>
        </p:txBody>
      </p:sp>
      <p:sp>
        <p:nvSpPr>
          <p:cNvPr id="39" name="Text 37"/>
          <p:cNvSpPr txBox="1"/>
          <p:nvPr/>
        </p:nvSpPr>
        <p:spPr>
          <a:xfrm>
            <a:off x="5303520" y="3392424"/>
            <a:ext cx="3200400" cy="256032"/>
          </a:xfrm>
          <a:prstGeom prst="rect">
            <a:avLst/>
          </a:prstGeom>
          <a:noFill/>
          <a:ln/>
        </p:spPr>
        <p:txBody>
          <a:bodyPr wrap="square" lIns="0" tIns="0" rIns="0" bIns="0" rtlCol="0" anchor="t"/>
          <a:lstStyle/>
          <a:p>
            <a:pPr indent="0" marL="0">
              <a:buNone/>
            </a:pPr>
            <a:r>
              <a:rPr lang="en-US" sz="1200" dirty="0">
                <a:solidFill>
                  <a:srgbClr val="6E6E73"/>
                </a:solidFill>
                <a:latin typeface="Calibri" pitchFamily="34" charset="0"/>
                <a:ea typeface="Calibri" pitchFamily="34" charset="-122"/>
                <a:cs typeface="Calibri" pitchFamily="34" charset="-120"/>
              </a:rPr>
              <a:t>Product must exist for the customer's segment</a:t>
            </a:r>
            <a:endParaRPr lang="en-US" sz="1200" dirty="0"/>
          </a:p>
        </p:txBody>
      </p:sp>
      <p:sp>
        <p:nvSpPr>
          <p:cNvPr id="40" name="Shape 38"/>
          <p:cNvSpPr/>
          <p:nvPr/>
        </p:nvSpPr>
        <p:spPr>
          <a:xfrm>
            <a:off x="4663440" y="3794760"/>
            <a:ext cx="3931920" cy="621792"/>
          </a:xfrm>
          <a:prstGeom prst="rect">
            <a:avLst/>
          </a:prstGeom>
          <a:solidFill>
            <a:srgbClr val="F5F5F7"/>
          </a:solidFill>
          <a:ln w="12700">
            <a:solidFill>
              <a:srgbClr val="F5F5F7"/>
            </a:solidFill>
            <a:prstDash val="solid"/>
          </a:ln>
        </p:spPr>
      </p:sp>
      <p:sp>
        <p:nvSpPr>
          <p:cNvPr id="41" name="Text 39"/>
          <p:cNvSpPr txBox="1"/>
          <p:nvPr/>
        </p:nvSpPr>
        <p:spPr>
          <a:xfrm>
            <a:off x="4800600" y="3886200"/>
            <a:ext cx="3657600" cy="548640"/>
          </a:xfrm>
          <a:prstGeom prst="rect">
            <a:avLst/>
          </a:prstGeom>
          <a:noFill/>
          <a:ln/>
        </p:spPr>
        <p:txBody>
          <a:bodyPr wrap="square" lIns="0" tIns="0" rIns="0" bIns="0" rtlCol="0" anchor="t"/>
          <a:lstStyle/>
          <a:p>
            <a:pPr indent="0" marL="0">
              <a:buNone/>
            </a:pPr>
            <a:r>
              <a:rPr lang="en-US" sz="1200" dirty="0">
                <a:solidFill>
                  <a:srgbClr val="1D1D1F"/>
                </a:solidFill>
                <a:latin typeface="Calibri" pitchFamily="34" charset="0"/>
                <a:ea typeface="Calibri" pitchFamily="34" charset="-122"/>
                <a:cs typeface="Calibri" pitchFamily="34" charset="-120"/>
              </a:rPr>
              <a:t>Abstains, never guesses: no income · no measurable exposure · inactive product · delinquency undetermined.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74320"/>
          </a:xfrm>
          <a:prstGeom prst="rect">
            <a:avLst/>
          </a:prstGeom>
          <a:noFill/>
          <a:ln/>
        </p:spPr>
        <p:txBody>
          <a:bodyPr wrap="square" lIns="0" tIns="0" rIns="0" bIns="0" rtlCol="0" anchor="t"/>
          <a:lstStyle/>
          <a:p>
            <a:pPr indent="0" marL="0">
              <a:buNone/>
            </a:pPr>
            <a:r>
              <a:rPr lang="en-US" sz="1200" b="1" dirty="0">
                <a:solidFill>
                  <a:srgbClr val="0071E3"/>
                </a:solidFill>
                <a:latin typeface="Calibri" pitchFamily="34" charset="0"/>
                <a:ea typeface="Calibri" pitchFamily="34" charset="-122"/>
                <a:cs typeface="Calibri" pitchFamily="34" charset="-120"/>
              </a:rPr>
              <a:t>07 · ASK ABOUT YOUR OWN PRODUCTS</a:t>
            </a:r>
            <a:endParaRPr lang="en-US" sz="1200" dirty="0"/>
          </a:p>
        </p:txBody>
      </p:sp>
      <p:sp>
        <p:nvSpPr>
          <p:cNvPr id="3" name="Text 1"/>
          <p:cNvSpPr txBox="1"/>
          <p:nvPr/>
        </p:nvSpPr>
        <p:spPr>
          <a:xfrm>
            <a:off x="548640" y="640080"/>
            <a:ext cx="8046720" cy="868680"/>
          </a:xfrm>
          <a:prstGeom prst="rect">
            <a:avLst/>
          </a:prstGeom>
          <a:noFill/>
          <a:ln/>
        </p:spPr>
        <p:txBody>
          <a:bodyPr wrap="square" lIns="0" tIns="0" rIns="0" bIns="0" rtlCol="0" anchor="t"/>
          <a:lstStyle/>
          <a:p>
            <a:pPr indent="0" marL="0">
              <a:buNone/>
            </a:pPr>
            <a:r>
              <a:rPr lang="en-US" sz="2800" b="1" dirty="0">
                <a:solidFill>
                  <a:srgbClr val="1D1D1F"/>
                </a:solidFill>
                <a:latin typeface="Calibri" pitchFamily="34" charset="0"/>
                <a:ea typeface="Calibri" pitchFamily="34" charset="-122"/>
                <a:cs typeface="Calibri" pitchFamily="34" charset="-120"/>
              </a:rPr>
              <a:t>Ask what you owe. Figures come from the database, not the model.</a:t>
            </a:r>
            <a:endParaRPr lang="en-US" sz="2800" dirty="0"/>
          </a:p>
        </p:txBody>
      </p:sp>
      <p:sp>
        <p:nvSpPr>
          <p:cNvPr id="4" name="Text 2"/>
          <p:cNvSpPr txBox="1"/>
          <p:nvPr/>
        </p:nvSpPr>
        <p:spPr>
          <a:xfrm>
            <a:off x="548640" y="4800600"/>
            <a:ext cx="8046720" cy="201168"/>
          </a:xfrm>
          <a:prstGeom prst="rect">
            <a:avLst/>
          </a:prstGeom>
          <a:noFill/>
          <a:ln/>
        </p:spPr>
        <p:txBody>
          <a:bodyPr wrap="square" lIns="0" tIns="0" rIns="0" bIns="0" rtlCol="0" anchor="t"/>
          <a:lstStyle/>
          <a:p>
            <a:pPr indent="0" marL="0">
              <a:buNone/>
            </a:pPr>
            <a:r>
              <a:rPr lang="en-US" sz="1000" dirty="0">
                <a:solidFill>
                  <a:srgbClr val="6E6E73"/>
                </a:solidFill>
                <a:latin typeface="Calibri" pitchFamily="34" charset="0"/>
                <a:ea typeface="Calibri" pitchFamily="34" charset="-122"/>
                <a:cs typeface="Calibri" pitchFamily="34" charset="-120"/>
              </a:rPr>
              <a:t>noema · Factored AI &amp; Data Hackathon 2026 · Eduardo Lozada &amp; Federico Vargas</a:t>
            </a:r>
            <a:endParaRPr lang="en-US" sz="1000" dirty="0"/>
          </a:p>
        </p:txBody>
      </p:sp>
      <p:sp>
        <p:nvSpPr>
          <p:cNvPr id="5" name="Shape 3"/>
          <p:cNvSpPr/>
          <p:nvPr/>
        </p:nvSpPr>
        <p:spPr>
          <a:xfrm>
            <a:off x="548640" y="1600200"/>
            <a:ext cx="4480560" cy="3017520"/>
          </a:xfrm>
          <a:prstGeom prst="rect">
            <a:avLst/>
          </a:prstGeom>
          <a:solidFill>
            <a:srgbClr val="FFFFFF"/>
          </a:solidFill>
          <a:ln w="12700">
            <a:solidFill>
              <a:srgbClr val="FFFFFF"/>
            </a:solidFill>
            <a:prstDash val="solid"/>
          </a:ln>
        </p:spPr>
      </p:sp>
      <p:sp>
        <p:nvSpPr>
          <p:cNvPr id="6" name="Shape 4"/>
          <p:cNvSpPr/>
          <p:nvPr/>
        </p:nvSpPr>
        <p:spPr>
          <a:xfrm>
            <a:off x="548640" y="1600200"/>
            <a:ext cx="4480560" cy="3017520"/>
          </a:xfrm>
          <a:prstGeom prst="rect">
            <a:avLst/>
          </a:prstGeom>
          <a:ln w="9525">
            <a:solidFill>
              <a:srgbClr val="D2D2D7"/>
            </a:solidFill>
            <a:prstDash val="solid"/>
          </a:ln>
        </p:spPr>
      </p:sp>
      <p:sp>
        <p:nvSpPr>
          <p:cNvPr id="7" name="Shape 5"/>
          <p:cNvSpPr/>
          <p:nvPr/>
        </p:nvSpPr>
        <p:spPr>
          <a:xfrm>
            <a:off x="2194560" y="1783080"/>
            <a:ext cx="2651760" cy="457200"/>
          </a:xfrm>
          <a:prstGeom prst="roundRect">
            <a:avLst>
              <a:gd name="adj" fmla="val 24000"/>
            </a:avLst>
          </a:prstGeom>
          <a:solidFill>
            <a:srgbClr val="0071E3"/>
          </a:solidFill>
          <a:ln w="12700">
            <a:solidFill>
              <a:srgbClr val="0071E3"/>
            </a:solidFill>
            <a:prstDash val="solid"/>
          </a:ln>
        </p:spPr>
      </p:sp>
      <p:sp>
        <p:nvSpPr>
          <p:cNvPr id="8" name="Text 6"/>
          <p:cNvSpPr txBox="1"/>
          <p:nvPr/>
        </p:nvSpPr>
        <p:spPr>
          <a:xfrm>
            <a:off x="2304288" y="1847088"/>
            <a:ext cx="2432304"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What do I owe, and what is my installment?</a:t>
            </a:r>
            <a:endParaRPr lang="en-US" sz="1200" dirty="0"/>
          </a:p>
        </p:txBody>
      </p:sp>
      <p:sp>
        <p:nvSpPr>
          <p:cNvPr id="9" name="Shape 7"/>
          <p:cNvSpPr/>
          <p:nvPr/>
        </p:nvSpPr>
        <p:spPr>
          <a:xfrm>
            <a:off x="731520" y="2423160"/>
            <a:ext cx="4114800" cy="2057400"/>
          </a:xfrm>
          <a:prstGeom prst="roundRect">
            <a:avLst>
              <a:gd name="adj" fmla="val 5333"/>
            </a:avLst>
          </a:prstGeom>
          <a:solidFill>
            <a:srgbClr val="F5F5F7"/>
          </a:solidFill>
          <a:ln w="12700">
            <a:solidFill>
              <a:srgbClr val="F5F5F7"/>
            </a:solidFill>
            <a:prstDash val="solid"/>
          </a:ln>
        </p:spPr>
      </p:sp>
      <p:sp>
        <p:nvSpPr>
          <p:cNvPr id="10" name="Text 8"/>
          <p:cNvSpPr txBox="1"/>
          <p:nvPr/>
        </p:nvSpPr>
        <p:spPr>
          <a:xfrm>
            <a:off x="896112" y="2542032"/>
            <a:ext cx="3803904" cy="1828800"/>
          </a:xfrm>
          <a:prstGeom prst="rect">
            <a:avLst/>
          </a:prstGeom>
          <a:noFill/>
          <a:ln/>
        </p:spPr>
        <p:txBody>
          <a:bodyPr wrap="square" lIns="0" tIns="0" rIns="0" bIns="0" rtlCol="0" anchor="t"/>
          <a:lstStyle/>
          <a:p>
            <a:pPr indent="0" marL="0">
              <a:spcAft>
                <a:spcPts val="600"/>
              </a:spcAft>
              <a:buNone/>
            </a:pPr>
            <a:r>
              <a:rPr lang="en-US" sz="1200" b="1" dirty="0">
                <a:solidFill>
                  <a:srgbClr val="1D1D1F"/>
                </a:solidFill>
                <a:latin typeface="Calibri" pitchFamily="34" charset="0"/>
                <a:ea typeface="Calibri" pitchFamily="34" charset="-122"/>
                <a:cs typeface="Calibri" pitchFamily="34" charset="-120"/>
              </a:rPr>
              <a:t>You have 1 active credit product.</a:t>
            </a:r>
            <a:endParaRPr lang="en-US" sz="1200" dirty="0"/>
          </a:p>
          <a:p>
            <a:pPr indent="0" marL="0">
              <a:spcAft>
                <a:spcPts val="600"/>
              </a:spcAft>
              <a:buNone/>
            </a:pPr>
            <a:r>
              <a:rPr lang="en-US" sz="1200" dirty="0">
                <a:solidFill>
                  <a:srgbClr val="1D1D1F"/>
                </a:solidFill>
                <a:latin typeface="Calibri" pitchFamily="34" charset="0"/>
                <a:ea typeface="Calibri" pitchFamily="34" charset="-122"/>
                <a:cs typeface="Calibri" pitchFamily="34" charset="-120"/>
              </a:rPr>
              <a:t>Personal loan: outstanding balance 9,259.30 USD, annual rate 14.17 %. Estimated installment: 806.58 USD over 48 months.</a:t>
            </a:r>
            <a:endParaRPr lang="en-US" sz="1200" dirty="0"/>
          </a:p>
          <a:p>
            <a:pPr indent="0" marL="0">
              <a:spcAft>
                <a:spcPts val="600"/>
              </a:spcAft>
              <a:buNone/>
            </a:pPr>
            <a:r>
              <a:rPr lang="en-US" sz="1200" dirty="0">
                <a:solidFill>
                  <a:srgbClr val="6E6E73"/>
                </a:solidFill>
                <a:latin typeface="Calibri" pitchFamily="34" charset="0"/>
                <a:ea typeface="Calibri" pitchFamily="34" charset="-122"/>
                <a:cs typeface="Calibri" pitchFamily="34" charset="-120"/>
              </a:rPr>
              <a:t>The installment is an estimate: the bank's records do not hold your original term. An advisor can confirm it.</a:t>
            </a:r>
            <a:endParaRPr lang="en-US" sz="1200" dirty="0"/>
          </a:p>
        </p:txBody>
      </p:sp>
      <p:sp>
        <p:nvSpPr>
          <p:cNvPr id="11" name="Text 9"/>
          <p:cNvSpPr txBox="1"/>
          <p:nvPr/>
        </p:nvSpPr>
        <p:spPr>
          <a:xfrm>
            <a:off x="548640" y="4681728"/>
            <a:ext cx="8046720" cy="228600"/>
          </a:xfrm>
          <a:prstGeom prst="rect">
            <a:avLst/>
          </a:prstGeom>
          <a:noFill/>
          <a:ln/>
        </p:spPr>
        <p:txBody>
          <a:bodyPr wrap="square" lIns="0" tIns="0" rIns="0" bIns="0" rtlCol="0" anchor="t"/>
          <a:lstStyle/>
          <a:p>
            <a:pPr indent="0" marL="0">
              <a:buNone/>
            </a:pPr>
            <a:r>
              <a:rPr lang="en-US" sz="1100" dirty="0">
                <a:solidFill>
                  <a:srgbClr val="6E6E73"/>
                </a:solidFill>
                <a:latin typeface="Calibri" pitchFamily="34" charset="0"/>
                <a:ea typeface="Calibri" pitchFamily="34" charset="-122"/>
                <a:cs typeface="Calibri" pitchFamily="34" charset="-120"/>
              </a:rPr>
              <a:t>Replies in the customer's language. Every figure is checked against the tool that produced it.</a:t>
            </a:r>
            <a:endParaRPr lang="en-US" sz="1100" dirty="0"/>
          </a:p>
        </p:txBody>
      </p:sp>
      <p:sp>
        <p:nvSpPr>
          <p:cNvPr id="12" name="Text 10"/>
          <p:cNvSpPr txBox="1"/>
          <p:nvPr/>
        </p:nvSpPr>
        <p:spPr>
          <a:xfrm>
            <a:off x="5394960" y="1600200"/>
            <a:ext cx="3200400" cy="411480"/>
          </a:xfrm>
          <a:prstGeom prst="rect">
            <a:avLst/>
          </a:prstGeom>
          <a:noFill/>
          <a:ln/>
        </p:spPr>
        <p:txBody>
          <a:bodyPr wrap="square" lIns="0" tIns="0" rIns="0" bIns="0" rtlCol="0" anchor="t"/>
          <a:lstStyle/>
          <a:p>
            <a:pPr indent="0" marL="0">
              <a:buNone/>
            </a:pPr>
            <a:r>
              <a:rPr lang="en-US" sz="2200" b="1" dirty="0">
                <a:solidFill>
                  <a:srgbClr val="1D1D1F"/>
                </a:solidFill>
                <a:latin typeface="Calibri" pitchFamily="34" charset="0"/>
                <a:ea typeface="Calibri" pitchFamily="34" charset="-122"/>
                <a:cs typeface="Calibri" pitchFamily="34" charset="-120"/>
              </a:rPr>
              <a:t>Balance · limit · rate</a:t>
            </a:r>
            <a:endParaRPr lang="en-US" sz="2200" dirty="0"/>
          </a:p>
        </p:txBody>
      </p:sp>
      <p:sp>
        <p:nvSpPr>
          <p:cNvPr id="13" name="Text 11"/>
          <p:cNvSpPr txBox="1"/>
          <p:nvPr/>
        </p:nvSpPr>
        <p:spPr>
          <a:xfrm>
            <a:off x="5394960" y="2057400"/>
            <a:ext cx="3200400" cy="457200"/>
          </a:xfrm>
          <a:prstGeom prst="rect">
            <a:avLst/>
          </a:prstGeom>
          <a:noFill/>
          <a:ln/>
        </p:spPr>
        <p:txBody>
          <a:bodyPr wrap="square" lIns="0" tIns="0" rIns="0" bIns="0" rtlCol="0" anchor="t"/>
          <a:lstStyle/>
          <a:p>
            <a:pPr indent="0" marL="0">
              <a:buNone/>
            </a:pPr>
            <a:r>
              <a:rPr lang="en-US" sz="1400" dirty="0">
                <a:solidFill>
                  <a:srgbClr val="6E6E73"/>
                </a:solidFill>
                <a:latin typeface="Calibri" pitchFamily="34" charset="0"/>
                <a:ea typeface="Calibri" pitchFamily="34" charset="-122"/>
                <a:cs typeface="Calibri" pitchFamily="34" charset="-120"/>
              </a:rPr>
              <a:t>Read from the bank's records, in USD.</a:t>
            </a:r>
            <a:endParaRPr lang="en-US" sz="1400" dirty="0"/>
          </a:p>
        </p:txBody>
      </p:sp>
      <p:sp>
        <p:nvSpPr>
          <p:cNvPr id="14" name="Text 12"/>
          <p:cNvSpPr txBox="1"/>
          <p:nvPr/>
        </p:nvSpPr>
        <p:spPr>
          <a:xfrm>
            <a:off x="5394960" y="2834640"/>
            <a:ext cx="3200400" cy="411480"/>
          </a:xfrm>
          <a:prstGeom prst="rect">
            <a:avLst/>
          </a:prstGeom>
          <a:noFill/>
          <a:ln/>
        </p:spPr>
        <p:txBody>
          <a:bodyPr wrap="square" lIns="0" tIns="0" rIns="0" bIns="0" rtlCol="0" anchor="t"/>
          <a:lstStyle/>
          <a:p>
            <a:pPr indent="0" marL="0">
              <a:buNone/>
            </a:pPr>
            <a:r>
              <a:rPr lang="en-US" sz="2200" b="1" dirty="0">
                <a:solidFill>
                  <a:srgbClr val="1D1D1F"/>
                </a:solidFill>
                <a:latin typeface="Calibri" pitchFamily="34" charset="0"/>
                <a:ea typeface="Calibri" pitchFamily="34" charset="-122"/>
                <a:cs typeface="Calibri" pitchFamily="34" charset="-120"/>
              </a:rPr>
              <a:t>Estimate, labeled</a:t>
            </a:r>
            <a:endParaRPr lang="en-US" sz="2200" dirty="0"/>
          </a:p>
        </p:txBody>
      </p:sp>
      <p:sp>
        <p:nvSpPr>
          <p:cNvPr id="15" name="Text 13"/>
          <p:cNvSpPr txBox="1"/>
          <p:nvPr/>
        </p:nvSpPr>
        <p:spPr>
          <a:xfrm>
            <a:off x="5394960" y="3291840"/>
            <a:ext cx="3200400" cy="731520"/>
          </a:xfrm>
          <a:prstGeom prst="rect">
            <a:avLst/>
          </a:prstGeom>
          <a:noFill/>
          <a:ln/>
        </p:spPr>
        <p:txBody>
          <a:bodyPr wrap="square" lIns="0" tIns="0" rIns="0" bIns="0" rtlCol="0" anchor="t"/>
          <a:lstStyle/>
          <a:p>
            <a:pPr indent="0" marL="0">
              <a:buNone/>
            </a:pPr>
            <a:r>
              <a:rPr lang="en-US" sz="1400" dirty="0">
                <a:solidFill>
                  <a:srgbClr val="6E6E73"/>
                </a:solidFill>
                <a:latin typeface="Calibri" pitchFamily="34" charset="0"/>
                <a:ea typeface="Calibri" pitchFamily="34" charset="-122"/>
                <a:cs typeface="Calibri" pitchFamily="34" charset="-120"/>
              </a:rPr>
              <a:t>Loan installments use a stated assumed term, and the reply says so.</a:t>
            </a:r>
            <a:endParaRPr lang="en-US" sz="1400" dirty="0"/>
          </a:p>
        </p:txBody>
      </p:sp>
      <p:sp>
        <p:nvSpPr>
          <p:cNvPr id="16" name="Text 14"/>
          <p:cNvSpPr txBox="1"/>
          <p:nvPr/>
        </p:nvSpPr>
        <p:spPr>
          <a:xfrm>
            <a:off x="5394960" y="4160520"/>
            <a:ext cx="3200400" cy="548640"/>
          </a:xfrm>
          <a:prstGeom prst="rect">
            <a:avLst/>
          </a:prstGeom>
          <a:noFill/>
          <a:ln/>
        </p:spPr>
        <p:txBody>
          <a:bodyPr wrap="square" lIns="0" tIns="0" rIns="0" bIns="0" rtlCol="0" anchor="t"/>
          <a:lstStyle/>
          <a:p>
            <a:pPr indent="0" marL="0">
              <a:buNone/>
            </a:pPr>
            <a:r>
              <a:rPr lang="en-US" sz="1300" b="1" dirty="0">
                <a:solidFill>
                  <a:srgbClr val="0071E3"/>
                </a:solidFill>
                <a:latin typeface="Calibri" pitchFamily="34" charset="0"/>
                <a:ea typeface="Calibri" pitchFamily="34" charset="-122"/>
                <a:cs typeface="Calibri" pitchFamily="34" charset="-120"/>
              </a:rPr>
              <a:t>Identity first: without a verified session the question returns nothing.</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74320"/>
          </a:xfrm>
          <a:prstGeom prst="rect">
            <a:avLst/>
          </a:prstGeom>
          <a:noFill/>
          <a:ln/>
        </p:spPr>
        <p:txBody>
          <a:bodyPr wrap="square" lIns="0" tIns="0" rIns="0" bIns="0" rtlCol="0" anchor="t"/>
          <a:lstStyle/>
          <a:p>
            <a:pPr indent="0" marL="0">
              <a:buNone/>
            </a:pPr>
            <a:r>
              <a:rPr lang="en-US" sz="1200" b="1" dirty="0">
                <a:solidFill>
                  <a:srgbClr val="0071E3"/>
                </a:solidFill>
                <a:latin typeface="Calibri" pitchFamily="34" charset="0"/>
                <a:ea typeface="Calibri" pitchFamily="34" charset="-122"/>
                <a:cs typeface="Calibri" pitchFamily="34" charset="-120"/>
              </a:rPr>
              <a:t>08 · SECURITY</a:t>
            </a:r>
            <a:endParaRPr lang="en-US" sz="1200" dirty="0"/>
          </a:p>
        </p:txBody>
      </p:sp>
      <p:sp>
        <p:nvSpPr>
          <p:cNvPr id="3" name="Text 1"/>
          <p:cNvSpPr txBox="1"/>
          <p:nvPr/>
        </p:nvSpPr>
        <p:spPr>
          <a:xfrm>
            <a:off x="548640" y="640080"/>
            <a:ext cx="8046720" cy="868680"/>
          </a:xfrm>
          <a:prstGeom prst="rect">
            <a:avLst/>
          </a:prstGeom>
          <a:noFill/>
          <a:ln/>
        </p:spPr>
        <p:txBody>
          <a:bodyPr wrap="square" lIns="0" tIns="0" rIns="0" bIns="0" rtlCol="0" anchor="t"/>
          <a:lstStyle/>
          <a:p>
            <a:pPr indent="0" marL="0">
              <a:buNone/>
            </a:pPr>
            <a:r>
              <a:rPr lang="en-US" sz="2800" b="1" dirty="0">
                <a:solidFill>
                  <a:srgbClr val="1D1D1F"/>
                </a:solidFill>
                <a:latin typeface="Calibri" pitchFamily="34" charset="0"/>
                <a:ea typeface="Calibri" pitchFamily="34" charset="-122"/>
                <a:cs typeface="Calibri" pitchFamily="34" charset="-120"/>
              </a:rPr>
              <a:t>Every figure has a source. Every personal detail has an owner.</a:t>
            </a:r>
            <a:endParaRPr lang="en-US" sz="2800" dirty="0"/>
          </a:p>
        </p:txBody>
      </p:sp>
      <p:sp>
        <p:nvSpPr>
          <p:cNvPr id="4" name="Text 2"/>
          <p:cNvSpPr txBox="1"/>
          <p:nvPr/>
        </p:nvSpPr>
        <p:spPr>
          <a:xfrm>
            <a:off x="548640" y="4800600"/>
            <a:ext cx="8046720" cy="201168"/>
          </a:xfrm>
          <a:prstGeom prst="rect">
            <a:avLst/>
          </a:prstGeom>
          <a:noFill/>
          <a:ln/>
        </p:spPr>
        <p:txBody>
          <a:bodyPr wrap="square" lIns="0" tIns="0" rIns="0" bIns="0" rtlCol="0" anchor="t"/>
          <a:lstStyle/>
          <a:p>
            <a:pPr indent="0" marL="0">
              <a:buNone/>
            </a:pPr>
            <a:r>
              <a:rPr lang="en-US" sz="1000" dirty="0">
                <a:solidFill>
                  <a:srgbClr val="6E6E73"/>
                </a:solidFill>
                <a:latin typeface="Calibri" pitchFamily="34" charset="0"/>
                <a:ea typeface="Calibri" pitchFamily="34" charset="-122"/>
                <a:cs typeface="Calibri" pitchFamily="34" charset="-120"/>
              </a:rPr>
              <a:t>noema · Factored AI &amp; Data Hackathon 2026 · Eduardo Lozada &amp; Federico Vargas</a:t>
            </a:r>
            <a:endParaRPr lang="en-US" sz="1000" dirty="0"/>
          </a:p>
        </p:txBody>
      </p:sp>
      <p:sp>
        <p:nvSpPr>
          <p:cNvPr id="5" name="Shape 3"/>
          <p:cNvSpPr/>
          <p:nvPr/>
        </p:nvSpPr>
        <p:spPr>
          <a:xfrm>
            <a:off x="548640" y="1554480"/>
            <a:ext cx="8046720" cy="548640"/>
          </a:xfrm>
          <a:prstGeom prst="rect">
            <a:avLst/>
          </a:prstGeom>
          <a:solidFill>
            <a:srgbClr val="F5F5F7"/>
          </a:solidFill>
          <a:ln w="12700">
            <a:solidFill>
              <a:srgbClr val="F5F5F7"/>
            </a:solidFill>
            <a:prstDash val="solid"/>
          </a:ln>
        </p:spPr>
      </p:sp>
      <p:sp>
        <p:nvSpPr>
          <p:cNvPr id="6" name="Shape 4"/>
          <p:cNvSpPr/>
          <p:nvPr/>
        </p:nvSpPr>
        <p:spPr>
          <a:xfrm>
            <a:off x="548640" y="1554480"/>
            <a:ext cx="8046720" cy="548640"/>
          </a:xfrm>
          <a:prstGeom prst="rect">
            <a:avLst/>
          </a:prstGeom>
          <a:ln w="6350">
            <a:solidFill>
              <a:srgbClr val="D2D2D7"/>
            </a:solidFill>
            <a:prstDash val="solid"/>
          </a:ln>
        </p:spPr>
      </p:sp>
      <p:sp>
        <p:nvSpPr>
          <p:cNvPr id="7" name="Text 5"/>
          <p:cNvSpPr txBox="1"/>
          <p:nvPr/>
        </p:nvSpPr>
        <p:spPr>
          <a:xfrm>
            <a:off x="731520" y="1691640"/>
            <a:ext cx="1828800" cy="320040"/>
          </a:xfrm>
          <a:prstGeom prst="rect">
            <a:avLst/>
          </a:prstGeom>
          <a:noFill/>
          <a:ln/>
        </p:spPr>
        <p:txBody>
          <a:bodyPr wrap="square" lIns="0" tIns="0" rIns="0" bIns="0" rtlCol="0" anchor="t"/>
          <a:lstStyle/>
          <a:p>
            <a:pPr indent="0" marL="0">
              <a:buNone/>
            </a:pPr>
            <a:r>
              <a:rPr lang="en-US" sz="1400" b="1" dirty="0">
                <a:solidFill>
                  <a:srgbClr val="0071E3"/>
                </a:solidFill>
                <a:latin typeface="Calibri" pitchFamily="34" charset="0"/>
                <a:ea typeface="Calibri" pitchFamily="34" charset="-122"/>
                <a:cs typeface="Calibri" pitchFamily="34" charset="-120"/>
              </a:rPr>
              <a:t>Identity</a:t>
            </a:r>
            <a:endParaRPr lang="en-US" sz="1400" dirty="0"/>
          </a:p>
        </p:txBody>
      </p:sp>
      <p:sp>
        <p:nvSpPr>
          <p:cNvPr id="8" name="Text 6"/>
          <p:cNvSpPr txBox="1"/>
          <p:nvPr/>
        </p:nvSpPr>
        <p:spPr>
          <a:xfrm>
            <a:off x="2606040" y="1636776"/>
            <a:ext cx="5852160" cy="411480"/>
          </a:xfrm>
          <a:prstGeom prst="rect">
            <a:avLst/>
          </a:prstGeom>
          <a:noFill/>
          <a:ln/>
        </p:spPr>
        <p:txBody>
          <a:bodyPr wrap="square" lIns="0" tIns="0" rIns="0" bIns="0" rtlCol="0" anchor="ctr"/>
          <a:lstStyle/>
          <a:p>
            <a:pPr indent="0" marL="0">
              <a:buNone/>
            </a:pPr>
            <a:r>
              <a:rPr lang="en-US" sz="1200" dirty="0">
                <a:solidFill>
                  <a:srgbClr val="1D1D1F"/>
                </a:solidFill>
                <a:latin typeface="Calibri" pitchFamily="34" charset="0"/>
                <a:ea typeface="Calibri" pitchFamily="34" charset="-122"/>
                <a:cs typeface="Calibri" pitchFamily="34" charset="-120"/>
              </a:rPr>
              <a:t>Three factors checked against the database. Three attempts, growing wait. Own-product questions need it too.</a:t>
            </a:r>
            <a:endParaRPr lang="en-US" sz="1200" dirty="0"/>
          </a:p>
        </p:txBody>
      </p:sp>
      <p:sp>
        <p:nvSpPr>
          <p:cNvPr id="9" name="Shape 7"/>
          <p:cNvSpPr/>
          <p:nvPr/>
        </p:nvSpPr>
        <p:spPr>
          <a:xfrm>
            <a:off x="548640" y="2194560"/>
            <a:ext cx="8046720" cy="548640"/>
          </a:xfrm>
          <a:prstGeom prst="rect">
            <a:avLst/>
          </a:prstGeom>
          <a:solidFill>
            <a:srgbClr val="FFFFFF"/>
          </a:solidFill>
          <a:ln w="12700">
            <a:solidFill>
              <a:srgbClr val="FFFFFF"/>
            </a:solidFill>
            <a:prstDash val="solid"/>
          </a:ln>
        </p:spPr>
      </p:sp>
      <p:sp>
        <p:nvSpPr>
          <p:cNvPr id="10" name="Shape 8"/>
          <p:cNvSpPr/>
          <p:nvPr/>
        </p:nvSpPr>
        <p:spPr>
          <a:xfrm>
            <a:off x="548640" y="2194560"/>
            <a:ext cx="8046720" cy="548640"/>
          </a:xfrm>
          <a:prstGeom prst="rect">
            <a:avLst/>
          </a:prstGeom>
          <a:ln w="6350">
            <a:solidFill>
              <a:srgbClr val="D2D2D7"/>
            </a:solidFill>
            <a:prstDash val="solid"/>
          </a:ln>
        </p:spPr>
      </p:sp>
      <p:sp>
        <p:nvSpPr>
          <p:cNvPr id="11" name="Text 9"/>
          <p:cNvSpPr txBox="1"/>
          <p:nvPr/>
        </p:nvSpPr>
        <p:spPr>
          <a:xfrm>
            <a:off x="731520" y="2331720"/>
            <a:ext cx="1828800" cy="320040"/>
          </a:xfrm>
          <a:prstGeom prst="rect">
            <a:avLst/>
          </a:prstGeom>
          <a:noFill/>
          <a:ln/>
        </p:spPr>
        <p:txBody>
          <a:bodyPr wrap="square" lIns="0" tIns="0" rIns="0" bIns="0" rtlCol="0" anchor="t"/>
          <a:lstStyle/>
          <a:p>
            <a:pPr indent="0" marL="0">
              <a:buNone/>
            </a:pPr>
            <a:r>
              <a:rPr lang="en-US" sz="1400" b="1" dirty="0">
                <a:solidFill>
                  <a:srgbClr val="0071E3"/>
                </a:solidFill>
                <a:latin typeface="Calibri" pitchFamily="34" charset="0"/>
                <a:ea typeface="Calibri" pitchFamily="34" charset="-122"/>
                <a:cs typeface="Calibri" pitchFamily="34" charset="-120"/>
              </a:rPr>
              <a:t>Session</a:t>
            </a:r>
            <a:endParaRPr lang="en-US" sz="1400" dirty="0"/>
          </a:p>
        </p:txBody>
      </p:sp>
      <p:sp>
        <p:nvSpPr>
          <p:cNvPr id="12" name="Text 10"/>
          <p:cNvSpPr txBox="1"/>
          <p:nvPr/>
        </p:nvSpPr>
        <p:spPr>
          <a:xfrm>
            <a:off x="2606040" y="2276856"/>
            <a:ext cx="5852160" cy="411480"/>
          </a:xfrm>
          <a:prstGeom prst="rect">
            <a:avLst/>
          </a:prstGeom>
          <a:noFill/>
          <a:ln/>
        </p:spPr>
        <p:txBody>
          <a:bodyPr wrap="square" lIns="0" tIns="0" rIns="0" bIns="0" rtlCol="0" anchor="ctr"/>
          <a:lstStyle/>
          <a:p>
            <a:pPr indent="0" marL="0">
              <a:buNone/>
            </a:pPr>
            <a:r>
              <a:rPr lang="en-US" sz="1200" dirty="0">
                <a:solidFill>
                  <a:srgbClr val="1D1D1F"/>
                </a:solidFill>
                <a:latin typeface="Calibri" pitchFamily="34" charset="0"/>
                <a:ea typeface="Calibri" pitchFamily="34" charset="-122"/>
                <a:cs typeface="Calibri" pitchFamily="34" charset="-120"/>
              </a:rPr>
              <a:t>Signed token, valid 15 minutes, issued only after verification. Role comes from the token, not from what someone says.</a:t>
            </a:r>
            <a:endParaRPr lang="en-US" sz="1200" dirty="0"/>
          </a:p>
        </p:txBody>
      </p:sp>
      <p:sp>
        <p:nvSpPr>
          <p:cNvPr id="13" name="Shape 11"/>
          <p:cNvSpPr/>
          <p:nvPr/>
        </p:nvSpPr>
        <p:spPr>
          <a:xfrm>
            <a:off x="548640" y="2834640"/>
            <a:ext cx="8046720" cy="548640"/>
          </a:xfrm>
          <a:prstGeom prst="rect">
            <a:avLst/>
          </a:prstGeom>
          <a:solidFill>
            <a:srgbClr val="F5F5F7"/>
          </a:solidFill>
          <a:ln w="12700">
            <a:solidFill>
              <a:srgbClr val="F5F5F7"/>
            </a:solidFill>
            <a:prstDash val="solid"/>
          </a:ln>
        </p:spPr>
      </p:sp>
      <p:sp>
        <p:nvSpPr>
          <p:cNvPr id="14" name="Shape 12"/>
          <p:cNvSpPr/>
          <p:nvPr/>
        </p:nvSpPr>
        <p:spPr>
          <a:xfrm>
            <a:off x="548640" y="2834640"/>
            <a:ext cx="8046720" cy="548640"/>
          </a:xfrm>
          <a:prstGeom prst="rect">
            <a:avLst/>
          </a:prstGeom>
          <a:ln w="6350">
            <a:solidFill>
              <a:srgbClr val="D2D2D7"/>
            </a:solidFill>
            <a:prstDash val="solid"/>
          </a:ln>
        </p:spPr>
      </p:sp>
      <p:sp>
        <p:nvSpPr>
          <p:cNvPr id="15" name="Text 13"/>
          <p:cNvSpPr txBox="1"/>
          <p:nvPr/>
        </p:nvSpPr>
        <p:spPr>
          <a:xfrm>
            <a:off x="731520" y="2971800"/>
            <a:ext cx="1828800" cy="320040"/>
          </a:xfrm>
          <a:prstGeom prst="rect">
            <a:avLst/>
          </a:prstGeom>
          <a:noFill/>
          <a:ln/>
        </p:spPr>
        <p:txBody>
          <a:bodyPr wrap="square" lIns="0" tIns="0" rIns="0" bIns="0" rtlCol="0" anchor="t"/>
          <a:lstStyle/>
          <a:p>
            <a:pPr indent="0" marL="0">
              <a:buNone/>
            </a:pPr>
            <a:r>
              <a:rPr lang="en-US" sz="1400" b="1" dirty="0">
                <a:solidFill>
                  <a:srgbClr val="0071E3"/>
                </a:solidFill>
                <a:latin typeface="Calibri" pitchFamily="34" charset="0"/>
                <a:ea typeface="Calibri" pitchFamily="34" charset="-122"/>
                <a:cs typeface="Calibri" pitchFamily="34" charset="-120"/>
              </a:rPr>
              <a:t>Model boundary</a:t>
            </a:r>
            <a:endParaRPr lang="en-US" sz="1400" dirty="0"/>
          </a:p>
        </p:txBody>
      </p:sp>
      <p:sp>
        <p:nvSpPr>
          <p:cNvPr id="16" name="Text 14"/>
          <p:cNvSpPr txBox="1"/>
          <p:nvPr/>
        </p:nvSpPr>
        <p:spPr>
          <a:xfrm>
            <a:off x="2606040" y="2916936"/>
            <a:ext cx="5852160" cy="411480"/>
          </a:xfrm>
          <a:prstGeom prst="rect">
            <a:avLst/>
          </a:prstGeom>
          <a:noFill/>
          <a:ln/>
        </p:spPr>
        <p:txBody>
          <a:bodyPr wrap="square" lIns="0" tIns="0" rIns="0" bIns="0" rtlCol="0" anchor="ctr"/>
          <a:lstStyle/>
          <a:p>
            <a:pPr indent="0" marL="0">
              <a:buNone/>
            </a:pPr>
            <a:r>
              <a:rPr lang="en-US" sz="1200" dirty="0">
                <a:solidFill>
                  <a:srgbClr val="1D1D1F"/>
                </a:solidFill>
                <a:latin typeface="Calibri" pitchFamily="34" charset="0"/>
                <a:ea typeface="Calibri" pitchFamily="34" charset="-122"/>
                <a:cs typeface="Calibri" pitchFamily="34" charset="-120"/>
              </a:rPr>
              <a:t>The model extracts and converses. Every figure must come from a tool in the same turn. Otherwise it is blocked.</a:t>
            </a:r>
            <a:endParaRPr lang="en-US" sz="1200" dirty="0"/>
          </a:p>
        </p:txBody>
      </p:sp>
      <p:sp>
        <p:nvSpPr>
          <p:cNvPr id="17" name="Shape 15"/>
          <p:cNvSpPr/>
          <p:nvPr/>
        </p:nvSpPr>
        <p:spPr>
          <a:xfrm>
            <a:off x="548640" y="3474720"/>
            <a:ext cx="8046720" cy="548640"/>
          </a:xfrm>
          <a:prstGeom prst="rect">
            <a:avLst/>
          </a:prstGeom>
          <a:solidFill>
            <a:srgbClr val="FFFFFF"/>
          </a:solidFill>
          <a:ln w="12700">
            <a:solidFill>
              <a:srgbClr val="FFFFFF"/>
            </a:solidFill>
            <a:prstDash val="solid"/>
          </a:ln>
        </p:spPr>
      </p:sp>
      <p:sp>
        <p:nvSpPr>
          <p:cNvPr id="18" name="Shape 16"/>
          <p:cNvSpPr/>
          <p:nvPr/>
        </p:nvSpPr>
        <p:spPr>
          <a:xfrm>
            <a:off x="548640" y="3474720"/>
            <a:ext cx="8046720" cy="548640"/>
          </a:xfrm>
          <a:prstGeom prst="rect">
            <a:avLst/>
          </a:prstGeom>
          <a:ln w="6350">
            <a:solidFill>
              <a:srgbClr val="D2D2D7"/>
            </a:solidFill>
            <a:prstDash val="solid"/>
          </a:ln>
        </p:spPr>
      </p:sp>
      <p:sp>
        <p:nvSpPr>
          <p:cNvPr id="19" name="Text 17"/>
          <p:cNvSpPr txBox="1"/>
          <p:nvPr/>
        </p:nvSpPr>
        <p:spPr>
          <a:xfrm>
            <a:off x="731520" y="3611880"/>
            <a:ext cx="1828800" cy="320040"/>
          </a:xfrm>
          <a:prstGeom prst="rect">
            <a:avLst/>
          </a:prstGeom>
          <a:noFill/>
          <a:ln/>
        </p:spPr>
        <p:txBody>
          <a:bodyPr wrap="square" lIns="0" tIns="0" rIns="0" bIns="0" rtlCol="0" anchor="t"/>
          <a:lstStyle/>
          <a:p>
            <a:pPr indent="0" marL="0">
              <a:buNone/>
            </a:pPr>
            <a:r>
              <a:rPr lang="en-US" sz="1400" b="1" dirty="0">
                <a:solidFill>
                  <a:srgbClr val="0071E3"/>
                </a:solidFill>
                <a:latin typeface="Calibri" pitchFamily="34" charset="0"/>
                <a:ea typeface="Calibri" pitchFamily="34" charset="-122"/>
                <a:cs typeface="Calibri" pitchFamily="34" charset="-120"/>
              </a:rPr>
              <a:t>Data boundary</a:t>
            </a:r>
            <a:endParaRPr lang="en-US" sz="1400" dirty="0"/>
          </a:p>
        </p:txBody>
      </p:sp>
      <p:sp>
        <p:nvSpPr>
          <p:cNvPr id="20" name="Text 18"/>
          <p:cNvSpPr txBox="1"/>
          <p:nvPr/>
        </p:nvSpPr>
        <p:spPr>
          <a:xfrm>
            <a:off x="2606040" y="3557016"/>
            <a:ext cx="5852160" cy="411480"/>
          </a:xfrm>
          <a:prstGeom prst="rect">
            <a:avLst/>
          </a:prstGeom>
          <a:noFill/>
          <a:ln/>
        </p:spPr>
        <p:txBody>
          <a:bodyPr wrap="square" lIns="0" tIns="0" rIns="0" bIns="0" rtlCol="0" anchor="ctr"/>
          <a:lstStyle/>
          <a:p>
            <a:pPr indent="0" marL="0">
              <a:buNone/>
            </a:pPr>
            <a:r>
              <a:rPr lang="en-US" sz="1200" dirty="0">
                <a:solidFill>
                  <a:srgbClr val="1D1D1F"/>
                </a:solidFill>
                <a:latin typeface="Calibri" pitchFamily="34" charset="0"/>
                <a:ea typeface="Calibri" pitchFamily="34" charset="-122"/>
                <a:cs typeface="Calibri" pitchFamily="34" charset="-120"/>
              </a:rPr>
              <a:t>No document, phone or birth date returned as text. Case files validated against a schema, personal fields forbidden at any depth.</a:t>
            </a:r>
            <a:endParaRPr lang="en-US" sz="1200" dirty="0"/>
          </a:p>
        </p:txBody>
      </p:sp>
      <p:sp>
        <p:nvSpPr>
          <p:cNvPr id="21" name="Shape 19"/>
          <p:cNvSpPr/>
          <p:nvPr/>
        </p:nvSpPr>
        <p:spPr>
          <a:xfrm>
            <a:off x="548640" y="4114800"/>
            <a:ext cx="8046720" cy="548640"/>
          </a:xfrm>
          <a:prstGeom prst="rect">
            <a:avLst/>
          </a:prstGeom>
          <a:solidFill>
            <a:srgbClr val="F5F5F7"/>
          </a:solidFill>
          <a:ln w="12700">
            <a:solidFill>
              <a:srgbClr val="F5F5F7"/>
            </a:solidFill>
            <a:prstDash val="solid"/>
          </a:ln>
        </p:spPr>
      </p:sp>
      <p:sp>
        <p:nvSpPr>
          <p:cNvPr id="22" name="Shape 20"/>
          <p:cNvSpPr/>
          <p:nvPr/>
        </p:nvSpPr>
        <p:spPr>
          <a:xfrm>
            <a:off x="548640" y="4114800"/>
            <a:ext cx="8046720" cy="548640"/>
          </a:xfrm>
          <a:prstGeom prst="rect">
            <a:avLst/>
          </a:prstGeom>
          <a:ln w="6350">
            <a:solidFill>
              <a:srgbClr val="D2D2D7"/>
            </a:solidFill>
            <a:prstDash val="solid"/>
          </a:ln>
        </p:spPr>
      </p:sp>
      <p:sp>
        <p:nvSpPr>
          <p:cNvPr id="23" name="Text 21"/>
          <p:cNvSpPr txBox="1"/>
          <p:nvPr/>
        </p:nvSpPr>
        <p:spPr>
          <a:xfrm>
            <a:off x="731520" y="4251960"/>
            <a:ext cx="1828800" cy="320040"/>
          </a:xfrm>
          <a:prstGeom prst="rect">
            <a:avLst/>
          </a:prstGeom>
          <a:noFill/>
          <a:ln/>
        </p:spPr>
        <p:txBody>
          <a:bodyPr wrap="square" lIns="0" tIns="0" rIns="0" bIns="0" rtlCol="0" anchor="t"/>
          <a:lstStyle/>
          <a:p>
            <a:pPr indent="0" marL="0">
              <a:buNone/>
            </a:pPr>
            <a:r>
              <a:rPr lang="en-US" sz="1400" b="1" dirty="0">
                <a:solidFill>
                  <a:srgbClr val="0071E3"/>
                </a:solidFill>
                <a:latin typeface="Calibri" pitchFamily="34" charset="0"/>
                <a:ea typeface="Calibri" pitchFamily="34" charset="-122"/>
                <a:cs typeface="Calibri" pitchFamily="34" charset="-120"/>
              </a:rPr>
              <a:t>Input defense</a:t>
            </a:r>
            <a:endParaRPr lang="en-US" sz="1400" dirty="0"/>
          </a:p>
        </p:txBody>
      </p:sp>
      <p:sp>
        <p:nvSpPr>
          <p:cNvPr id="24" name="Text 22"/>
          <p:cNvSpPr txBox="1"/>
          <p:nvPr/>
        </p:nvSpPr>
        <p:spPr>
          <a:xfrm>
            <a:off x="2606040" y="4197096"/>
            <a:ext cx="5852160" cy="411480"/>
          </a:xfrm>
          <a:prstGeom prst="rect">
            <a:avLst/>
          </a:prstGeom>
          <a:noFill/>
          <a:ln/>
        </p:spPr>
        <p:txBody>
          <a:bodyPr wrap="square" lIns="0" tIns="0" rIns="0" bIns="0" rtlCol="0" anchor="ctr"/>
          <a:lstStyle/>
          <a:p>
            <a:pPr indent="0" marL="0">
              <a:buNone/>
            </a:pPr>
            <a:r>
              <a:rPr lang="en-US" sz="1200" dirty="0">
                <a:solidFill>
                  <a:srgbClr val="1D1D1F"/>
                </a:solidFill>
                <a:latin typeface="Calibri" pitchFamily="34" charset="0"/>
                <a:ea typeface="Calibri" pitchFamily="34" charset="-122"/>
                <a:cs typeface="Calibri" pitchFamily="34" charset="-120"/>
              </a:rPr>
              <a:t>Customer text is treated as data. Hidden instructions are detected and ignored. Rate limits per IP.</a:t>
            </a:r>
            <a:endParaRPr lang="en-US" sz="1200" dirty="0"/>
          </a:p>
        </p:txBody>
      </p:sp>
      <p:sp>
        <p:nvSpPr>
          <p:cNvPr id="25" name="Text 23"/>
          <p:cNvSpPr txBox="1"/>
          <p:nvPr/>
        </p:nvSpPr>
        <p:spPr>
          <a:xfrm>
            <a:off x="548640" y="4572000"/>
            <a:ext cx="8046720" cy="274320"/>
          </a:xfrm>
          <a:prstGeom prst="rect">
            <a:avLst/>
          </a:prstGeom>
          <a:noFill/>
          <a:ln/>
        </p:spPr>
        <p:txBody>
          <a:bodyPr wrap="square" lIns="0" tIns="0" rIns="0" bIns="0" rtlCol="0" anchor="t"/>
          <a:lstStyle/>
          <a:p>
            <a:pPr indent="0" marL="0">
              <a:buNone/>
            </a:pPr>
            <a:r>
              <a:rPr lang="en-US" sz="1200" b="1" dirty="0">
                <a:solidFill>
                  <a:srgbClr val="1D1D1F"/>
                </a:solidFill>
                <a:latin typeface="Calibri" pitchFamily="34" charset="0"/>
                <a:ea typeface="Calibri" pitchFamily="34" charset="-122"/>
                <a:cs typeface="Calibri" pitchFamily="34" charset="-120"/>
              </a:rPr>
              <a:t>Fails closed: with no policy, no signing key, or no database, the system approves nothing and says so.</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74320"/>
          </a:xfrm>
          <a:prstGeom prst="rect">
            <a:avLst/>
          </a:prstGeom>
          <a:noFill/>
          <a:ln/>
        </p:spPr>
        <p:txBody>
          <a:bodyPr wrap="square" lIns="0" tIns="0" rIns="0" bIns="0" rtlCol="0" anchor="t"/>
          <a:lstStyle/>
          <a:p>
            <a:pPr indent="0" marL="0">
              <a:buNone/>
            </a:pPr>
            <a:r>
              <a:rPr lang="en-US" sz="1200" b="1" dirty="0">
                <a:solidFill>
                  <a:srgbClr val="0071E3"/>
                </a:solidFill>
                <a:latin typeface="Calibri" pitchFamily="34" charset="0"/>
                <a:ea typeface="Calibri" pitchFamily="34" charset="-122"/>
                <a:cs typeface="Calibri" pitchFamily="34" charset="-120"/>
              </a:rPr>
              <a:t>09 · EVIDENCE AND LANGUAGES</a:t>
            </a:r>
            <a:endParaRPr lang="en-US" sz="1200" dirty="0"/>
          </a:p>
        </p:txBody>
      </p:sp>
      <p:sp>
        <p:nvSpPr>
          <p:cNvPr id="3" name="Text 1"/>
          <p:cNvSpPr txBox="1"/>
          <p:nvPr/>
        </p:nvSpPr>
        <p:spPr>
          <a:xfrm>
            <a:off x="548640" y="640080"/>
            <a:ext cx="8046720" cy="868680"/>
          </a:xfrm>
          <a:prstGeom prst="rect">
            <a:avLst/>
          </a:prstGeom>
          <a:noFill/>
          <a:ln/>
        </p:spPr>
        <p:txBody>
          <a:bodyPr wrap="square" lIns="0" tIns="0" rIns="0" bIns="0" rtlCol="0" anchor="t"/>
          <a:lstStyle/>
          <a:p>
            <a:pPr indent="0" marL="0">
              <a:buNone/>
            </a:pPr>
            <a:r>
              <a:rPr lang="en-US" sz="2800" b="1" dirty="0">
                <a:solidFill>
                  <a:srgbClr val="1D1D1F"/>
                </a:solidFill>
                <a:latin typeface="Calibri" pitchFamily="34" charset="0"/>
                <a:ea typeface="Calibri" pitchFamily="34" charset="-122"/>
                <a:cs typeface="Calibri" pitchFamily="34" charset="-120"/>
              </a:rPr>
              <a:t>Tested in Spanish, Portuguese and adversarial cases.</a:t>
            </a:r>
            <a:endParaRPr lang="en-US" sz="2800" dirty="0"/>
          </a:p>
        </p:txBody>
      </p:sp>
      <p:sp>
        <p:nvSpPr>
          <p:cNvPr id="4" name="Text 2"/>
          <p:cNvSpPr txBox="1"/>
          <p:nvPr/>
        </p:nvSpPr>
        <p:spPr>
          <a:xfrm>
            <a:off x="548640" y="4800600"/>
            <a:ext cx="8046720" cy="201168"/>
          </a:xfrm>
          <a:prstGeom prst="rect">
            <a:avLst/>
          </a:prstGeom>
          <a:noFill/>
          <a:ln/>
        </p:spPr>
        <p:txBody>
          <a:bodyPr wrap="square" lIns="0" tIns="0" rIns="0" bIns="0" rtlCol="0" anchor="t"/>
          <a:lstStyle/>
          <a:p>
            <a:pPr indent="0" marL="0">
              <a:buNone/>
            </a:pPr>
            <a:r>
              <a:rPr lang="en-US" sz="1000" dirty="0">
                <a:solidFill>
                  <a:srgbClr val="6E6E73"/>
                </a:solidFill>
                <a:latin typeface="Calibri" pitchFamily="34" charset="0"/>
                <a:ea typeface="Calibri" pitchFamily="34" charset="-122"/>
                <a:cs typeface="Calibri" pitchFamily="34" charset="-120"/>
              </a:rPr>
              <a:t>noema · Factored AI &amp; Data Hackathon 2026 · Eduardo Lozada &amp; Federico Vargas</a:t>
            </a:r>
            <a:endParaRPr lang="en-US" sz="1000" dirty="0"/>
          </a:p>
        </p:txBody>
      </p:sp>
      <p:sp>
        <p:nvSpPr>
          <p:cNvPr id="5" name="Shape 3"/>
          <p:cNvSpPr/>
          <p:nvPr/>
        </p:nvSpPr>
        <p:spPr>
          <a:xfrm>
            <a:off x="548640" y="1600200"/>
            <a:ext cx="3931920" cy="3017520"/>
          </a:xfrm>
          <a:prstGeom prst="rect">
            <a:avLst/>
          </a:prstGeom>
          <a:solidFill>
            <a:srgbClr val="FFFFFF"/>
          </a:solidFill>
          <a:ln w="12700">
            <a:solidFill>
              <a:srgbClr val="FFFFFF"/>
            </a:solidFill>
            <a:prstDash val="solid"/>
          </a:ln>
        </p:spPr>
      </p:sp>
      <p:sp>
        <p:nvSpPr>
          <p:cNvPr id="6" name="Shape 4"/>
          <p:cNvSpPr/>
          <p:nvPr/>
        </p:nvSpPr>
        <p:spPr>
          <a:xfrm>
            <a:off x="548640" y="1600200"/>
            <a:ext cx="3931920" cy="3017520"/>
          </a:xfrm>
          <a:prstGeom prst="rect">
            <a:avLst/>
          </a:prstGeom>
          <a:ln w="9525">
            <a:solidFill>
              <a:srgbClr val="D2D2D7"/>
            </a:solidFill>
            <a:prstDash val="solid"/>
          </a:ln>
        </p:spPr>
      </p:sp>
      <p:sp>
        <p:nvSpPr>
          <p:cNvPr id="7" name="Shape 5"/>
          <p:cNvSpPr/>
          <p:nvPr/>
        </p:nvSpPr>
        <p:spPr>
          <a:xfrm>
            <a:off x="731520" y="1783080"/>
            <a:ext cx="2651760" cy="502920"/>
          </a:xfrm>
          <a:prstGeom prst="roundRect">
            <a:avLst>
              <a:gd name="adj" fmla="val 21818"/>
            </a:avLst>
          </a:prstGeom>
          <a:solidFill>
            <a:srgbClr val="FFFFFF"/>
          </a:solidFill>
          <a:ln w="6350">
            <a:solidFill>
              <a:srgbClr val="D2D2D7"/>
            </a:solidFill>
            <a:prstDash val="solid"/>
          </a:ln>
        </p:spPr>
      </p:sp>
      <p:sp>
        <p:nvSpPr>
          <p:cNvPr id="8" name="Text 6"/>
          <p:cNvSpPr txBox="1"/>
          <p:nvPr/>
        </p:nvSpPr>
        <p:spPr>
          <a:xfrm>
            <a:off x="841248" y="1874520"/>
            <a:ext cx="2432304" cy="365760"/>
          </a:xfrm>
          <a:prstGeom prst="rect">
            <a:avLst/>
          </a:prstGeom>
          <a:noFill/>
          <a:ln/>
        </p:spPr>
        <p:txBody>
          <a:bodyPr wrap="square" lIns="0" tIns="0" rIns="0" bIns="0" rtlCol="0" anchor="ctr"/>
          <a:lstStyle/>
          <a:p>
            <a:pPr indent="0" marL="0">
              <a:buNone/>
            </a:pPr>
            <a:r>
              <a:rPr lang="en-US" sz="1200" dirty="0">
                <a:solidFill>
                  <a:srgbClr val="1D1D1F"/>
                </a:solidFill>
                <a:latin typeface="Calibri" pitchFamily="34" charset="0"/>
                <a:ea typeface="Calibri" pitchFamily="34" charset="-122"/>
                <a:cs typeface="Calibri" pitchFamily="34" charset="-120"/>
              </a:rPr>
              <a:t>Quisiera un préstamo personal de 3000 dólares.</a:t>
            </a:r>
            <a:endParaRPr lang="en-US" sz="1200" dirty="0"/>
          </a:p>
        </p:txBody>
      </p:sp>
      <p:sp>
        <p:nvSpPr>
          <p:cNvPr id="9" name="Shape 7"/>
          <p:cNvSpPr/>
          <p:nvPr/>
        </p:nvSpPr>
        <p:spPr>
          <a:xfrm>
            <a:off x="1463040" y="2468880"/>
            <a:ext cx="2651760" cy="502920"/>
          </a:xfrm>
          <a:prstGeom prst="roundRect">
            <a:avLst>
              <a:gd name="adj" fmla="val 21818"/>
            </a:avLst>
          </a:prstGeom>
          <a:solidFill>
            <a:srgbClr val="FFFFFF"/>
          </a:solidFill>
          <a:ln w="6350">
            <a:solidFill>
              <a:srgbClr val="D2D2D7"/>
            </a:solidFill>
            <a:prstDash val="solid"/>
          </a:ln>
        </p:spPr>
      </p:sp>
      <p:sp>
        <p:nvSpPr>
          <p:cNvPr id="10" name="Text 8"/>
          <p:cNvSpPr txBox="1"/>
          <p:nvPr/>
        </p:nvSpPr>
        <p:spPr>
          <a:xfrm>
            <a:off x="1572768" y="2560320"/>
            <a:ext cx="2432304" cy="365760"/>
          </a:xfrm>
          <a:prstGeom prst="rect">
            <a:avLst/>
          </a:prstGeom>
          <a:noFill/>
          <a:ln/>
        </p:spPr>
        <p:txBody>
          <a:bodyPr wrap="square" lIns="0" tIns="0" rIns="0" bIns="0" rtlCol="0" anchor="ctr"/>
          <a:lstStyle/>
          <a:p>
            <a:pPr indent="0" marL="0">
              <a:buNone/>
            </a:pPr>
            <a:r>
              <a:rPr lang="en-US" sz="1200" dirty="0">
                <a:solidFill>
                  <a:srgbClr val="1D1D1F"/>
                </a:solidFill>
                <a:latin typeface="Calibri" pitchFamily="34" charset="0"/>
                <a:ea typeface="Calibri" pitchFamily="34" charset="-122"/>
                <a:cs typeface="Calibri" pitchFamily="34" charset="-120"/>
              </a:rPr>
              <a:t>Bom dia, preciso de um empréstimo pessoal.</a:t>
            </a:r>
            <a:endParaRPr lang="en-US" sz="1200" dirty="0"/>
          </a:p>
        </p:txBody>
      </p:sp>
      <p:sp>
        <p:nvSpPr>
          <p:cNvPr id="11" name="Shape 9"/>
          <p:cNvSpPr/>
          <p:nvPr/>
        </p:nvSpPr>
        <p:spPr>
          <a:xfrm>
            <a:off x="731520" y="3154680"/>
            <a:ext cx="3108960" cy="502920"/>
          </a:xfrm>
          <a:prstGeom prst="roundRect">
            <a:avLst>
              <a:gd name="adj" fmla="val 21818"/>
            </a:avLst>
          </a:prstGeom>
          <a:solidFill>
            <a:srgbClr val="0071E3"/>
          </a:solidFill>
          <a:ln w="6350">
            <a:solidFill>
              <a:srgbClr val="0071E3"/>
            </a:solidFill>
            <a:prstDash val="solid"/>
          </a:ln>
        </p:spPr>
      </p:sp>
      <p:sp>
        <p:nvSpPr>
          <p:cNvPr id="12" name="Text 10"/>
          <p:cNvSpPr txBox="1"/>
          <p:nvPr/>
        </p:nvSpPr>
        <p:spPr>
          <a:xfrm>
            <a:off x="841248" y="3246120"/>
            <a:ext cx="2889504" cy="36576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Antes de hablar de tus productos, confirma que eres tú.</a:t>
            </a:r>
            <a:endParaRPr lang="en-US" sz="1200" dirty="0"/>
          </a:p>
        </p:txBody>
      </p:sp>
      <p:sp>
        <p:nvSpPr>
          <p:cNvPr id="13" name="Shape 11"/>
          <p:cNvSpPr/>
          <p:nvPr/>
        </p:nvSpPr>
        <p:spPr>
          <a:xfrm>
            <a:off x="1463040" y="3840480"/>
            <a:ext cx="2651760" cy="502920"/>
          </a:xfrm>
          <a:prstGeom prst="roundRect">
            <a:avLst>
              <a:gd name="adj" fmla="val 21818"/>
            </a:avLst>
          </a:prstGeom>
          <a:solidFill>
            <a:srgbClr val="F5F5F7"/>
          </a:solidFill>
          <a:ln w="6350">
            <a:solidFill>
              <a:srgbClr val="F5F5F7"/>
            </a:solidFill>
            <a:prstDash val="solid"/>
          </a:ln>
        </p:spPr>
      </p:sp>
      <p:sp>
        <p:nvSpPr>
          <p:cNvPr id="14" name="Text 12"/>
          <p:cNvSpPr txBox="1"/>
          <p:nvPr/>
        </p:nvSpPr>
        <p:spPr>
          <a:xfrm>
            <a:off x="1572768" y="3931920"/>
            <a:ext cx="2432304" cy="365760"/>
          </a:xfrm>
          <a:prstGeom prst="rect">
            <a:avLst/>
          </a:prstGeom>
          <a:noFill/>
          <a:ln/>
        </p:spPr>
        <p:txBody>
          <a:bodyPr wrap="square" lIns="0" tIns="0" rIns="0" bIns="0" rtlCol="0" anchor="ctr"/>
          <a:lstStyle/>
          <a:p>
            <a:pPr indent="0" marL="0">
              <a:buNone/>
            </a:pPr>
            <a:r>
              <a:rPr lang="en-US" sz="1200" dirty="0">
                <a:solidFill>
                  <a:srgbClr val="1D1D1F"/>
                </a:solidFill>
                <a:latin typeface="Calibri" pitchFamily="34" charset="0"/>
                <a:ea typeface="Calibri" pitchFamily="34" charset="-122"/>
                <a:cs typeface="Calibri" pitchFamily="34" charset="-120"/>
              </a:rPr>
              <a:t>Olá, em que posso ajudar?</a:t>
            </a:r>
            <a:endParaRPr lang="en-US" sz="1200" dirty="0"/>
          </a:p>
        </p:txBody>
      </p:sp>
      <p:sp>
        <p:nvSpPr>
          <p:cNvPr id="15" name="Text 13"/>
          <p:cNvSpPr txBox="1"/>
          <p:nvPr/>
        </p:nvSpPr>
        <p:spPr>
          <a:xfrm>
            <a:off x="4937760" y="1554480"/>
            <a:ext cx="1828800" cy="640080"/>
          </a:xfrm>
          <a:prstGeom prst="rect">
            <a:avLst/>
          </a:prstGeom>
          <a:noFill/>
          <a:ln/>
        </p:spPr>
        <p:txBody>
          <a:bodyPr wrap="square" lIns="0" tIns="0" rIns="0" bIns="0" rtlCol="0" anchor="t"/>
          <a:lstStyle/>
          <a:p>
            <a:pPr indent="0" marL="0">
              <a:buNone/>
            </a:pPr>
            <a:r>
              <a:rPr lang="en-US" sz="4000" b="1" dirty="0">
                <a:solidFill>
                  <a:srgbClr val="0071E3"/>
                </a:solidFill>
                <a:latin typeface="Calibri" pitchFamily="34" charset="0"/>
                <a:ea typeface="Calibri" pitchFamily="34" charset="-122"/>
                <a:cs typeface="Calibri" pitchFamily="34" charset="-120"/>
              </a:rPr>
              <a:t>154</a:t>
            </a:r>
            <a:endParaRPr lang="en-US" sz="4000" dirty="0"/>
          </a:p>
        </p:txBody>
      </p:sp>
      <p:sp>
        <p:nvSpPr>
          <p:cNvPr id="16" name="Text 14"/>
          <p:cNvSpPr txBox="1"/>
          <p:nvPr/>
        </p:nvSpPr>
        <p:spPr>
          <a:xfrm>
            <a:off x="4937760" y="2212848"/>
            <a:ext cx="1828800" cy="731520"/>
          </a:xfrm>
          <a:prstGeom prst="rect">
            <a:avLst/>
          </a:prstGeom>
          <a:noFill/>
          <a:ln/>
        </p:spPr>
        <p:txBody>
          <a:bodyPr wrap="square" lIns="0" tIns="0" rIns="0" bIns="0" rtlCol="0" anchor="t"/>
          <a:lstStyle/>
          <a:p>
            <a:pPr indent="0" marL="0">
              <a:buNone/>
            </a:pPr>
            <a:r>
              <a:rPr lang="en-US" sz="1400" dirty="0">
                <a:solidFill>
                  <a:srgbClr val="6E6E73"/>
                </a:solidFill>
                <a:latin typeface="Calibri" pitchFamily="34" charset="0"/>
                <a:ea typeface="Calibri" pitchFamily="34" charset="-122"/>
                <a:cs typeface="Calibri" pitchFamily="34" charset="-120"/>
              </a:rPr>
              <a:t>test cases: 87 ES, 47 PT, 20 adversarial</a:t>
            </a:r>
            <a:endParaRPr lang="en-US" sz="1400" dirty="0"/>
          </a:p>
        </p:txBody>
      </p:sp>
      <p:sp>
        <p:nvSpPr>
          <p:cNvPr id="17" name="Text 15"/>
          <p:cNvSpPr txBox="1"/>
          <p:nvPr/>
        </p:nvSpPr>
        <p:spPr>
          <a:xfrm>
            <a:off x="6858000" y="1554480"/>
            <a:ext cx="1828800" cy="640080"/>
          </a:xfrm>
          <a:prstGeom prst="rect">
            <a:avLst/>
          </a:prstGeom>
          <a:noFill/>
          <a:ln/>
        </p:spPr>
        <p:txBody>
          <a:bodyPr wrap="square" lIns="0" tIns="0" rIns="0" bIns="0" rtlCol="0" anchor="t"/>
          <a:lstStyle/>
          <a:p>
            <a:pPr indent="0" marL="0">
              <a:buNone/>
            </a:pPr>
            <a:r>
              <a:rPr lang="en-US" sz="4000" b="1" dirty="0">
                <a:solidFill>
                  <a:srgbClr val="0071E3"/>
                </a:solidFill>
                <a:latin typeface="Calibri" pitchFamily="34" charset="0"/>
                <a:ea typeface="Calibri" pitchFamily="34" charset="-122"/>
                <a:cs typeface="Calibri" pitchFamily="34" charset="-120"/>
              </a:rPr>
              <a:t>78</a:t>
            </a:r>
            <a:endParaRPr lang="en-US" sz="4000" dirty="0"/>
          </a:p>
        </p:txBody>
      </p:sp>
      <p:sp>
        <p:nvSpPr>
          <p:cNvPr id="18" name="Text 16"/>
          <p:cNvSpPr txBox="1"/>
          <p:nvPr/>
        </p:nvSpPr>
        <p:spPr>
          <a:xfrm>
            <a:off x="6858000" y="2212848"/>
            <a:ext cx="1828800" cy="731520"/>
          </a:xfrm>
          <a:prstGeom prst="rect">
            <a:avLst/>
          </a:prstGeom>
          <a:noFill/>
          <a:ln/>
        </p:spPr>
        <p:txBody>
          <a:bodyPr wrap="square" lIns="0" tIns="0" rIns="0" bIns="0" rtlCol="0" anchor="t"/>
          <a:lstStyle/>
          <a:p>
            <a:pPr indent="0" marL="0">
              <a:buNone/>
            </a:pPr>
            <a:r>
              <a:rPr lang="en-US" sz="1400" dirty="0">
                <a:solidFill>
                  <a:srgbClr val="6E6E73"/>
                </a:solidFill>
                <a:latin typeface="Calibri" pitchFamily="34" charset="0"/>
                <a:ea typeface="Calibri" pitchFamily="34" charset="-122"/>
                <a:cs typeface="Calibri" pitchFamily="34" charset="-120"/>
              </a:rPr>
              <a:t>documented findings</a:t>
            </a:r>
            <a:endParaRPr lang="en-US" sz="1400" dirty="0"/>
          </a:p>
        </p:txBody>
      </p:sp>
      <p:sp>
        <p:nvSpPr>
          <p:cNvPr id="19" name="Text 17"/>
          <p:cNvSpPr txBox="1"/>
          <p:nvPr/>
        </p:nvSpPr>
        <p:spPr>
          <a:xfrm>
            <a:off x="4937760" y="2926080"/>
            <a:ext cx="1828800" cy="640080"/>
          </a:xfrm>
          <a:prstGeom prst="rect">
            <a:avLst/>
          </a:prstGeom>
          <a:noFill/>
          <a:ln/>
        </p:spPr>
        <p:txBody>
          <a:bodyPr wrap="square" lIns="0" tIns="0" rIns="0" bIns="0" rtlCol="0" anchor="t"/>
          <a:lstStyle/>
          <a:p>
            <a:pPr indent="0" marL="0">
              <a:buNone/>
            </a:pPr>
            <a:r>
              <a:rPr lang="en-US" sz="4000" b="1" dirty="0">
                <a:solidFill>
                  <a:srgbClr val="0071E3"/>
                </a:solidFill>
                <a:latin typeface="Calibri" pitchFamily="34" charset="0"/>
                <a:ea typeface="Calibri" pitchFamily="34" charset="-122"/>
                <a:cs typeface="Calibri" pitchFamily="34" charset="-120"/>
              </a:rPr>
              <a:t>12</a:t>
            </a:r>
            <a:endParaRPr lang="en-US" sz="4000" dirty="0"/>
          </a:p>
        </p:txBody>
      </p:sp>
      <p:sp>
        <p:nvSpPr>
          <p:cNvPr id="20" name="Text 18"/>
          <p:cNvSpPr txBox="1"/>
          <p:nvPr/>
        </p:nvSpPr>
        <p:spPr>
          <a:xfrm>
            <a:off x="4937760" y="3584448"/>
            <a:ext cx="1828800" cy="731520"/>
          </a:xfrm>
          <a:prstGeom prst="rect">
            <a:avLst/>
          </a:prstGeom>
          <a:noFill/>
          <a:ln/>
        </p:spPr>
        <p:txBody>
          <a:bodyPr wrap="square" lIns="0" tIns="0" rIns="0" bIns="0" rtlCol="0" anchor="t"/>
          <a:lstStyle/>
          <a:p>
            <a:pPr indent="0" marL="0">
              <a:buNone/>
            </a:pPr>
            <a:r>
              <a:rPr lang="en-US" sz="1400" dirty="0">
                <a:solidFill>
                  <a:srgbClr val="6E6E73"/>
                </a:solidFill>
                <a:latin typeface="Calibri" pitchFamily="34" charset="0"/>
                <a:ea typeface="Calibri" pitchFamily="34" charset="-122"/>
                <a:cs typeface="Calibri" pitchFamily="34" charset="-120"/>
              </a:rPr>
              <a:t>architecture decisions (ADRs)</a:t>
            </a:r>
            <a:endParaRPr lang="en-US" sz="1400" dirty="0"/>
          </a:p>
        </p:txBody>
      </p:sp>
      <p:sp>
        <p:nvSpPr>
          <p:cNvPr id="21" name="Text 19"/>
          <p:cNvSpPr txBox="1"/>
          <p:nvPr/>
        </p:nvSpPr>
        <p:spPr>
          <a:xfrm>
            <a:off x="6858000" y="2926080"/>
            <a:ext cx="1828800" cy="640080"/>
          </a:xfrm>
          <a:prstGeom prst="rect">
            <a:avLst/>
          </a:prstGeom>
          <a:noFill/>
          <a:ln/>
        </p:spPr>
        <p:txBody>
          <a:bodyPr wrap="square" lIns="0" tIns="0" rIns="0" bIns="0" rtlCol="0" anchor="t"/>
          <a:lstStyle/>
          <a:p>
            <a:pPr indent="0" marL="0">
              <a:buNone/>
            </a:pPr>
            <a:r>
              <a:rPr lang="en-US" sz="4000" b="1" dirty="0">
                <a:solidFill>
                  <a:srgbClr val="0071E3"/>
                </a:solidFill>
                <a:latin typeface="Calibri" pitchFamily="34" charset="0"/>
                <a:ea typeface="Calibri" pitchFamily="34" charset="-122"/>
                <a:cs typeface="Calibri" pitchFamily="34" charset="-120"/>
              </a:rPr>
              <a:t>1,000</a:t>
            </a:r>
            <a:endParaRPr lang="en-US" sz="4000" dirty="0"/>
          </a:p>
        </p:txBody>
      </p:sp>
      <p:sp>
        <p:nvSpPr>
          <p:cNvPr id="22" name="Text 20"/>
          <p:cNvSpPr txBox="1"/>
          <p:nvPr/>
        </p:nvSpPr>
        <p:spPr>
          <a:xfrm>
            <a:off x="6858000" y="3584448"/>
            <a:ext cx="1828800" cy="731520"/>
          </a:xfrm>
          <a:prstGeom prst="rect">
            <a:avLst/>
          </a:prstGeom>
          <a:noFill/>
          <a:ln/>
        </p:spPr>
        <p:txBody>
          <a:bodyPr wrap="square" lIns="0" tIns="0" rIns="0" bIns="0" rtlCol="0" anchor="t"/>
          <a:lstStyle/>
          <a:p>
            <a:pPr indent="0" marL="0">
              <a:buNone/>
            </a:pPr>
            <a:r>
              <a:rPr lang="en-US" sz="1400" dirty="0">
                <a:solidFill>
                  <a:srgbClr val="6E6E73"/>
                </a:solidFill>
                <a:latin typeface="Calibri" pitchFamily="34" charset="0"/>
                <a:ea typeface="Calibri" pitchFamily="34" charset="-122"/>
                <a:cs typeface="Calibri" pitchFamily="34" charset="-120"/>
              </a:rPr>
              <a:t>automated tests in the suite</a:t>
            </a:r>
            <a:endParaRPr lang="en-US" sz="1400" dirty="0"/>
          </a:p>
        </p:txBody>
      </p:sp>
      <p:sp>
        <p:nvSpPr>
          <p:cNvPr id="23" name="Text 21"/>
          <p:cNvSpPr txBox="1"/>
          <p:nvPr/>
        </p:nvSpPr>
        <p:spPr>
          <a:xfrm>
            <a:off x="4937760" y="4069080"/>
            <a:ext cx="3749040" cy="685800"/>
          </a:xfrm>
          <a:prstGeom prst="rect">
            <a:avLst/>
          </a:prstGeom>
          <a:noFill/>
          <a:ln/>
        </p:spPr>
        <p:txBody>
          <a:bodyPr wrap="square" lIns="0" tIns="0" rIns="0" bIns="0" rtlCol="0" anchor="t"/>
          <a:lstStyle/>
          <a:p>
            <a:pPr indent="0" marL="0">
              <a:buNone/>
            </a:pPr>
            <a:r>
              <a:rPr lang="en-US" sz="1200" dirty="0">
                <a:solidFill>
                  <a:srgbClr val="6E6E73"/>
                </a:solidFill>
                <a:latin typeface="Calibri" pitchFamily="34" charset="0"/>
                <a:ea typeface="Calibri" pitchFamily="34" charset="-122"/>
                <a:cs typeface="Calibri" pitchFamily="34" charset="-120"/>
              </a:rPr>
              <a:t>Language: the interface is in English. The assistant replies in the customer's language, detected per message. Rejection reasons are translated with figures kept intact.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1014"/>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274320"/>
          </a:xfrm>
          <a:prstGeom prst="rect">
            <a:avLst/>
          </a:prstGeom>
          <a:noFill/>
          <a:ln/>
        </p:spPr>
        <p:txBody>
          <a:bodyPr wrap="square" lIns="0" tIns="0" rIns="0" bIns="0" rtlCol="0" anchor="t"/>
          <a:lstStyle/>
          <a:p>
            <a:pPr indent="0" marL="0">
              <a:buNone/>
            </a:pPr>
            <a:r>
              <a:rPr lang="en-US" sz="1200" b="1" dirty="0">
                <a:solidFill>
                  <a:srgbClr val="A1A1A6"/>
                </a:solidFill>
                <a:latin typeface="Calibri" pitchFamily="34" charset="0"/>
                <a:ea typeface="Calibri" pitchFamily="34" charset="-122"/>
                <a:cs typeface="Calibri" pitchFamily="34" charset="-120"/>
              </a:rPr>
              <a:t>10 · LIVE</a:t>
            </a:r>
            <a:endParaRPr lang="en-US" sz="1200" dirty="0"/>
          </a:p>
        </p:txBody>
      </p:sp>
      <p:sp>
        <p:nvSpPr>
          <p:cNvPr id="3" name="Text 1"/>
          <p:cNvSpPr txBox="1"/>
          <p:nvPr/>
        </p:nvSpPr>
        <p:spPr>
          <a:xfrm>
            <a:off x="548640" y="640080"/>
            <a:ext cx="8046720" cy="868680"/>
          </a:xfrm>
          <a:prstGeom prst="rect">
            <a:avLst/>
          </a:prstGeom>
          <a:noFill/>
          <a:ln/>
        </p:spPr>
        <p:txBody>
          <a:bodyPr wrap="square" lIns="0" tIns="0" rIns="0" bIns="0" rtlCol="0" anchor="t"/>
          <a:lstStyle/>
          <a:p>
            <a:pPr indent="0" marL="0">
              <a:buNone/>
            </a:pPr>
            <a:r>
              <a:rPr lang="en-US" sz="2800" b="1" dirty="0">
                <a:solidFill>
                  <a:srgbClr val="FFFFFF"/>
                </a:solidFill>
                <a:latin typeface="Calibri" pitchFamily="34" charset="0"/>
                <a:ea typeface="Calibri" pitchFamily="34" charset="-122"/>
                <a:cs typeface="Calibri" pitchFamily="34" charset="-120"/>
              </a:rPr>
              <a:t>The model converses. The rule decides.</a:t>
            </a:r>
            <a:endParaRPr lang="en-US" sz="2800" dirty="0"/>
          </a:p>
        </p:txBody>
      </p:sp>
      <p:sp>
        <p:nvSpPr>
          <p:cNvPr id="4" name="Text 2"/>
          <p:cNvSpPr txBox="1"/>
          <p:nvPr/>
        </p:nvSpPr>
        <p:spPr>
          <a:xfrm>
            <a:off x="548640" y="4800600"/>
            <a:ext cx="8046720" cy="201168"/>
          </a:xfrm>
          <a:prstGeom prst="rect">
            <a:avLst/>
          </a:prstGeom>
          <a:noFill/>
          <a:ln/>
        </p:spPr>
        <p:txBody>
          <a:bodyPr wrap="square" lIns="0" tIns="0" rIns="0" bIns="0" rtlCol="0" anchor="t"/>
          <a:lstStyle/>
          <a:p>
            <a:pPr indent="0" marL="0">
              <a:buNone/>
            </a:pPr>
            <a:r>
              <a:rPr lang="en-US" sz="1000" dirty="0">
                <a:solidFill>
                  <a:srgbClr val="A1A1A6"/>
                </a:solidFill>
                <a:latin typeface="Calibri" pitchFamily="34" charset="0"/>
                <a:ea typeface="Calibri" pitchFamily="34" charset="-122"/>
                <a:cs typeface="Calibri" pitchFamily="34" charset="-120"/>
              </a:rPr>
              <a:t>noema · Factored AI &amp; Data Hackathon 2026 · Eduardo Lozada &amp; Federico Vargas</a:t>
            </a:r>
            <a:endParaRPr lang="en-US" sz="1000" dirty="0"/>
          </a:p>
        </p:txBody>
      </p:sp>
      <p:sp>
        <p:nvSpPr>
          <p:cNvPr id="5" name="Text 3"/>
          <p:cNvSpPr txBox="1"/>
          <p:nvPr/>
        </p:nvSpPr>
        <p:spPr>
          <a:xfrm>
            <a:off x="548640" y="1645920"/>
            <a:ext cx="8046720" cy="73152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noema.5-78-236-186.sslip.io</a:t>
            </a:r>
            <a:endParaRPr lang="en-US" sz="3600" dirty="0"/>
          </a:p>
        </p:txBody>
      </p:sp>
      <p:sp>
        <p:nvSpPr>
          <p:cNvPr id="6" name="Text 4"/>
          <p:cNvSpPr txBox="1"/>
          <p:nvPr/>
        </p:nvSpPr>
        <p:spPr>
          <a:xfrm>
            <a:off x="548640" y="2468880"/>
            <a:ext cx="8046720" cy="365760"/>
          </a:xfrm>
          <a:prstGeom prst="rect">
            <a:avLst/>
          </a:prstGeom>
          <a:noFill/>
          <a:ln/>
        </p:spPr>
        <p:txBody>
          <a:bodyPr wrap="square" lIns="0" tIns="0" rIns="0" bIns="0" rtlCol="0" anchor="t"/>
          <a:lstStyle/>
          <a:p>
            <a:pPr indent="0" marL="0">
              <a:buNone/>
            </a:pPr>
            <a:r>
              <a:rPr lang="en-US" sz="1800" dirty="0">
                <a:solidFill>
                  <a:srgbClr val="A1A1A6"/>
                </a:solidFill>
                <a:latin typeface="Calibri" pitchFamily="34" charset="0"/>
                <a:ea typeface="Calibri" pitchFamily="34" charset="-122"/>
                <a:cs typeface="Calibri" pitchFamily="34" charset="-120"/>
              </a:rPr>
              <a:t>Left: the conversation. Right: every rule, as it fires.</a:t>
            </a:r>
            <a:endParaRPr lang="en-US" sz="1800" dirty="0"/>
          </a:p>
        </p:txBody>
      </p:sp>
      <p:sp>
        <p:nvSpPr>
          <p:cNvPr id="7" name="Text 5"/>
          <p:cNvSpPr txBox="1"/>
          <p:nvPr/>
        </p:nvSpPr>
        <p:spPr>
          <a:xfrm>
            <a:off x="548640" y="3154680"/>
            <a:ext cx="8046720" cy="32004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Declared limits:</a:t>
            </a:r>
            <a:endParaRPr lang="en-US" sz="1400" dirty="0"/>
          </a:p>
        </p:txBody>
      </p:sp>
      <p:sp>
        <p:nvSpPr>
          <p:cNvPr id="8" name="Text 6"/>
          <p:cNvSpPr txBox="1"/>
          <p:nvPr/>
        </p:nvSpPr>
        <p:spPr>
          <a:xfrm>
            <a:off x="548640" y="3474720"/>
            <a:ext cx="8046720" cy="548640"/>
          </a:xfrm>
          <a:prstGeom prst="rect">
            <a:avLst/>
          </a:prstGeom>
          <a:noFill/>
          <a:ln/>
        </p:spPr>
        <p:txBody>
          <a:bodyPr wrap="square" lIns="0" tIns="0" rIns="0" bIns="0" rtlCol="0" anchor="t"/>
          <a:lstStyle/>
          <a:p>
            <a:pPr indent="0" marL="0">
              <a:buNone/>
            </a:pPr>
            <a:r>
              <a:rPr lang="en-US" sz="1300" dirty="0">
                <a:solidFill>
                  <a:srgbClr val="A1A1A6"/>
                </a:solidFill>
                <a:latin typeface="Calibri" pitchFamily="34" charset="0"/>
                <a:ea typeface="Calibri" pitchFamily="34" charset="-122"/>
                <a:cs typeface="Calibri" pitchFamily="34" charset="-120"/>
              </a:rPr>
              <a:t>No measurable default label  ·  Capacity not yet connected to the policy  ·  Databricks not connected  ·  Some models left out for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noema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noema: the chat that talks, and a rule that decides</dc:title>
  <dc:subject>PptxGenJS Presentation</dc:subject>
  <dc:creator>PptxGenJS</dc:creator>
  <cp:lastModifiedBy>PptxGenJS</cp:lastModifiedBy>
  <cp:revision>1</cp:revision>
  <dcterms:created xsi:type="dcterms:W3CDTF">2026-10-06T01:08:11Z</dcterms:created>
  <dcterms:modified xsi:type="dcterms:W3CDTF">2026-10-06T01:08:11Z</dcterms:modified>
</cp:coreProperties>
</file>
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 sections 1, 2, 3, 4, and 10; docs/00_challenge_brief.md.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 sections 1, 2, and 3; docs/00_challenge_brief.md. Framing is summarized from the hackathon requirements documented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 sections 3 and 4; docs/18_noema_ai_final_architecture.md. The architecture summary follows the repository diagram and local deployment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 section 2; docs/05_security.md sections 2 through 7; docs/03_credit_policy.md for policy behavior. Table is native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docs/23_executive_summary_validation.md; docs/federico_model_and_data_results.txt; README.md section 10. The capacity coverage value reflects conservative abstention rules, not total credit eligibility.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662736-A823-43A8-9B57-6ADCC93294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61975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95EF7D-F026-4A57-A05F-34B29FC01A1F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3714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02"/>
          </a:bodyPr>
          <a:lstStyle/>
          <a:p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57355-4605-408F-964D-8F6FF755F2E5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14337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7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Credit eligibility assistant for safer banking conversations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26EF3-746F-4063-8265-56B28AD0017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819150" cy="47625"/>
          </a:xfrm>
          <a:prstGeom prst="rect">
            <a:avLst/>
          </a:prstGeom>
          <a:solidFill>
            <a:srgbClr val="C9A45C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3C7E4-3E13-4A23-A1D0-E2AEF21F1665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0">
                <a:solidFill>
                  <a:srgbClr val="D9E3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3E7"/>
                </a:solidFill>
                <a:latin typeface="Aptos"/>
                <a:ea typeface="Aptos"/>
                <a:cs typeface="Aptos"/>
              </a:rPr>
              <a:t>Built for Factored AI &amp; Data Hackathon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342728-C106-4B2E-9AF9-8F68F4E53A25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BACAD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ACAD1"/>
                </a:solidFill>
                <a:latin typeface="Aptos"/>
                <a:ea typeface="Aptos"/>
                <a:cs typeface="Aptos"/>
              </a:rPr>
              <a:t>Spanish and Portuguese · verified data · deterministic credit policy · structured human handoff</a:t>
            </a:r>
          </a:p>
        </p:txBody>
      </p:sp>
    </p:spTree>
    <p:extLst>
      <p:ext uri="{BB962C8B-B14F-4D97-AF65-F5344CB8AC3E}">
        <p14:creationId xmlns:p14="http://schemas.microsoft.com/office/powerpoint/2010/main" val="25176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8F41CE-6DB9-4208-8E55-CC01612E944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001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The banking gap NOEMA targets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75F0DF-7384-4F8D-A3E4-46267034572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Hackathon scoring rewards systems that act safely, not chatbots that sound confident.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E22D8-C5A5-441A-B8AF-ADED1BA9FA63}"/>
              </a:ext>
            </a:extLst>
          </p:cNvPr>
          <p:cNvSpPr>
            <a:spLocks noGrp="1"/>
          </p:cNvSpPr>
          <p:nvPr/>
        </p:nvSpPr>
        <p:spPr>
          <a:xfrm>
            <a:off x="666750" y="1276350"/>
            <a:ext cx="876300" cy="3810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BB2FD-ECFC-4519-8B80-7B5B8EA2A3AD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32004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41FBE-C620-4CD2-A62F-98F0E654E79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57150" cy="2819400"/>
          </a:xfrm>
          <a:prstGeom prst="rect">
            <a:avLst/>
          </a:prstGeom>
          <a:solidFill>
            <a:srgbClr val="C9A45C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E3B7E-4066-4FED-8909-A111FA241A6D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The risk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58FCF3-8FCF-4332-9750-E712D1AA4E01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2781300" cy="2114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Credit conversations mix identity, eligibility, personal data, and product terms. A fluent answer can still expose data, invent a number, or approve something the bank cannot defend.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32210-8F5F-45C9-B1C3-C611EADCD6ED}"/>
              </a:ext>
            </a:extLst>
          </p:cNvPr>
          <p:cNvSpPr>
            <a:spLocks noGrp="1"/>
          </p:cNvSpPr>
          <p:nvPr/>
        </p:nvSpPr>
        <p:spPr>
          <a:xfrm>
            <a:off x="4495800" y="1714500"/>
            <a:ext cx="32004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D466F-1492-4600-AFCE-BD94282A8892}"/>
              </a:ext>
            </a:extLst>
          </p:cNvPr>
          <p:cNvSpPr>
            <a:spLocks noGrp="1"/>
          </p:cNvSpPr>
          <p:nvPr/>
        </p:nvSpPr>
        <p:spPr>
          <a:xfrm>
            <a:off x="4495800" y="1714500"/>
            <a:ext cx="57150" cy="281940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7F5A34-1497-4C8C-919D-AC44B79B1DBB}"/>
              </a:ext>
            </a:extLst>
          </p:cNvPr>
          <p:cNvSpPr>
            <a:spLocks noGrp="1"/>
          </p:cNvSpPr>
          <p:nvPr/>
        </p:nvSpPr>
        <p:spPr>
          <a:xfrm>
            <a:off x="4705350" y="18859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The requirement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CDE29-B3F0-4DEC-9780-153AAC551E5B}"/>
              </a:ext>
            </a:extLst>
          </p:cNvPr>
          <p:cNvSpPr>
            <a:spLocks noGrp="1"/>
          </p:cNvSpPr>
          <p:nvPr/>
        </p:nvSpPr>
        <p:spPr>
          <a:xfrm>
            <a:off x="4705350" y="2286000"/>
            <a:ext cx="2781300" cy="2114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challenge asks for a working customer-service system with visible understand, decide, act, verify, and escalate stages.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6E6B82-81B4-4175-BBEF-27B5CF33FEFE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2004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96A93-084B-4816-A529-50FB20B47028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57150" cy="2819400"/>
          </a:xfrm>
          <a:prstGeom prst="rect">
            <a:avLst/>
          </a:prstGeom>
          <a:solidFill>
            <a:srgbClr val="6D8FB3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64E14-3BCA-44A4-96A8-5BD6B5FE0C76}"/>
              </a:ext>
            </a:extLst>
          </p:cNvPr>
          <p:cNvSpPr>
            <a:spLocks noGrp="1"/>
          </p:cNvSpPr>
          <p:nvPr/>
        </p:nvSpPr>
        <p:spPr>
          <a:xfrm>
            <a:off x="8458200" y="18859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NOEMA's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A75DA8-7BFB-4E09-A846-B93B2FF634B8}"/>
              </a:ext>
            </a:extLst>
          </p:cNvPr>
          <p:cNvSpPr>
            <a:spLocks noGrp="1"/>
          </p:cNvSpPr>
          <p:nvPr/>
        </p:nvSpPr>
        <p:spPr>
          <a:xfrm>
            <a:off x="8458200" y="2286000"/>
            <a:ext cx="2781300" cy="2114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language model explains and clarifies. Database tools provide figures. A policy engine decides eligibility. The system escalates with verified facts when evidence is missing.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2DD98C-F3D9-47D8-87E9-64DA0D0825C1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71C847-C928-4FFA-8412-D16334046097}"/>
              </a:ext>
            </a:extLst>
          </p:cNvPr>
          <p:cNvSpPr>
            <a:spLocks noGrp="1"/>
          </p:cNvSpPr>
          <p:nvPr/>
        </p:nvSpPr>
        <p:spPr>
          <a:xfrm>
            <a:off x="2400300" y="5010150"/>
            <a:ext cx="7810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667"/>
          </a:bodyPr>
          <a:lstStyle/>
          <a:p>
            <a:pPr>
              <a:defRPr sz="187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No figure comes from the LLM, and the LLM does not decide eligibility.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A3DBA2-FE30-4E84-B934-6763515CC65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E3501-9F92-49BE-92AE-D7F6F88916B0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640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3D823D7-A1CE-4A61-B33E-CC39DE6FB2B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001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5E69E-E3E5-40DD-9896-5CE55D81D7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The frontend stays thin. The API owns orchestration, tools, policies, and verified reads.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75FC9D-DE69-43A5-BFD8-8D6CAF13BE2D}"/>
              </a:ext>
            </a:extLst>
          </p:cNvPr>
          <p:cNvSpPr>
            <a:spLocks noGrp="1"/>
          </p:cNvSpPr>
          <p:nvPr/>
        </p:nvSpPr>
        <p:spPr>
          <a:xfrm>
            <a:off x="666750" y="1276350"/>
            <a:ext cx="876300" cy="3810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36ACA-5BE3-48C2-96B4-2C733F2F224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600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DA7AA-94DC-41E7-A022-0DA521004522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600200" cy="66675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AA5B0-26AF-4461-9C9B-74C6CE8EF756}"/>
              </a:ext>
            </a:extLst>
          </p:cNvPr>
          <p:cNvSpPr>
            <a:spLocks noGrp="1"/>
          </p:cNvSpPr>
          <p:nvPr/>
        </p:nvSpPr>
        <p:spPr>
          <a:xfrm>
            <a:off x="800100" y="19145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C29010-FD88-4F47-9E14-EDA5329CB04D}"/>
              </a:ext>
            </a:extLst>
          </p:cNvPr>
          <p:cNvSpPr>
            <a:spLocks noGrp="1"/>
          </p:cNvSpPr>
          <p:nvPr/>
        </p:nvSpPr>
        <p:spPr>
          <a:xfrm>
            <a:off x="800100" y="2162175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28"/>
          </a:bodyPr>
          <a:lstStyle/>
          <a:p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Intent, language, slots, missing facts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C0562-91C6-42DA-A2E5-E92F10202F34}"/>
              </a:ext>
            </a:extLst>
          </p:cNvPr>
          <p:cNvSpPr>
            <a:spLocks noGrp="1"/>
          </p:cNvSpPr>
          <p:nvPr/>
        </p:nvSpPr>
        <p:spPr>
          <a:xfrm>
            <a:off x="2428875" y="1752600"/>
            <a:ext cx="1600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05D195-D134-480E-8BB1-E87035D0C02A}"/>
              </a:ext>
            </a:extLst>
          </p:cNvPr>
          <p:cNvSpPr>
            <a:spLocks noGrp="1"/>
          </p:cNvSpPr>
          <p:nvPr/>
        </p:nvSpPr>
        <p:spPr>
          <a:xfrm>
            <a:off x="2428875" y="1752600"/>
            <a:ext cx="1600200" cy="66675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62D1BE-0FEA-4A03-9918-7A502DDFBE7F}"/>
              </a:ext>
            </a:extLst>
          </p:cNvPr>
          <p:cNvSpPr>
            <a:spLocks noGrp="1"/>
          </p:cNvSpPr>
          <p:nvPr/>
        </p:nvSpPr>
        <p:spPr>
          <a:xfrm>
            <a:off x="2562225" y="19145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Access guard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C429D7-0B00-4FB8-A9B4-A048FDB8DEAF}"/>
              </a:ext>
            </a:extLst>
          </p:cNvPr>
          <p:cNvSpPr>
            <a:spLocks noGrp="1"/>
          </p:cNvSpPr>
          <p:nvPr/>
        </p:nvSpPr>
        <p:spPr>
          <a:xfrm>
            <a:off x="2562225" y="2162175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222"/>
          </a:bodyPr>
          <a:lstStyle/>
          <a:p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Document and birth date check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E4A5F1-BD2D-4CB9-8A6A-7E9D616120F5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1600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9D4279-D841-418E-A069-8FBDCD098FCD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1600200" cy="66675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AD519F-3E47-4899-98FA-809A29503E81}"/>
              </a:ext>
            </a:extLst>
          </p:cNvPr>
          <p:cNvSpPr>
            <a:spLocks noGrp="1"/>
          </p:cNvSpPr>
          <p:nvPr/>
        </p:nvSpPr>
        <p:spPr>
          <a:xfrm>
            <a:off x="4324350" y="19145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67D352-0CD2-40C3-8AAE-46FDE5EEA77C}"/>
              </a:ext>
            </a:extLst>
          </p:cNvPr>
          <p:cNvSpPr>
            <a:spLocks noGrp="1"/>
          </p:cNvSpPr>
          <p:nvPr/>
        </p:nvSpPr>
        <p:spPr>
          <a:xfrm>
            <a:off x="4324350" y="2162175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810"/>
          </a:bodyPr>
          <a:lstStyle/>
          <a:p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Models plus versioned policy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968BE-E1FD-4B30-95E6-B675DB216842}"/>
              </a:ext>
            </a:extLst>
          </p:cNvPr>
          <p:cNvSpPr>
            <a:spLocks noGrp="1"/>
          </p:cNvSpPr>
          <p:nvPr/>
        </p:nvSpPr>
        <p:spPr>
          <a:xfrm>
            <a:off x="5953125" y="1752600"/>
            <a:ext cx="1600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6617C4-3CF9-436F-A117-64B50DBD8829}"/>
              </a:ext>
            </a:extLst>
          </p:cNvPr>
          <p:cNvSpPr>
            <a:spLocks noGrp="1"/>
          </p:cNvSpPr>
          <p:nvPr/>
        </p:nvSpPr>
        <p:spPr>
          <a:xfrm>
            <a:off x="5953125" y="1752600"/>
            <a:ext cx="1600200" cy="66675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78D6C-ABA6-4DEE-8E11-B543A4442E23}"/>
              </a:ext>
            </a:extLst>
          </p:cNvPr>
          <p:cNvSpPr>
            <a:spLocks noGrp="1"/>
          </p:cNvSpPr>
          <p:nvPr/>
        </p:nvSpPr>
        <p:spPr>
          <a:xfrm>
            <a:off x="6086475" y="19145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3BCC19-A84B-47E4-A047-D38F63A84680}"/>
              </a:ext>
            </a:extLst>
          </p:cNvPr>
          <p:cNvSpPr>
            <a:spLocks noGrp="1"/>
          </p:cNvSpPr>
          <p:nvPr/>
        </p:nvSpPr>
        <p:spPr>
          <a:xfrm>
            <a:off x="6086475" y="2162175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548"/>
          </a:bodyPr>
          <a:lstStyle/>
          <a:p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Typed tools and role allowlist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967CF-3C1A-4BEE-84D0-09EB861723E3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1600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B367ED-A996-4584-A272-049D5867B8B1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1600200" cy="66675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37926-6829-47AC-8D7D-2CCE83DCEC52}"/>
              </a:ext>
            </a:extLst>
          </p:cNvPr>
          <p:cNvSpPr>
            <a:spLocks noGrp="1"/>
          </p:cNvSpPr>
          <p:nvPr/>
        </p:nvSpPr>
        <p:spPr>
          <a:xfrm>
            <a:off x="7848600" y="19145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9B1C2D-839B-4837-B18F-FA25266E65E5}"/>
              </a:ext>
            </a:extLst>
          </p:cNvPr>
          <p:cNvSpPr>
            <a:spLocks noGrp="1"/>
          </p:cNvSpPr>
          <p:nvPr/>
        </p:nvSpPr>
        <p:spPr>
          <a:xfrm>
            <a:off x="7848600" y="2162175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Read back every write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ECAE5A-BB6E-4B7A-9CEC-4BBE002C866F}"/>
              </a:ext>
            </a:extLst>
          </p:cNvPr>
          <p:cNvSpPr>
            <a:spLocks noGrp="1"/>
          </p:cNvSpPr>
          <p:nvPr/>
        </p:nvSpPr>
        <p:spPr>
          <a:xfrm>
            <a:off x="9477375" y="1752600"/>
            <a:ext cx="1600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84EF69-434E-4BD3-8101-C83D3828F41D}"/>
              </a:ext>
            </a:extLst>
          </p:cNvPr>
          <p:cNvSpPr>
            <a:spLocks noGrp="1"/>
          </p:cNvSpPr>
          <p:nvPr/>
        </p:nvSpPr>
        <p:spPr>
          <a:xfrm>
            <a:off x="9477375" y="1752600"/>
            <a:ext cx="1600200" cy="66675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E6223F-B97F-49D5-A698-B08E15584BE7}"/>
              </a:ext>
            </a:extLst>
          </p:cNvPr>
          <p:cNvSpPr>
            <a:spLocks noGrp="1"/>
          </p:cNvSpPr>
          <p:nvPr/>
        </p:nvSpPr>
        <p:spPr>
          <a:xfrm>
            <a:off x="9610725" y="19145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Escalate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45C032-F061-4379-A92E-42B7B52F1F06}"/>
              </a:ext>
            </a:extLst>
          </p:cNvPr>
          <p:cNvSpPr>
            <a:spLocks noGrp="1"/>
          </p:cNvSpPr>
          <p:nvPr/>
        </p:nvSpPr>
        <p:spPr>
          <a:xfrm>
            <a:off x="9610725" y="2162175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Structured case file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12A15F-C0C5-4437-82A4-21423F12EB14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9906000" cy="9525"/>
          </a:xfrm>
          <a:prstGeom prst="rect">
            <a:avLst/>
          </a:prstGeom>
          <a:solidFill>
            <a:srgbClr val="CAD7DD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6247DC-4872-424F-80BF-056EF574B138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3143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2AADE2-21DA-4012-BB7A-3C25B707C2E3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57150" cy="1524000"/>
          </a:xfrm>
          <a:prstGeom prst="rect">
            <a:avLst/>
          </a:prstGeom>
          <a:solidFill>
            <a:srgbClr val="6D8FB3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ACB570-8129-4A09-BFBD-73BDBFC71142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A8E4E6-460B-45AB-A126-98D7F42CA0BC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27241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Next.js UI exposes chat, glass-box diagnostics, case console, and analytics views.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139555-B9ED-45A8-A2CC-E5FDA8AD4FB3}"/>
              </a:ext>
            </a:extLst>
          </p:cNvPr>
          <p:cNvSpPr>
            <a:spLocks noGrp="1"/>
          </p:cNvSpPr>
          <p:nvPr/>
        </p:nvSpPr>
        <p:spPr>
          <a:xfrm>
            <a:off x="4514850" y="3695700"/>
            <a:ext cx="3143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A202F8-3084-4485-A9EB-3A59AF9AD168}"/>
              </a:ext>
            </a:extLst>
          </p:cNvPr>
          <p:cNvSpPr>
            <a:spLocks noGrp="1"/>
          </p:cNvSpPr>
          <p:nvPr/>
        </p:nvSpPr>
        <p:spPr>
          <a:xfrm>
            <a:off x="4514850" y="3695700"/>
            <a:ext cx="57150" cy="152400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B45DF6-3BD8-4A78-9287-949CFD34DF33}"/>
              </a:ext>
            </a:extLst>
          </p:cNvPr>
          <p:cNvSpPr>
            <a:spLocks noGrp="1"/>
          </p:cNvSpPr>
          <p:nvPr/>
        </p:nvSpPr>
        <p:spPr>
          <a:xfrm>
            <a:off x="4724400" y="3867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EEEC41-4B79-4A7C-88CD-68A2878AD957}"/>
              </a:ext>
            </a:extLst>
          </p:cNvPr>
          <p:cNvSpPr>
            <a:spLocks noGrp="1"/>
          </p:cNvSpPr>
          <p:nvPr/>
        </p:nvSpPr>
        <p:spPr>
          <a:xfrm>
            <a:off x="4724400" y="4267200"/>
            <a:ext cx="27241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FastAPI calls the orchestrator, verifier, policy engine, ML models, and tool registry.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1B948E-6896-40CF-AC41-6EBCA43CBCDE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3143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5E830E-AEF4-48C7-944E-ADB3CF563246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57150" cy="1524000"/>
          </a:xfrm>
          <a:prstGeom prst="rect">
            <a:avLst/>
          </a:prstGeom>
          <a:solidFill>
            <a:srgbClr val="C9A45C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8414C2-88CE-48F3-A104-D2EF066240C4}"/>
              </a:ext>
            </a:extLst>
          </p:cNvPr>
          <p:cNvSpPr>
            <a:spLocks noGrp="1"/>
          </p:cNvSpPr>
          <p:nvPr/>
        </p:nvSpPr>
        <p:spPr>
          <a:xfrm>
            <a:off x="8496300" y="3867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Data and models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00D9E-2CFD-4D7D-B5C5-CB87F60D2D02}"/>
              </a:ext>
            </a:extLst>
          </p:cNvPr>
          <p:cNvSpPr>
            <a:spLocks noGrp="1"/>
          </p:cNvSpPr>
          <p:nvPr/>
        </p:nvSpPr>
        <p:spPr>
          <a:xfrm>
            <a:off x="8496300" y="4267200"/>
            <a:ext cx="27241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DuckDB and dbt curate gold tables locally. Databricks supports Delta and MLflow planning.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FC5001-AF3E-4B01-9FBC-DF2AA1187B7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70B35C-4C20-4AE2-A10D-BD7048E56EB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280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D2B0E3-384B-45BC-AC5B-33BCAB1A54C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001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Controls that make the assistant defensible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2F2010-5269-493E-BFF0-5A0D5CAE3F3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turns safety rules into executable checks instead of relying on prompt wording.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B09F0-78EF-4512-93F9-5AD1B16E06C2}"/>
              </a:ext>
            </a:extLst>
          </p:cNvPr>
          <p:cNvSpPr>
            <a:spLocks noGrp="1"/>
          </p:cNvSpPr>
          <p:nvPr/>
        </p:nvSpPr>
        <p:spPr>
          <a:xfrm>
            <a:off x="666750" y="1276350"/>
            <a:ext cx="876300" cy="3810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graphicFrame>
        <p:nvGraphicFramePr>
          <p:cNvPr id="12" name="Table 11"/>
          <p:cNvGraphicFramePr/>
          <p:nvPr/>
        </p:nvGraphicFramePr>
        <p:xfrm>
          <a:off x="762000" y="1619250"/>
          <a:ext cx="10668000" cy="3143250"/>
        </p:xfrm>
        <a:graphic>
          <a:graphicData uri="http://schemas.openxmlformats.org/drawingml/2006/table">
            <a:tbl>
              <a:tblPr firstRow="1" bandRow="1"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Risk area</a:t>
                      </a:r>
                    </a:p>
                  </a:txBody>
                  <a:tcPr>
                    <a:solidFill>
                      <a:srgbClr val="07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Control in NOEMA</a:t>
                      </a:r>
                    </a:p>
                  </a:txBody>
                  <a:tcPr>
                    <a:solidFill>
                      <a:srgbClr val="07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07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Document type, document number, and date of birth before personal data leaves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Three attempts, identical errors, constant-time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Grounding checker blocks figures that did not come from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Final answer cannot carry unsupported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YAML policy and trained models decide credit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Policy tested without an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Writes use typed tools, role checks, idempotency keys, and read-back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Mismatch triggers escalation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353FDE8-D216-4AB1-AF10-2B97EE908229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Security posture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A097EE-D4AF-4121-8CF7-7390477F23B3}"/>
              </a:ext>
            </a:extLst>
          </p:cNvPr>
          <p:cNvSpPr>
            <a:spLocks noGrp="1"/>
          </p:cNvSpPr>
          <p:nvPr/>
        </p:nvSpPr>
        <p:spPr>
          <a:xfrm>
            <a:off x="2495550" y="5162550"/>
            <a:ext cx="823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defRPr sz="1350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prototype treats synthetic data as real personal data: hashed traces, short retention windows, read-only business tables, and protected metrics.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5A043-6A4B-49DA-BC86-A051E717BA6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79C856-D12A-49DB-B415-445F3F1B47C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00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ED3EDDF-59D5-432F-965A-A13ED1AB200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001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Validation and demo readiness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43D293-CBE8-4697-A2B2-F0871567A2B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The current prototype is ready for a credible hackathon demo, with production gaps stated plainly.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44A023-1D84-494C-BF35-2E1209E6AC12}"/>
              </a:ext>
            </a:extLst>
          </p:cNvPr>
          <p:cNvSpPr>
            <a:spLocks noGrp="1"/>
          </p:cNvSpPr>
          <p:nvPr/>
        </p:nvSpPr>
        <p:spPr>
          <a:xfrm>
            <a:off x="666750" y="1276350"/>
            <a:ext cx="876300" cy="3810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2FCDC-23BA-4829-8E96-C4624871ED70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1809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55"/>
          </a:bodyPr>
          <a:lstStyle/>
          <a:p>
            <a:pPr>
              <a:defRPr sz="4350" b="1">
                <a:solidFill>
                  <a:srgbClr val="1FB6A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B6A6"/>
                </a:solidFill>
                <a:latin typeface="Aptos"/>
                <a:ea typeface="Aptos"/>
                <a:cs typeface="Aptos"/>
              </a:rPr>
              <a:t>945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7888F-1E87-4FC1-8EB7-E7C22B5B6558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backend tests passed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76EF1-64F6-4D81-AF47-EC4E86F083D7}"/>
              </a:ext>
            </a:extLst>
          </p:cNvPr>
          <p:cNvSpPr>
            <a:spLocks noGrp="1"/>
          </p:cNvSpPr>
          <p:nvPr/>
        </p:nvSpPr>
        <p:spPr>
          <a:xfrm>
            <a:off x="3676650" y="16954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55"/>
          </a:bodyPr>
          <a:lstStyle/>
          <a:p>
            <a:pPr>
              <a:defRPr sz="4350" b="1">
                <a:solidFill>
                  <a:srgbClr val="C9A45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C9A45C"/>
                </a:solidFill>
                <a:latin typeface="Aptos"/>
                <a:ea typeface="Aptos"/>
                <a:cs typeface="Aptos"/>
              </a:rPr>
              <a:t>23.5M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D4FBE9-8966-4D8E-9C28-304948A4E8EE}"/>
              </a:ext>
            </a:extLst>
          </p:cNvPr>
          <p:cNvSpPr>
            <a:spLocks noGrp="1"/>
          </p:cNvSpPr>
          <p:nvPr/>
        </p:nvSpPr>
        <p:spPr>
          <a:xfrm>
            <a:off x="3733800" y="240030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source rows audited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84437C-0F33-4E10-9E0C-21305A71B12C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55"/>
          </a:bodyPr>
          <a:lstStyle/>
          <a:p>
            <a:pPr>
              <a:defRPr sz="4350" b="1">
                <a:solidFill>
                  <a:srgbClr val="6D8FB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6D8FB3"/>
                </a:solidFill>
                <a:latin typeface="Aptos"/>
                <a:ea typeface="Aptos"/>
                <a:cs typeface="Aptos"/>
              </a:rPr>
              <a:t>25/25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4F7C3-E886-48D5-8617-A59DCF051F3B}"/>
              </a:ext>
            </a:extLst>
          </p:cNvPr>
          <p:cNvSpPr>
            <a:spLocks noGrp="1"/>
          </p:cNvSpPr>
          <p:nvPr/>
        </p:nvSpPr>
        <p:spPr>
          <a:xfrm>
            <a:off x="6762750" y="2400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dbt models and tests passed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7EA7D-C663-41E2-9513-34A744A2069C}"/>
              </a:ext>
            </a:extLst>
          </p:cNvPr>
          <p:cNvSpPr>
            <a:spLocks noGrp="1"/>
          </p:cNvSpPr>
          <p:nvPr/>
        </p:nvSpPr>
        <p:spPr>
          <a:xfrm>
            <a:off x="9639300" y="1695450"/>
            <a:ext cx="1809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55"/>
          </a:bodyPr>
          <a:lstStyle/>
          <a:p>
            <a:pPr>
              <a:defRPr sz="4350" b="1">
                <a:solidFill>
                  <a:srgbClr val="1FB6A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B6A6"/>
                </a:solidFill>
                <a:latin typeface="Aptos"/>
                <a:ea typeface="Aptos"/>
                <a:cs typeface="Aptos"/>
              </a:rPr>
              <a:t>5.57%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13CF4-E1A3-4E53-8DC0-2A88C4AADBC8}"/>
              </a:ext>
            </a:extLst>
          </p:cNvPr>
          <p:cNvSpPr>
            <a:spLocks noGrp="1"/>
          </p:cNvSpPr>
          <p:nvPr/>
        </p:nvSpPr>
        <p:spPr>
          <a:xfrm>
            <a:off x="9696450" y="2400300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253"/>
          </a:bodyPr>
          <a:lstStyle/>
          <a:p>
            <a:pPr>
              <a:defRPr sz="120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capacity model coverage under conservative rules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12695-C9BA-450C-A832-309EE17E2952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10725150" cy="9525"/>
          </a:xfrm>
          <a:prstGeom prst="rect">
            <a:avLst/>
          </a:prstGeom>
          <a:solidFill>
            <a:srgbClr val="CAD7DD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D7A74-6F0F-4097-A7C8-DE3A28F176A8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32194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550FAF-22F8-48CE-BE06-4ABC2AD3846A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57150" cy="1390650"/>
          </a:xfrm>
          <a:prstGeom prst="rect">
            <a:avLst/>
          </a:prstGeom>
          <a:solidFill>
            <a:srgbClr val="1FB6A6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088505-7A37-4057-A977-BFC716610679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Demo strengths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108D9-C447-4BFE-A12D-8AD6F471EC6E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28003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223"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Runnable local flow, visible policy diagnostics, verified write patterns, and structured escalation rather than raw transcripts.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A73DF3-98ED-448F-A398-FA5D532DA0DD}"/>
              </a:ext>
            </a:extLst>
          </p:cNvPr>
          <p:cNvSpPr>
            <a:spLocks noGrp="1"/>
          </p:cNvSpPr>
          <p:nvPr/>
        </p:nvSpPr>
        <p:spPr>
          <a:xfrm>
            <a:off x="4476750" y="3886200"/>
            <a:ext cx="32194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F724A4-981D-440A-85C0-9D10E8838694}"/>
              </a:ext>
            </a:extLst>
          </p:cNvPr>
          <p:cNvSpPr>
            <a:spLocks noGrp="1"/>
          </p:cNvSpPr>
          <p:nvPr/>
        </p:nvSpPr>
        <p:spPr>
          <a:xfrm>
            <a:off x="4476750" y="3886200"/>
            <a:ext cx="57150" cy="1390650"/>
          </a:xfrm>
          <a:prstGeom prst="rect">
            <a:avLst/>
          </a:prstGeom>
          <a:solidFill>
            <a:srgbClr val="C9A45C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B14287-89D8-473D-9A2F-CF345642B288}"/>
              </a:ext>
            </a:extLst>
          </p:cNvPr>
          <p:cNvSpPr>
            <a:spLocks noGrp="1"/>
          </p:cNvSpPr>
          <p:nvPr/>
        </p:nvSpPr>
        <p:spPr>
          <a:xfrm>
            <a:off x="4686300" y="40576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Honest limitation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22D667-A70A-4AAC-8EE8-B00AE2DBA9EC}"/>
              </a:ext>
            </a:extLst>
          </p:cNvPr>
          <p:cNvSpPr>
            <a:spLocks noGrp="1"/>
          </p:cNvSpPr>
          <p:nvPr/>
        </p:nvSpPr>
        <p:spPr>
          <a:xfrm>
            <a:off x="4686300" y="4457700"/>
            <a:ext cx="28003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main chatbot endpoint should still move onto the stricter orchestrator and grounding path before production use.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79073E-2C78-4B3D-B498-FBAFC667D66F}"/>
              </a:ext>
            </a:extLst>
          </p:cNvPr>
          <p:cNvSpPr>
            <a:spLocks noGrp="1"/>
          </p:cNvSpPr>
          <p:nvPr/>
        </p:nvSpPr>
        <p:spPr>
          <a:xfrm>
            <a:off x="8172450" y="3886200"/>
            <a:ext cx="32194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7"/>
            </a:solidFill>
          </a:ln>
        </p:spPr>
        <p:txBody>
          <a:bodyPr/>
          <a:lstStyle/>
          <a:p>
            <a:endParaRPr lang="en-C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9BDE09-3167-4C92-AA88-4E84B44D16F2}"/>
              </a:ext>
            </a:extLst>
          </p:cNvPr>
          <p:cNvSpPr>
            <a:spLocks noGrp="1"/>
          </p:cNvSpPr>
          <p:nvPr/>
        </p:nvSpPr>
        <p:spPr>
          <a:xfrm>
            <a:off x="8172450" y="3886200"/>
            <a:ext cx="57150" cy="1390650"/>
          </a:xfrm>
          <a:prstGeom prst="rect">
            <a:avLst/>
          </a:prstGeom>
          <a:solidFill>
            <a:srgbClr val="6D8FB3"/>
          </a:solidFill>
          <a:ln w="0">
            <a:noFill/>
          </a:ln>
        </p:spPr>
        <p:txBody>
          <a:bodyPr/>
          <a:lstStyle/>
          <a:p>
            <a:endParaRPr lang="en-C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9674E4-5D6F-4A21-9BED-F97903EE89C5}"/>
              </a:ext>
            </a:extLst>
          </p:cNvPr>
          <p:cNvSpPr>
            <a:spLocks noGrp="1"/>
          </p:cNvSpPr>
          <p:nvPr/>
        </p:nvSpPr>
        <p:spPr>
          <a:xfrm>
            <a:off x="8382000" y="40576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Submission fit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8BEE97-A9E1-4A03-9273-4844B32D8628}"/>
              </a:ext>
            </a:extLst>
          </p:cNvPr>
          <p:cNvSpPr>
            <a:spLocks noGrp="1"/>
          </p:cNvSpPr>
          <p:nvPr/>
        </p:nvSpPr>
        <p:spPr>
          <a:xfrm>
            <a:off x="8382000" y="4457700"/>
            <a:ext cx="28003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five-slide deck, repository, live URL, and short demo video map directly to the Factored deliverables.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6F29C3-6F1F-4A0B-BF75-805B90DCC3F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B3D4D5-8227-40FD-941A-B1DBF075AE4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97493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Macintosh PowerPoint</Application>
  <DocSecurity>0</DocSecurity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Federico Vargas</cp:lastModifiedBy>
  <cp:revision>1</cp:revision>
  <dcterms:created xsi:type="dcterms:W3CDTF">2026-10-05T00:32:45Z</dcterms:created>
  <dcterms:modified xsi:type="dcterms:W3CDTF">2026-10-05T00:37:57Z</dcterms:modified>
</cp:coreProperties>
</file>
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778297f4264bf2" /><Relationship Type="http://schemas.openxmlformats.org/officeDocument/2006/relationships/extended-properties" Target="/docProps/app.xml" Id="R9b220d5c799b4de5" /><Relationship Type="http://schemas.openxmlformats.org/officeDocument/2006/relationships/officeDocument" Target="/ppt/presentation.xml" Id="Rdd5f80557a874bfb" /></Relationships>
</file>

<file path=ppt/presentation.xml><?xml version="1.0" encoding="utf-8"?>
<p:presentation xmlns:p="http://schemas.openxmlformats.org/presentationml/2006/main">
  <p:sldMasterIdLst>
    <p:sldMasterId xmlns:r="http://schemas.openxmlformats.org/officeDocument/2006/relationships" id="2147483648" r:id="R093770ffed9d47e2"/>
  </p:sldMasterIdLst>
  <p:notesMasterIdLst>
    <p:notesMasterId xmlns:r="http://schemas.openxmlformats.org/officeDocument/2006/relationships" r:id="R4575e94b7ad9449e"/>
  </p:notesMasterIdLst>
  <p:sldIdLst>
    <p:sldId xmlns:r="http://schemas.openxmlformats.org/officeDocument/2006/relationships" id="256" r:id="R36227edc1e6148d6"/>
    <p:sldId xmlns:r="http://schemas.openxmlformats.org/officeDocument/2006/relationships" id="257" r:id="R7092e707ee614e03"/>
    <p:sldId xmlns:r="http://schemas.openxmlformats.org/officeDocument/2006/relationships" id="258" r:id="Re17aef4e4d764657"/>
    <p:sldId xmlns:r="http://schemas.openxmlformats.org/officeDocument/2006/relationships" id="259" r:id="R9887ef5d653e4aac"/>
    <p:sldId xmlns:r="http://schemas.openxmlformats.org/officeDocument/2006/relationships" id="260" r:id="R6b35d294d44a4bb5"/>
    <p:sldId xmlns:r="http://schemas.openxmlformats.org/officeDocument/2006/relationships" id="261" r:id="R40e8d803e30045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3cebde2b8194a37" /><Relationship Type="http://schemas.openxmlformats.org/officeDocument/2006/relationships/slideMaster" Target="/ppt/slideMasters/slideMaster1.xml" Id="R093770ffed9d47e2" /><Relationship Type="http://schemas.openxmlformats.org/officeDocument/2006/relationships/notesMaster" Target="/ppt/notesMasters/notesMaster1.xml" Id="R4575e94b7ad9449e" /><Relationship Type="http://schemas.openxmlformats.org/officeDocument/2006/relationships/presProps" Target="/ppt/presProps.xml" Id="R775262a634804147" /><Relationship Type="http://schemas.openxmlformats.org/officeDocument/2006/relationships/viewProps" Target="/ppt/viewProps.xml" Id="Rb7e08886f1e2403c" /><Relationship Type="http://schemas.openxmlformats.org/officeDocument/2006/relationships/tableStyles" Target="/ppt/tableStyles.xml" Id="Rc9ec6223583e4ea6" /><Relationship Type="http://schemas.openxmlformats.org/officeDocument/2006/relationships/slide" Target="/ppt/slides/slide1.xml" Id="R36227edc1e6148d6" /><Relationship Type="http://schemas.openxmlformats.org/officeDocument/2006/relationships/slide" Target="/ppt/slides/slide2.xml" Id="R7092e707ee614e03" /><Relationship Type="http://schemas.openxmlformats.org/officeDocument/2006/relationships/slide" Target="/ppt/slides/slide3.xml" Id="Re17aef4e4d764657" /><Relationship Type="http://schemas.openxmlformats.org/officeDocument/2006/relationships/slide" Target="/ppt/slides/slide4.xml" Id="R9887ef5d653e4aac" /><Relationship Type="http://schemas.openxmlformats.org/officeDocument/2006/relationships/slide" Target="/ppt/slides/slide5.xml" Id="R6b35d294d44a4bb5" /><Relationship Type="http://schemas.openxmlformats.org/officeDocument/2006/relationships/slide" Target="/ppt/slides/slide6.xml" Id="R40e8d803e30045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adaefca28d47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4de2534a644d20" /><Relationship Type="http://schemas.openxmlformats.org/officeDocument/2006/relationships/notesMaster" Target="/ppt/notesMasters/notesMaster1.xml" Id="R15a537ecdc5e42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df9e408252400d" /><Relationship Type="http://schemas.openxmlformats.org/officeDocument/2006/relationships/notesMaster" Target="/ppt/notesMasters/notesMaster1.xml" Id="R550257b3b8ce4d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f91e4cf1b5466d" /><Relationship Type="http://schemas.openxmlformats.org/officeDocument/2006/relationships/notesMaster" Target="/ppt/notesMasters/notesMaster1.xml" Id="Ra8e97fa0d7584d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a90ffb91504a7a" /><Relationship Type="http://schemas.openxmlformats.org/officeDocument/2006/relationships/notesMaster" Target="/ppt/notesMasters/notesMaster1.xml" Id="Re0a5787be3c443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ef4f60824e40b0" /><Relationship Type="http://schemas.openxmlformats.org/officeDocument/2006/relationships/notesMaster" Target="/ppt/notesMasters/notesMaster1.xml" Id="Re06bbcb956db4d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d3257e05e14520" /><Relationship Type="http://schemas.openxmlformats.org/officeDocument/2006/relationships/notesMaster" Target="/ppt/notesMasters/notesMaster1.xml" Id="R6399abfb698e49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sections 1, 2, 3, 4, and 10; docs/00_challenge_brief.md.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NOEMA separates language understanding, identity checks, deterministic eligibility, tool execution, read-back verification, and structured escalation. Models support specific tasks: product-interest ranking and a bounded cash-flow estimate. They do not learn a defensible credit approval label from this dataset. The visible architecture is the repository design, not certification that every deployed endpoint enforces every control. Sources: README.md; agent/policies/engine.py; agent/core/orchestrator.py; agent/core/verifier.py; docs/23_executive_summary_validation.md. Audit total: 23,495,188 rows, from docs/federico_model_and_data_results.txt.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ml/model_cards/product_interest.json and deep_interest.json; ml/training/product_interest.py. Test period: May-November 2025, 1,216 positive cases, prevalence 0.489%. Baseline predicts the training conversion prior for every exposure. Logistic regression uses product, channel, prior sends and send month. Deep MLP uses the same inputs. Logistic test log loss improves by 5.48% relative to the prior, AP by 66.47%, and top-decile lift is 1.77x. These are retrospective ranking results, not causal uplift or credit approval accuracy. Selection uses validation, not the displayed test. Models remain marked production_ready=false. AP means average precision, ROC-AUC measures ranking, log loss evaluates probabilities, and lift compares top-decile conversion with the full test prevalence. The small absolute AP reflects the rare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ml/training/product_interest.py; ml/model_cards/deep_interest.json; ml/model_cards/depth_experiment.json; ml/training/depth_experiment.py. Product-interest preparation one-hot encodes categories, imputes numeric values using training medians with missingness indicators, and scales numerics. Logistic C=1.0, max_iter=1000, seed=42. MLP uses ReLU hidden layers, sigmoid output, Adam, alpha=0.01, learning rate=0.001, batch=1024, patience=4. The initial MLP run used at most 20 epochs and selected epoch 14. Follow-up depth study uses 30 epochs and seeds 42,43,44, with separate stopping and selection periods. Three-layer selection mean log loss=0.0325569, six-layer=0.0325812, logistic=0.0323455. Three-layer mean AP is higher, but logistic has better log loss and Brier. The recommendation remains logistic. Cleaning and validation controls improve evidence quality; no isolated ablation proves the metric contribution of each preprocessing step. No new training is claimed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data/models/capacity.json; ml/training/capacity.py. Target=min(max(monthly deposits-monthly outflows,0),0.30*monthly deposits). Baseline=min(previous-three-month minimum surplus,0.30*previous-three-month mean deposits). LinearRegression(positive=True) predicts the future target from mean deposits, mean outflows, minimum surplus and active months. Prediction is clipped to [0, baseline], so the learned model can only lower this ceiling. Last two complete months form validation. Training is capped at 150,000 rows with seed 42 after deterministic customer sampling hash(customer_id)%20=0. Metrics describe all 14,820 validation rows, not only the 825 rows meeting serving evidence requirements. Eligibility for serving requires three active months and no ambiguous transfers/adjustments. Aggregate MAE 92,731.04 baseline vs 92,369.45 model gives 0.39% reduction, but mixes currencies and must not support cross-country claims. No observed solvency/default label and no external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agent/policies/eligibility_v1.yaml (version:3, effective 2026-10-02, data cutoff 2025-12-31); agent/policies/engine.py; agent/tools/credit.py; agent/core/verifier.py. Rules are prototype business choices, not regulatory thresholds. Missing positive income or missing credit limit/rate causes abstention. Additional product requires 6 months tenure; at 4 existing credit products no new offer; current DTI&gt;=60% blocks; current granted exposure&gt;3*annual income blocks. DTI budget is normally 40%, or 45% when reserves cover &gt;=6 months of positive current obligations. Policy margin=max(0,DTI budget*income-current obligations). Available capacity caps this margin; absent capacity multiplies it by 0.80 and excludes mortgages. Per-product checks include segment, minimum, maximum, term and reserves. Tools record a quote and read it back before success. A quote is not a disbursement. The strict path has these controls, while end-to-end deployment enforcement requires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5bc7f639784d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818eff6ae04343" /><Relationship Type="http://schemas.openxmlformats.org/officeDocument/2006/relationships/slideLayout" Target="/ppt/slideLayouts/slideLayout1.xml" Id="R11390ae3721a41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390ae3721a41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8e41a5245b4c75" /><Relationship Type="http://schemas.openxmlformats.org/officeDocument/2006/relationships/image" Target="/ppt/media/image.png" Id="R3cfc6487ac3d4bab" /><Relationship Type="http://schemas.openxmlformats.org/officeDocument/2006/relationships/notesSlide" Target="/ppt/notesSlides/notesSlide1.xml" Id="R9389bc02cab742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48b3e1e868468d" /><Relationship Type="http://schemas.openxmlformats.org/officeDocument/2006/relationships/notesSlide" Target="/ppt/notesSlides/notesSlide2.xml" Id="Rb68fa10646174c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670e88dbc84078" /><Relationship Type="http://schemas.openxmlformats.org/officeDocument/2006/relationships/notesSlide" Target="/ppt/notesSlides/notesSlide3.xml" Id="R86f74957e3e147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5c71916a634a75" /><Relationship Type="http://schemas.openxmlformats.org/officeDocument/2006/relationships/notesSlide" Target="/ppt/notesSlides/notesSlide4.xml" Id="R29550d731aec40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764acfbadc43ff" /><Relationship Type="http://schemas.openxmlformats.org/officeDocument/2006/relationships/notesSlide" Target="/ppt/notesSlides/notesSlide5.xml" Id="Ra5a1d1eaff7745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d3d66127f84014" /><Relationship Type="http://schemas.openxmlformats.org/officeDocument/2006/relationships/notesSlide" Target="/ppt/notesSlides/notesSlide6.xml" Id="R7dd882c5c9cc4f6d" /></Relationships>
</file>

<file path=ppt/slides/slide1.xml><?xml version="1.0" encoding="utf-8"?>
<p:sld xmlns:p="http://schemas.openxmlformats.org/presentationml/2006/main">
  <p:cSld>
    <p:bg>
      <p:bgPr>
        <a:solidFill xmlns:a="http://schemas.openxmlformats.org/drawingml/2006/main">
          <a:srgbClr val="071826"/>
        </a:solidFill>
      </p:bgPr>
    </p:bg>
    <p:spTree>
      <p:nvGrpSpPr>
        <p:cNvPr id="1" name=""/>
        <p:cNvGrpSpPr/>
        <p:nvPr/>
      </p:nvGrpSpPr>
      <p:grpSpPr>
        <a:xfrm xmlns:a="http://schemas.openxmlformats.org/drawingml/2006/main"/>
      </p:grpSpPr>
      <p:pic>
        <p:nvPicPr>
          <p:cNvPr id="9" name="Picture 7"/>
          <p:cNvPicPr>
            <a:picLocks xmlns:a="http://schemas.openxmlformats.org/drawingml/2006/main" noChangeAspect="1"/>
          </p:cNvPicPr>
          <p:nvPr/>
        </p:nvPicPr>
        <p:blipFill>
          <a:blip xmlns:r="http://schemas.openxmlformats.org/officeDocument/2006/relationships" xmlns:a="http://schemas.openxmlformats.org/drawingml/2006/main" r:embed="R3cfc6487ac3d4b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ctangle 1">
            <a:extLst xmlns:a="http://schemas.openxmlformats.org/drawingml/2006/main">
              <a:ext uri="{FF2B5EF4-FFF2-40B4-BE49-F238E27FC236}">
                <a16:creationId xmlns:a16="http://schemas.microsoft.com/office/drawing/2014/main" id="{99662736-A823-43A8-9B57-6ADCC932941E}"/>
              </a:ext>
            </a:extLst>
          </p:cNvPr>
          <p:cNvSpPr>
            <a:spLocks xmlns:a="http://schemas.openxmlformats.org/drawingml/2006/main" noGrp="1"/>
          </p:cNvSpPr>
          <p:nvPr/>
        </p:nvSpPr>
        <p:spPr>
          <a:xfrm xmlns:a="http://schemas.openxmlformats.org/drawingml/2006/main">
            <a:off x="0" y="0"/>
            <a:ext cx="5619750" cy="6858000"/>
          </a:xfrm>
          <a:prstGeom xmlns:a="http://schemas.openxmlformats.org/drawingml/2006/main" prst="rect">
            <a:avLst/>
          </a:prstGeom>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Rectangle 2">
            <a:extLst xmlns:a="http://schemas.openxmlformats.org/drawingml/2006/main">
              <a:ext uri="{FF2B5EF4-FFF2-40B4-BE49-F238E27FC236}">
                <a16:creationId xmlns:a16="http://schemas.microsoft.com/office/drawing/2014/main" id="{1195EF7D-F026-4A57-A05F-34B29FC01A1F}"/>
              </a:ext>
            </a:extLst>
          </p:cNvPr>
          <p:cNvSpPr>
            <a:spLocks xmlns:a="http://schemas.openxmlformats.org/drawingml/2006/main" noGrp="1"/>
          </p:cNvSpPr>
          <p:nvPr/>
        </p:nvSpPr>
        <p:spPr>
          <a:xfrm xmlns:a="http://schemas.openxmlformats.org/drawingml/2006/main">
            <a:off x="704850" y="15240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02"/>
          </a:bodyPr>
          <a:lstStyle xmlns:a="http://schemas.openxmlformats.org/drawingml/2006/main"/>
          <a:p xmlns:a="http://schemas.openxmlformats.org/drawingml/2006/main">
            <a:pPr>
              <a:buNone/>
              <a:defRPr sz="4350" b="1">
                <a:solidFill>
                  <a:srgbClr val="FFFFFF"/>
                </a:solidFill>
                <a:latin typeface="Aptos"/>
                <a:ea typeface="Aptos"/>
                <a:cs typeface="Aptos"/>
              </a:defRPr>
            </a:pPr>
            <a:r>
              <a:rPr sz="4350" b="1">
                <a:solidFill>
                  <a:srgbClr val="FFFFFF"/>
                </a:solidFill>
                <a:latin typeface="Aptos"/>
                <a:ea typeface="Aptos"/>
                <a:cs typeface="Aptos"/>
              </a:rPr>
              <a:t>NOEMA</a:t>
            </a:r>
          </a:p>
        </p:txBody>
      </p:sp>
      <p:sp>
        <p:nvSpPr>
          <p:cNvPr id="4" name="Rectangle 3">
            <a:extLst xmlns:a="http://schemas.openxmlformats.org/drawingml/2006/main">
              <a:ext uri="{FF2B5EF4-FFF2-40B4-BE49-F238E27FC236}">
                <a16:creationId xmlns:a16="http://schemas.microsoft.com/office/drawing/2014/main" id="{F7957355-4605-408F-964D-8F6FF755F2E5}"/>
              </a:ext>
            </a:extLst>
          </p:cNvPr>
          <p:cNvSpPr>
            <a:spLocks xmlns:a="http://schemas.openxmlformats.org/drawingml/2006/main" noGrp="1"/>
          </p:cNvSpPr>
          <p:nvPr/>
        </p:nvSpPr>
        <p:spPr>
          <a:xfrm xmlns:a="http://schemas.openxmlformats.org/drawingml/2006/main">
            <a:off x="742950" y="2324100"/>
            <a:ext cx="4143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875" b="0">
                <a:solidFill>
                  <a:srgbClr val="F6F3EC"/>
                </a:solidFill>
                <a:latin typeface="Aptos"/>
                <a:ea typeface="Aptos"/>
                <a:cs typeface="Aptos"/>
              </a:defRPr>
            </a:pPr>
            <a:r>
              <a:rPr sz="1875" b="0">
                <a:solidFill>
                  <a:srgbClr val="F6F3EC"/>
                </a:solidFill>
                <a:latin typeface="Aptos"/>
                <a:ea typeface="Aptos"/>
                <a:cs typeface="Aptos"/>
              </a:rPr>
              <a:t>Credit eligibility assistant for safer banking conversations</a:t>
            </a:r>
          </a:p>
        </p:txBody>
      </p:sp>
      <p:sp>
        <p:nvSpPr>
          <p:cNvPr id="5" name="Rectangle 4">
            <a:extLst xmlns:a="http://schemas.openxmlformats.org/drawingml/2006/main">
              <a:ext uri="{FF2B5EF4-FFF2-40B4-BE49-F238E27FC236}">
                <a16:creationId xmlns:a16="http://schemas.microsoft.com/office/drawing/2014/main" id="{FBA26EF3-746F-4063-8265-56B28AD0017E}"/>
              </a:ext>
            </a:extLst>
          </p:cNvPr>
          <p:cNvSpPr>
            <a:spLocks xmlns:a="http://schemas.openxmlformats.org/drawingml/2006/main" noGrp="1"/>
          </p:cNvSpPr>
          <p:nvPr/>
        </p:nvSpPr>
        <p:spPr>
          <a:xfrm xmlns:a="http://schemas.openxmlformats.org/drawingml/2006/main">
            <a:off x="762000" y="3352800"/>
            <a:ext cx="819150" cy="47625"/>
          </a:xfrm>
          <a:prstGeom xmlns:a="http://schemas.openxmlformats.org/drawingml/2006/main" prst="rect">
            <a:avLst/>
          </a:prstGeom>
          <a:solidFill xmlns:a="http://schemas.openxmlformats.org/drawingml/2006/main">
            <a:srgbClr val="C9A4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EF13C7E4-3E13-4A23-A1D0-E2AEF21F1665}"/>
              </a:ext>
            </a:extLst>
          </p:cNvPr>
          <p:cNvSpPr>
            <a:spLocks xmlns:a="http://schemas.openxmlformats.org/drawingml/2006/main" noGrp="1"/>
          </p:cNvSpPr>
          <p:nvPr/>
        </p:nvSpPr>
        <p:spPr>
          <a:xfrm xmlns:a="http://schemas.openxmlformats.org/drawingml/2006/main">
            <a:off x="762000" y="36766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D9E3E7"/>
                </a:solidFill>
                <a:latin typeface="Aptos"/>
                <a:ea typeface="Aptos"/>
                <a:cs typeface="Aptos"/>
              </a:defRPr>
            </a:pPr>
            <a:r>
              <a:rPr sz="1200" b="0">
                <a:solidFill>
                  <a:srgbClr val="D9E3E7"/>
                </a:solidFill>
                <a:latin typeface="Aptos"/>
                <a:ea typeface="Aptos"/>
                <a:cs typeface="Aptos"/>
              </a:rPr>
              <a:t>Built for Factored AI &amp; Data Hackathon 2026</a:t>
            </a:r>
          </a:p>
        </p:txBody>
      </p:sp>
      <p:sp>
        <p:nvSpPr>
          <p:cNvPr id="7" name="Rectangle 6">
            <a:extLst xmlns:a="http://schemas.openxmlformats.org/drawingml/2006/main">
              <a:ext uri="{FF2B5EF4-FFF2-40B4-BE49-F238E27FC236}">
                <a16:creationId xmlns:a16="http://schemas.microsoft.com/office/drawing/2014/main" id="{8E342728-C106-4B2E-9AF9-8F68F4E53A25}"/>
              </a:ext>
            </a:extLst>
          </p:cNvPr>
          <p:cNvSpPr>
            <a:spLocks xmlns:a="http://schemas.openxmlformats.org/drawingml/2006/main" noGrp="1"/>
          </p:cNvSpPr>
          <p:nvPr/>
        </p:nvSpPr>
        <p:spPr>
          <a:xfrm xmlns:a="http://schemas.openxmlformats.org/drawingml/2006/main">
            <a:off x="762000" y="40005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BACAD1"/>
                </a:solidFill>
                <a:latin typeface="Aptos"/>
                <a:ea typeface="Aptos"/>
                <a:cs typeface="Aptos"/>
              </a:defRPr>
            </a:pPr>
            <a:r>
              <a:rPr sz="1125" b="0">
                <a:solidFill>
                  <a:srgbClr val="BACAD1"/>
                </a:solidFill>
                <a:latin typeface="Aptos"/>
                <a:ea typeface="Aptos"/>
                <a:cs typeface="Aptos"/>
              </a:rPr>
              <a:t>Spanish and Portuguese · verified data · deterministic credit policy · structured human handoff</a:t>
            </a:r>
          </a:p>
        </p:txBody>
      </p:sp>
    </p:spTree>
    <p:extLst>
      <p:ext uri="{BB962C8B-B14F-4D97-AF65-F5344CB8AC3E}">
        <p14:creationId xmlns:p14="http://schemas.microsoft.com/office/powerpoint/2010/main" val="2517620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3D823D7-A1CE-4A61-B33E-CC39DE6FB2B2}"/>
              </a:ext>
            </a:extLst>
          </p:cNvPr>
          <p:cNvSpPr>
            <a:spLocks xmlns:a="http://schemas.openxmlformats.org/drawingml/2006/main" noGrp="1"/>
          </p:cNvSpPr>
          <p:nvPr/>
        </p:nvSpPr>
        <p:spPr>
          <a:xfrm xmlns:a="http://schemas.openxmlformats.org/drawingml/2006/main">
            <a:off x="666750" y="400050"/>
            <a:ext cx="800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550" b="1">
                <a:solidFill>
                  <a:srgbClr val="132433"/>
                </a:solidFill>
                <a:latin typeface="Aptos"/>
                <a:ea typeface="Aptos"/>
                <a:cs typeface="Aptos"/>
              </a:defRPr>
            </a:pPr>
            <a:r>
              <a:rPr sz="2550" b="1">
                <a:solidFill>
                  <a:srgbClr val="132433"/>
                </a:solidFill>
                <a:latin typeface="Aptos"/>
                <a:ea typeface="Aptos"/>
                <a:cs typeface="Aptos"/>
              </a:rPr>
              <a:t>System architecture</a:t>
            </a:r>
          </a:p>
        </p:txBody>
      </p:sp>
      <p:sp>
        <p:nvSpPr>
          <p:cNvPr id="2" name="Rectangle 1">
            <a:extLst xmlns:a="http://schemas.openxmlformats.org/drawingml/2006/main">
              <a:ext uri="{FF2B5EF4-FFF2-40B4-BE49-F238E27FC236}">
                <a16:creationId xmlns:a16="http://schemas.microsoft.com/office/drawing/2014/main" id="{E8A5E69E-E3E5-40DD-9896-5CE55D81D795}"/>
              </a:ext>
            </a:extLst>
          </p:cNvPr>
          <p:cNvSpPr>
            <a:spLocks xmlns:a="http://schemas.openxmlformats.org/drawingml/2006/main" noGrp="1"/>
          </p:cNvSpPr>
          <p:nvPr/>
        </p:nvSpPr>
        <p:spPr>
          <a:xfrm xmlns:a="http://schemas.openxmlformats.org/drawingml/2006/main">
            <a:off x="685800" y="9144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5E7180"/>
                </a:solidFill>
                <a:latin typeface="Aptos"/>
                <a:ea typeface="Aptos"/>
                <a:cs typeface="Aptos"/>
              </a:defRPr>
            </a:pPr>
            <a:r>
              <a:rPr sz="1275" b="0">
                <a:solidFill>
                  <a:srgbClr val="5E7180"/>
                </a:solidFill>
                <a:latin typeface="Aptos"/>
                <a:ea typeface="Aptos"/>
                <a:cs typeface="Aptos"/>
              </a:rPr>
              <a:t>Credit conversations require evidence, a policy decision, and confirmation of every recorded action.</a:t>
            </a:r>
          </a:p>
        </p:txBody>
      </p:sp>
      <p:sp>
        <p:nvSpPr>
          <p:cNvPr id="3" name="Rectangle 2">
            <a:extLst xmlns:a="http://schemas.openxmlformats.org/drawingml/2006/main">
              <a:ext uri="{FF2B5EF4-FFF2-40B4-BE49-F238E27FC236}">
                <a16:creationId xmlns:a16="http://schemas.microsoft.com/office/drawing/2014/main" id="{5C75FC9D-DE69-43A5-BFD8-8D6CAF13BE2D}"/>
              </a:ext>
            </a:extLst>
          </p:cNvPr>
          <p:cNvSpPr>
            <a:spLocks xmlns:a="http://schemas.openxmlformats.org/drawingml/2006/main" noGrp="1"/>
          </p:cNvSpPr>
          <p:nvPr/>
        </p:nvSpPr>
        <p:spPr>
          <a:xfrm xmlns:a="http://schemas.openxmlformats.org/drawingml/2006/main">
            <a:off x="666750" y="127635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13436ACA-5BE3-48C2-96B4-2C733F2F2249}"/>
              </a:ext>
            </a:extLst>
          </p:cNvPr>
          <p:cNvSpPr>
            <a:spLocks xmlns:a="http://schemas.openxmlformats.org/drawingml/2006/main" noGrp="1"/>
          </p:cNvSpPr>
          <p:nvPr/>
        </p:nvSpPr>
        <p:spPr>
          <a:xfrm xmlns:a="http://schemas.openxmlformats.org/drawingml/2006/main">
            <a:off x="66675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590DA7AA-94DC-41E7-A022-0DA521004522}"/>
              </a:ext>
            </a:extLst>
          </p:cNvPr>
          <p:cNvSpPr>
            <a:spLocks xmlns:a="http://schemas.openxmlformats.org/drawingml/2006/main" noGrp="1"/>
          </p:cNvSpPr>
          <p:nvPr/>
        </p:nvSpPr>
        <p:spPr>
          <a:xfrm xmlns:a="http://schemas.openxmlformats.org/drawingml/2006/main">
            <a:off x="66675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C1AAA5B0-26AF-4461-9C9B-74C6CE8EF756}"/>
              </a:ext>
            </a:extLst>
          </p:cNvPr>
          <p:cNvSpPr>
            <a:spLocks xmlns:a="http://schemas.openxmlformats.org/drawingml/2006/main" noGrp="1"/>
          </p:cNvSpPr>
          <p:nvPr/>
        </p:nvSpPr>
        <p:spPr>
          <a:xfrm xmlns:a="http://schemas.openxmlformats.org/drawingml/2006/main">
            <a:off x="80010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Understand</a:t>
            </a:r>
          </a:p>
        </p:txBody>
      </p:sp>
      <p:sp>
        <p:nvSpPr>
          <p:cNvPr id="7" name="Rectangle 6">
            <a:extLst xmlns:a="http://schemas.openxmlformats.org/drawingml/2006/main">
              <a:ext uri="{FF2B5EF4-FFF2-40B4-BE49-F238E27FC236}">
                <a16:creationId xmlns:a16="http://schemas.microsoft.com/office/drawing/2014/main" id="{83C29010-FD88-4F47-9E14-EDA5329CB04D}"/>
              </a:ext>
            </a:extLst>
          </p:cNvPr>
          <p:cNvSpPr>
            <a:spLocks xmlns:a="http://schemas.openxmlformats.org/drawingml/2006/main" noGrp="1"/>
          </p:cNvSpPr>
          <p:nvPr/>
        </p:nvSpPr>
        <p:spPr>
          <a:xfrm xmlns:a="http://schemas.openxmlformats.org/drawingml/2006/main">
            <a:off x="80010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28"/>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Intent, language, slots, missing facts</a:t>
            </a:r>
          </a:p>
        </p:txBody>
      </p:sp>
      <p:sp>
        <p:nvSpPr>
          <p:cNvPr id="8" name="Rectangle 7">
            <a:extLst xmlns:a="http://schemas.openxmlformats.org/drawingml/2006/main">
              <a:ext uri="{FF2B5EF4-FFF2-40B4-BE49-F238E27FC236}">
                <a16:creationId xmlns:a16="http://schemas.microsoft.com/office/drawing/2014/main" id="{D44C0562-91C6-42DA-A2E5-E92F10202F34}"/>
              </a:ext>
            </a:extLst>
          </p:cNvPr>
          <p:cNvSpPr>
            <a:spLocks xmlns:a="http://schemas.openxmlformats.org/drawingml/2006/main" noGrp="1"/>
          </p:cNvSpPr>
          <p:nvPr/>
        </p:nvSpPr>
        <p:spPr>
          <a:xfrm xmlns:a="http://schemas.openxmlformats.org/drawingml/2006/main">
            <a:off x="242887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0205D195-D134-480E-8BB1-E87035D0C02A}"/>
              </a:ext>
            </a:extLst>
          </p:cNvPr>
          <p:cNvSpPr>
            <a:spLocks xmlns:a="http://schemas.openxmlformats.org/drawingml/2006/main" noGrp="1"/>
          </p:cNvSpPr>
          <p:nvPr/>
        </p:nvSpPr>
        <p:spPr>
          <a:xfrm xmlns:a="http://schemas.openxmlformats.org/drawingml/2006/main">
            <a:off x="242887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E62D1BE-0FEA-4A03-9918-7A502DDFBE7F}"/>
              </a:ext>
            </a:extLst>
          </p:cNvPr>
          <p:cNvSpPr>
            <a:spLocks xmlns:a="http://schemas.openxmlformats.org/drawingml/2006/main" noGrp="1"/>
          </p:cNvSpPr>
          <p:nvPr/>
        </p:nvSpPr>
        <p:spPr>
          <a:xfrm xmlns:a="http://schemas.openxmlformats.org/drawingml/2006/main">
            <a:off x="256222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Access guard</a:t>
            </a:r>
          </a:p>
        </p:txBody>
      </p:sp>
      <p:sp>
        <p:nvSpPr>
          <p:cNvPr id="11" name="Rectangle 10">
            <a:extLst xmlns:a="http://schemas.openxmlformats.org/drawingml/2006/main">
              <a:ext uri="{FF2B5EF4-FFF2-40B4-BE49-F238E27FC236}">
                <a16:creationId xmlns:a16="http://schemas.microsoft.com/office/drawing/2014/main" id="{79C429D7-0B00-4FB8-A9B4-A048FDB8DEAF}"/>
              </a:ext>
            </a:extLst>
          </p:cNvPr>
          <p:cNvSpPr>
            <a:spLocks xmlns:a="http://schemas.openxmlformats.org/drawingml/2006/main" noGrp="1"/>
          </p:cNvSpPr>
          <p:nvPr/>
        </p:nvSpPr>
        <p:spPr>
          <a:xfrm xmlns:a="http://schemas.openxmlformats.org/drawingml/2006/main">
            <a:off x="256222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222"/>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Document and birth date check</a:t>
            </a:r>
          </a:p>
        </p:txBody>
      </p:sp>
      <p:sp>
        <p:nvSpPr>
          <p:cNvPr id="12" name="Rectangle 11">
            <a:extLst xmlns:a="http://schemas.openxmlformats.org/drawingml/2006/main">
              <a:ext uri="{FF2B5EF4-FFF2-40B4-BE49-F238E27FC236}">
                <a16:creationId xmlns:a16="http://schemas.microsoft.com/office/drawing/2014/main" id="{EAE4A5F1-BD2D-4CB9-8A6A-7E9D616120F5}"/>
              </a:ext>
            </a:extLst>
          </p:cNvPr>
          <p:cNvSpPr>
            <a:spLocks xmlns:a="http://schemas.openxmlformats.org/drawingml/2006/main" noGrp="1"/>
          </p:cNvSpPr>
          <p:nvPr/>
        </p:nvSpPr>
        <p:spPr>
          <a:xfrm xmlns:a="http://schemas.openxmlformats.org/drawingml/2006/main">
            <a:off x="419100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5E9D4279-D841-418E-A069-8FBDCD098FCD}"/>
              </a:ext>
            </a:extLst>
          </p:cNvPr>
          <p:cNvSpPr>
            <a:spLocks xmlns:a="http://schemas.openxmlformats.org/drawingml/2006/main" noGrp="1"/>
          </p:cNvSpPr>
          <p:nvPr/>
        </p:nvSpPr>
        <p:spPr>
          <a:xfrm xmlns:a="http://schemas.openxmlformats.org/drawingml/2006/main">
            <a:off x="419100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25AD519F-3E47-4899-98FA-809A29503E81}"/>
              </a:ext>
            </a:extLst>
          </p:cNvPr>
          <p:cNvSpPr>
            <a:spLocks xmlns:a="http://schemas.openxmlformats.org/drawingml/2006/main" noGrp="1"/>
          </p:cNvSpPr>
          <p:nvPr/>
        </p:nvSpPr>
        <p:spPr>
          <a:xfrm xmlns:a="http://schemas.openxmlformats.org/drawingml/2006/main">
            <a:off x="432435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Decide</a:t>
            </a:r>
          </a:p>
        </p:txBody>
      </p:sp>
      <p:sp>
        <p:nvSpPr>
          <p:cNvPr id="15" name="Rectangle 14">
            <a:extLst xmlns:a="http://schemas.openxmlformats.org/drawingml/2006/main">
              <a:ext uri="{FF2B5EF4-FFF2-40B4-BE49-F238E27FC236}">
                <a16:creationId xmlns:a16="http://schemas.microsoft.com/office/drawing/2014/main" id="{5367D352-0CD2-40C3-8AAE-46FDE5EEA77C}"/>
              </a:ext>
            </a:extLst>
          </p:cNvPr>
          <p:cNvSpPr>
            <a:spLocks xmlns:a="http://schemas.openxmlformats.org/drawingml/2006/main" noGrp="1"/>
          </p:cNvSpPr>
          <p:nvPr/>
        </p:nvSpPr>
        <p:spPr>
          <a:xfrm xmlns:a="http://schemas.openxmlformats.org/drawingml/2006/main">
            <a:off x="432435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043"/>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Versioned policy with capacity cap</a:t>
            </a:r>
          </a:p>
        </p:txBody>
      </p:sp>
      <p:sp>
        <p:nvSpPr>
          <p:cNvPr id="16" name="Rectangle 15">
            <a:extLst xmlns:a="http://schemas.openxmlformats.org/drawingml/2006/main">
              <a:ext uri="{FF2B5EF4-FFF2-40B4-BE49-F238E27FC236}">
                <a16:creationId xmlns:a16="http://schemas.microsoft.com/office/drawing/2014/main" id="{9D9968BE-E1FD-4B30-95E6-B675DB216842}"/>
              </a:ext>
            </a:extLst>
          </p:cNvPr>
          <p:cNvSpPr>
            <a:spLocks xmlns:a="http://schemas.openxmlformats.org/drawingml/2006/main" noGrp="1"/>
          </p:cNvSpPr>
          <p:nvPr/>
        </p:nvSpPr>
        <p:spPr>
          <a:xfrm xmlns:a="http://schemas.openxmlformats.org/drawingml/2006/main">
            <a:off x="595312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8B6617C4-3CF9-436F-A117-64B50DBD8829}"/>
              </a:ext>
            </a:extLst>
          </p:cNvPr>
          <p:cNvSpPr>
            <a:spLocks xmlns:a="http://schemas.openxmlformats.org/drawingml/2006/main" noGrp="1"/>
          </p:cNvSpPr>
          <p:nvPr/>
        </p:nvSpPr>
        <p:spPr>
          <a:xfrm xmlns:a="http://schemas.openxmlformats.org/drawingml/2006/main">
            <a:off x="595312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EA278D6C-ABA6-4DEE-8E11-B543A4442E23}"/>
              </a:ext>
            </a:extLst>
          </p:cNvPr>
          <p:cNvSpPr>
            <a:spLocks xmlns:a="http://schemas.openxmlformats.org/drawingml/2006/main" noGrp="1"/>
          </p:cNvSpPr>
          <p:nvPr/>
        </p:nvSpPr>
        <p:spPr>
          <a:xfrm xmlns:a="http://schemas.openxmlformats.org/drawingml/2006/main">
            <a:off x="608647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Act</a:t>
            </a:r>
          </a:p>
        </p:txBody>
      </p:sp>
      <p:sp>
        <p:nvSpPr>
          <p:cNvPr id="19" name="Rectangle 18">
            <a:extLst xmlns:a="http://schemas.openxmlformats.org/drawingml/2006/main">
              <a:ext uri="{FF2B5EF4-FFF2-40B4-BE49-F238E27FC236}">
                <a16:creationId xmlns:a16="http://schemas.microsoft.com/office/drawing/2014/main" id="{543BCC19-A84B-47E4-A047-D38F63A84680}"/>
              </a:ext>
            </a:extLst>
          </p:cNvPr>
          <p:cNvSpPr>
            <a:spLocks xmlns:a="http://schemas.openxmlformats.org/drawingml/2006/main" noGrp="1"/>
          </p:cNvSpPr>
          <p:nvPr/>
        </p:nvSpPr>
        <p:spPr>
          <a:xfrm xmlns:a="http://schemas.openxmlformats.org/drawingml/2006/main">
            <a:off x="608647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548"/>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Typed tools and role allowlist</a:t>
            </a:r>
          </a:p>
        </p:txBody>
      </p:sp>
      <p:sp>
        <p:nvSpPr>
          <p:cNvPr id="20" name="Rectangle 19">
            <a:extLst xmlns:a="http://schemas.openxmlformats.org/drawingml/2006/main">
              <a:ext uri="{FF2B5EF4-FFF2-40B4-BE49-F238E27FC236}">
                <a16:creationId xmlns:a16="http://schemas.microsoft.com/office/drawing/2014/main" id="{465967CF-3C1A-4BEE-84D0-09EB861723E3}"/>
              </a:ext>
            </a:extLst>
          </p:cNvPr>
          <p:cNvSpPr>
            <a:spLocks xmlns:a="http://schemas.openxmlformats.org/drawingml/2006/main" noGrp="1"/>
          </p:cNvSpPr>
          <p:nvPr/>
        </p:nvSpPr>
        <p:spPr>
          <a:xfrm xmlns:a="http://schemas.openxmlformats.org/drawingml/2006/main">
            <a:off x="771525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BB367ED-A996-4584-A272-049D5867B8B1}"/>
              </a:ext>
            </a:extLst>
          </p:cNvPr>
          <p:cNvSpPr>
            <a:spLocks xmlns:a="http://schemas.openxmlformats.org/drawingml/2006/main" noGrp="1"/>
          </p:cNvSpPr>
          <p:nvPr/>
        </p:nvSpPr>
        <p:spPr>
          <a:xfrm xmlns:a="http://schemas.openxmlformats.org/drawingml/2006/main">
            <a:off x="771525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B1837926-6829-47AC-8D7D-2CCE83DCEC52}"/>
              </a:ext>
            </a:extLst>
          </p:cNvPr>
          <p:cNvSpPr>
            <a:spLocks xmlns:a="http://schemas.openxmlformats.org/drawingml/2006/main" noGrp="1"/>
          </p:cNvSpPr>
          <p:nvPr/>
        </p:nvSpPr>
        <p:spPr>
          <a:xfrm xmlns:a="http://schemas.openxmlformats.org/drawingml/2006/main">
            <a:off x="784860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Verify</a:t>
            </a:r>
          </a:p>
        </p:txBody>
      </p:sp>
      <p:sp>
        <p:nvSpPr>
          <p:cNvPr id="23" name="Rectangle 22">
            <a:extLst xmlns:a="http://schemas.openxmlformats.org/drawingml/2006/main">
              <a:ext uri="{FF2B5EF4-FFF2-40B4-BE49-F238E27FC236}">
                <a16:creationId xmlns:a16="http://schemas.microsoft.com/office/drawing/2014/main" id="{CF9B1C2D-839B-4837-B18F-FA25266E65E5}"/>
              </a:ext>
            </a:extLst>
          </p:cNvPr>
          <p:cNvSpPr>
            <a:spLocks xmlns:a="http://schemas.openxmlformats.org/drawingml/2006/main" noGrp="1"/>
          </p:cNvSpPr>
          <p:nvPr/>
        </p:nvSpPr>
        <p:spPr>
          <a:xfrm xmlns:a="http://schemas.openxmlformats.org/drawingml/2006/main">
            <a:off x="784860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Read back every write</a:t>
            </a:r>
          </a:p>
        </p:txBody>
      </p:sp>
      <p:sp>
        <p:nvSpPr>
          <p:cNvPr id="24" name="Rectangle 23">
            <a:extLst xmlns:a="http://schemas.openxmlformats.org/drawingml/2006/main">
              <a:ext uri="{FF2B5EF4-FFF2-40B4-BE49-F238E27FC236}">
                <a16:creationId xmlns:a16="http://schemas.microsoft.com/office/drawing/2014/main" id="{EDECAE5A-BB6E-4B7A-9CEC-4BBE002C866F}"/>
              </a:ext>
            </a:extLst>
          </p:cNvPr>
          <p:cNvSpPr>
            <a:spLocks xmlns:a="http://schemas.openxmlformats.org/drawingml/2006/main" noGrp="1"/>
          </p:cNvSpPr>
          <p:nvPr/>
        </p:nvSpPr>
        <p:spPr>
          <a:xfrm xmlns:a="http://schemas.openxmlformats.org/drawingml/2006/main">
            <a:off x="947737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AF84EF69-434E-4BD3-8101-C83D3828F41D}"/>
              </a:ext>
            </a:extLst>
          </p:cNvPr>
          <p:cNvSpPr>
            <a:spLocks xmlns:a="http://schemas.openxmlformats.org/drawingml/2006/main" noGrp="1"/>
          </p:cNvSpPr>
          <p:nvPr/>
        </p:nvSpPr>
        <p:spPr>
          <a:xfrm xmlns:a="http://schemas.openxmlformats.org/drawingml/2006/main">
            <a:off x="947737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B2E6223F-B97F-49D5-A698-B08E15584BE7}"/>
              </a:ext>
            </a:extLst>
          </p:cNvPr>
          <p:cNvSpPr>
            <a:spLocks xmlns:a="http://schemas.openxmlformats.org/drawingml/2006/main" noGrp="1"/>
          </p:cNvSpPr>
          <p:nvPr/>
        </p:nvSpPr>
        <p:spPr>
          <a:xfrm xmlns:a="http://schemas.openxmlformats.org/drawingml/2006/main">
            <a:off x="961072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Escalate</a:t>
            </a:r>
          </a:p>
        </p:txBody>
      </p:sp>
      <p:sp>
        <p:nvSpPr>
          <p:cNvPr id="27" name="Rectangle 26">
            <a:extLst xmlns:a="http://schemas.openxmlformats.org/drawingml/2006/main">
              <a:ext uri="{FF2B5EF4-FFF2-40B4-BE49-F238E27FC236}">
                <a16:creationId xmlns:a16="http://schemas.microsoft.com/office/drawing/2014/main" id="{1945C032-F061-4379-A92E-42B7B52F1F06}"/>
              </a:ext>
            </a:extLst>
          </p:cNvPr>
          <p:cNvSpPr>
            <a:spLocks xmlns:a="http://schemas.openxmlformats.org/drawingml/2006/main" noGrp="1"/>
          </p:cNvSpPr>
          <p:nvPr/>
        </p:nvSpPr>
        <p:spPr>
          <a:xfrm xmlns:a="http://schemas.openxmlformats.org/drawingml/2006/main">
            <a:off x="961072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Structured case file</a:t>
            </a:r>
          </a:p>
        </p:txBody>
      </p:sp>
      <p:sp>
        <p:nvSpPr>
          <p:cNvPr id="28" name="Rectangle 27">
            <a:extLst xmlns:a="http://schemas.openxmlformats.org/drawingml/2006/main">
              <a:ext uri="{FF2B5EF4-FFF2-40B4-BE49-F238E27FC236}">
                <a16:creationId xmlns:a16="http://schemas.microsoft.com/office/drawing/2014/main" id="{4D12A15F-C0C5-4437-82A4-21423F12EB14}"/>
              </a:ext>
            </a:extLst>
          </p:cNvPr>
          <p:cNvSpPr>
            <a:spLocks xmlns:a="http://schemas.openxmlformats.org/drawingml/2006/main" noGrp="1"/>
          </p:cNvSpPr>
          <p:nvPr/>
        </p:nvSpPr>
        <p:spPr>
          <a:xfrm xmlns:a="http://schemas.openxmlformats.org/drawingml/2006/main">
            <a:off x="1143000" y="3219450"/>
            <a:ext cx="9906000" cy="9525"/>
          </a:xfrm>
          <a:prstGeom xmlns:a="http://schemas.openxmlformats.org/drawingml/2006/main" prst="rect">
            <a:avLst/>
          </a:prstGeom>
          <a:solidFill xmlns:a="http://schemas.openxmlformats.org/drawingml/2006/main">
            <a:srgbClr val="CAD7D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796247DC-4872-424F-80BF-056EF574B138}"/>
              </a:ext>
            </a:extLst>
          </p:cNvPr>
          <p:cNvSpPr>
            <a:spLocks xmlns:a="http://schemas.openxmlformats.org/drawingml/2006/main" noGrp="1"/>
          </p:cNvSpPr>
          <p:nvPr/>
        </p:nvSpPr>
        <p:spPr>
          <a:xfrm xmlns:a="http://schemas.openxmlformats.org/drawingml/2006/main">
            <a:off x="7429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6A2AADE2-21DA-4012-BB7A-3C25B707C2E3}"/>
              </a:ext>
            </a:extLst>
          </p:cNvPr>
          <p:cNvSpPr>
            <a:spLocks xmlns:a="http://schemas.openxmlformats.org/drawingml/2006/main" noGrp="1"/>
          </p:cNvSpPr>
          <p:nvPr/>
        </p:nvSpPr>
        <p:spPr>
          <a:xfrm xmlns:a="http://schemas.openxmlformats.org/drawingml/2006/main">
            <a:off x="742950" y="3695700"/>
            <a:ext cx="57150" cy="1524000"/>
          </a:xfrm>
          <a:prstGeom xmlns:a="http://schemas.openxmlformats.org/drawingml/2006/main" prst="rect">
            <a:avLst/>
          </a:prstGeom>
          <a:solidFill xmlns:a="http://schemas.openxmlformats.org/drawingml/2006/main">
            <a:srgbClr val="6D8FB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FDACB570-8129-4A09-BFBD-73BDBFC71142}"/>
              </a:ext>
            </a:extLst>
          </p:cNvPr>
          <p:cNvSpPr>
            <a:spLocks xmlns:a="http://schemas.openxmlformats.org/drawingml/2006/main" noGrp="1"/>
          </p:cNvSpPr>
          <p:nvPr/>
        </p:nvSpPr>
        <p:spPr>
          <a:xfrm xmlns:a="http://schemas.openxmlformats.org/drawingml/2006/main">
            <a:off x="9525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Channels</a:t>
            </a:r>
          </a:p>
        </p:txBody>
      </p:sp>
      <p:sp>
        <p:nvSpPr>
          <p:cNvPr id="32" name="Rectangle 31">
            <a:extLst xmlns:a="http://schemas.openxmlformats.org/drawingml/2006/main">
              <a:ext uri="{FF2B5EF4-FFF2-40B4-BE49-F238E27FC236}">
                <a16:creationId xmlns:a16="http://schemas.microsoft.com/office/drawing/2014/main" id="{C4A8E4E6-460B-45AB-A126-98D7F42CA0BC}"/>
              </a:ext>
            </a:extLst>
          </p:cNvPr>
          <p:cNvSpPr>
            <a:spLocks xmlns:a="http://schemas.openxmlformats.org/drawingml/2006/main" noGrp="1"/>
          </p:cNvSpPr>
          <p:nvPr/>
        </p:nvSpPr>
        <p:spPr>
          <a:xfrm xmlns:a="http://schemas.openxmlformats.org/drawingml/2006/main">
            <a:off x="9525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Next.js UI exposes chat, glass-box diagnostics, case console, and analytics views.</a:t>
            </a:r>
          </a:p>
        </p:txBody>
      </p:sp>
      <p:sp>
        <p:nvSpPr>
          <p:cNvPr id="33" name="Rectangle 32">
            <a:extLst xmlns:a="http://schemas.openxmlformats.org/drawingml/2006/main">
              <a:ext uri="{FF2B5EF4-FFF2-40B4-BE49-F238E27FC236}">
                <a16:creationId xmlns:a16="http://schemas.microsoft.com/office/drawing/2014/main" id="{82139555-B9ED-45A8-A2CC-E5FDA8AD4FB3}"/>
              </a:ext>
            </a:extLst>
          </p:cNvPr>
          <p:cNvSpPr>
            <a:spLocks xmlns:a="http://schemas.openxmlformats.org/drawingml/2006/main" noGrp="1"/>
          </p:cNvSpPr>
          <p:nvPr/>
        </p:nvSpPr>
        <p:spPr>
          <a:xfrm xmlns:a="http://schemas.openxmlformats.org/drawingml/2006/main">
            <a:off x="45148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4" name="Rectangle 33">
            <a:extLst xmlns:a="http://schemas.openxmlformats.org/drawingml/2006/main">
              <a:ext uri="{FF2B5EF4-FFF2-40B4-BE49-F238E27FC236}">
                <a16:creationId xmlns:a16="http://schemas.microsoft.com/office/drawing/2014/main" id="{8BA202F8-3084-4485-A9EB-3A59AF9AD168}"/>
              </a:ext>
            </a:extLst>
          </p:cNvPr>
          <p:cNvSpPr>
            <a:spLocks xmlns:a="http://schemas.openxmlformats.org/drawingml/2006/main" noGrp="1"/>
          </p:cNvSpPr>
          <p:nvPr/>
        </p:nvSpPr>
        <p:spPr>
          <a:xfrm xmlns:a="http://schemas.openxmlformats.org/drawingml/2006/main">
            <a:off x="4514850" y="3695700"/>
            <a:ext cx="57150" cy="1524000"/>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E0B45DF6-3BD8-4A78-9287-949CFD34DF33}"/>
              </a:ext>
            </a:extLst>
          </p:cNvPr>
          <p:cNvSpPr>
            <a:spLocks xmlns:a="http://schemas.openxmlformats.org/drawingml/2006/main" noGrp="1"/>
          </p:cNvSpPr>
          <p:nvPr/>
        </p:nvSpPr>
        <p:spPr>
          <a:xfrm xmlns:a="http://schemas.openxmlformats.org/drawingml/2006/main">
            <a:off x="47244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Service layer</a:t>
            </a:r>
          </a:p>
        </p:txBody>
      </p:sp>
      <p:sp>
        <p:nvSpPr>
          <p:cNvPr id="36" name="Rectangle 35">
            <a:extLst xmlns:a="http://schemas.openxmlformats.org/drawingml/2006/main">
              <a:ext uri="{FF2B5EF4-FFF2-40B4-BE49-F238E27FC236}">
                <a16:creationId xmlns:a16="http://schemas.microsoft.com/office/drawing/2014/main" id="{BEEEEC41-4B79-4A7C-88CD-68A2878AD957}"/>
              </a:ext>
            </a:extLst>
          </p:cNvPr>
          <p:cNvSpPr>
            <a:spLocks xmlns:a="http://schemas.openxmlformats.org/drawingml/2006/main" noGrp="1"/>
          </p:cNvSpPr>
          <p:nvPr/>
        </p:nvSpPr>
        <p:spPr>
          <a:xfrm xmlns:a="http://schemas.openxmlformats.org/drawingml/2006/main">
            <a:off x="47244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FastAPI calls the orchestrator, verifier, policy engine, ML models, and tool registry.</a:t>
            </a:r>
          </a:p>
        </p:txBody>
      </p:sp>
      <p:sp>
        <p:nvSpPr>
          <p:cNvPr id="37" name="Rectangle 36">
            <a:extLst xmlns:a="http://schemas.openxmlformats.org/drawingml/2006/main">
              <a:ext uri="{FF2B5EF4-FFF2-40B4-BE49-F238E27FC236}">
                <a16:creationId xmlns:a16="http://schemas.microsoft.com/office/drawing/2014/main" id="{C31B948E-6896-40CF-AC41-6EBCA43CBCDE}"/>
              </a:ext>
            </a:extLst>
          </p:cNvPr>
          <p:cNvSpPr>
            <a:spLocks xmlns:a="http://schemas.openxmlformats.org/drawingml/2006/main" noGrp="1"/>
          </p:cNvSpPr>
          <p:nvPr/>
        </p:nvSpPr>
        <p:spPr>
          <a:xfrm xmlns:a="http://schemas.openxmlformats.org/drawingml/2006/main">
            <a:off x="82867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8" name="Rectangle 37">
            <a:extLst xmlns:a="http://schemas.openxmlformats.org/drawingml/2006/main">
              <a:ext uri="{FF2B5EF4-FFF2-40B4-BE49-F238E27FC236}">
                <a16:creationId xmlns:a16="http://schemas.microsoft.com/office/drawing/2014/main" id="{5F5E830E-AEF4-48C7-944E-ADB3CF563246}"/>
              </a:ext>
            </a:extLst>
          </p:cNvPr>
          <p:cNvSpPr>
            <a:spLocks xmlns:a="http://schemas.openxmlformats.org/drawingml/2006/main" noGrp="1"/>
          </p:cNvSpPr>
          <p:nvPr/>
        </p:nvSpPr>
        <p:spPr>
          <a:xfrm xmlns:a="http://schemas.openxmlformats.org/drawingml/2006/main">
            <a:off x="8286750" y="3695700"/>
            <a:ext cx="57150" cy="1524000"/>
          </a:xfrm>
          <a:prstGeom xmlns:a="http://schemas.openxmlformats.org/drawingml/2006/main" prst="rect">
            <a:avLst/>
          </a:prstGeom>
          <a:solidFill xmlns:a="http://schemas.openxmlformats.org/drawingml/2006/main">
            <a:srgbClr val="C9A4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E98414C2-88CE-48F3-A104-D2EF066240C4}"/>
              </a:ext>
            </a:extLst>
          </p:cNvPr>
          <p:cNvSpPr>
            <a:spLocks xmlns:a="http://schemas.openxmlformats.org/drawingml/2006/main" noGrp="1"/>
          </p:cNvSpPr>
          <p:nvPr/>
        </p:nvSpPr>
        <p:spPr>
          <a:xfrm xmlns:a="http://schemas.openxmlformats.org/drawingml/2006/main">
            <a:off x="84963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Data and models</a:t>
            </a:r>
          </a:p>
        </p:txBody>
      </p:sp>
      <p:sp>
        <p:nvSpPr>
          <p:cNvPr id="40" name="Rectangle 39">
            <a:extLst xmlns:a="http://schemas.openxmlformats.org/drawingml/2006/main">
              <a:ext uri="{FF2B5EF4-FFF2-40B4-BE49-F238E27FC236}">
                <a16:creationId xmlns:a16="http://schemas.microsoft.com/office/drawing/2014/main" id="{BD800D9E-2CFD-4D7D-B5C5-CB87F60D2D02}"/>
              </a:ext>
            </a:extLst>
          </p:cNvPr>
          <p:cNvSpPr>
            <a:spLocks xmlns:a="http://schemas.openxmlformats.org/drawingml/2006/main" noGrp="1"/>
          </p:cNvSpPr>
          <p:nvPr/>
        </p:nvSpPr>
        <p:spPr>
          <a:xfrm xmlns:a="http://schemas.openxmlformats.org/drawingml/2006/main">
            <a:off x="84963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23.5M source rows audited. DuckDB and dbt curate local data. Model cards record comparisons and limitations.</a:t>
            </a:r>
          </a:p>
        </p:txBody>
      </p:sp>
      <p:sp>
        <p:nvSpPr>
          <p:cNvPr id="41" name="Rectangle 40">
            <a:extLst xmlns:a="http://schemas.openxmlformats.org/drawingml/2006/main">
              <a:ext uri="{FF2B5EF4-FFF2-40B4-BE49-F238E27FC236}">
                <a16:creationId xmlns:a16="http://schemas.microsoft.com/office/drawing/2014/main" id="{F5FC5001-AF3E-4B01-9FBC-DF2AA1187B79}"/>
              </a:ext>
            </a:extLst>
          </p:cNvPr>
          <p:cNvSpPr>
            <a:spLocks xmlns:a="http://schemas.openxmlformats.org/drawingml/2006/main" noGrp="1"/>
          </p:cNvSpPr>
          <p:nvPr/>
        </p:nvSpPr>
        <p:spPr>
          <a:xfrm xmlns:a="http://schemas.openxmlformats.org/drawingml/2006/main">
            <a:off x="685800" y="64008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42" name="Rectangle 41">
            <a:extLst xmlns:a="http://schemas.openxmlformats.org/drawingml/2006/main">
              <a:ext uri="{FF2B5EF4-FFF2-40B4-BE49-F238E27FC236}">
                <a16:creationId xmlns:a16="http://schemas.microsoft.com/office/drawing/2014/main" id="{B170B35C-4C20-4AE2-A10D-BD7048E56EB2}"/>
              </a:ext>
            </a:extLst>
          </p:cNvPr>
          <p:cNvSpPr>
            <a:spLocks xmlns:a="http://schemas.openxmlformats.org/drawingml/2006/main" noGrp="1"/>
          </p:cNvSpPr>
          <p:nvPr/>
        </p:nvSpPr>
        <p:spPr>
          <a:xfrm xmlns:a="http://schemas.openxmlformats.org/drawingml/2006/main">
            <a:off x="11096625"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5E7180"/>
                </a:solidFill>
                <a:latin typeface="Aptos"/>
                <a:ea typeface="Aptos"/>
                <a:cs typeface="Aptos"/>
              </a:defRPr>
            </a:pPr>
            <a:r>
              <a:rPr sz="900" b="1">
                <a:solidFill>
                  <a:srgbClr val="5E7180"/>
                </a:solidFill>
                <a:latin typeface="Aptos"/>
                <a:ea typeface="Aptos"/>
                <a:cs typeface="Aptos"/>
              </a:rPr>
              <a:t>02</a:t>
            </a:r>
          </a:p>
        </p:txBody>
      </p:sp>
    </p:spTree>
    <p:extLst>
      <p:ext uri="{BB962C8B-B14F-4D97-AF65-F5344CB8AC3E}">
        <p14:creationId xmlns:p14="http://schemas.microsoft.com/office/powerpoint/2010/main" val="7028055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CB365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Trained models versus baseline</a:t>
            </a:r>
          </a:p>
        </p:txBody>
      </p:sp>
      <p:sp>
        <p:nvSpPr>
          <p:cNvPr id="2" name="">
            <a:extLst xmlns:a="http://schemas.openxmlformats.org/drawingml/2006/main">
              <a:ext uri="{FF2B5EF4-FFF2-40B4-BE49-F238E27FC236}">
                <a16:creationId xmlns:a16="http://schemas.microsoft.com/office/drawing/2014/main" id="{85672365-2976-4C9A-AE47-A6CAE4F2410F}"/>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Product interest: observed campaign conversion within 30 days. Test set: 248,875 exposures.</a:t>
            </a:r>
          </a:p>
        </p:txBody>
      </p:sp>
      <p:sp>
        <p:nvSpPr>
          <p:cNvPr id="3" name="">
            <a:extLst xmlns:a="http://schemas.openxmlformats.org/drawingml/2006/main">
              <a:ext uri="{FF2B5EF4-FFF2-40B4-BE49-F238E27FC236}">
                <a16:creationId xmlns:a16="http://schemas.microsoft.com/office/drawing/2014/main" id="{ED55619E-73FA-4986-BAD8-0DCDC8CAE932}"/>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6E9A6E-8A87-4612-BC97-525EC43C88B8}"/>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99BC401B-323E-46DD-A354-0AA11B6C03D8}"/>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03</a:t>
            </a:r>
          </a:p>
        </p:txBody>
      </p:sp>
      <p:graphicFrame>
        <p:nvGraphicFramePr>
          <p:cNvPr id="17" name=""/>
          <p:cNvGraphicFramePr/>
          <p:nvPr/>
        </p:nvGraphicFramePr>
        <p:xfrm>
          <a:off xmlns:a="http://schemas.openxmlformats.org/drawingml/2006/main" x="685800" y="1724025"/>
          <a:ext xmlns:a="http://schemas.openxmlformats.org/drawingml/2006/main" cx="10820400" cy="2514600"/>
        </p:xfrm>
        <a:graphic xmlns:a="http://schemas.openxmlformats.org/drawingml/2006/main">
          <a:graphicData uri="http://schemas.openxmlformats.org/drawingml/2006/table">
            <a:tbl>
              <a:tblPr firstRow="1" bandRow="0"/>
              <a:tblGrid>
                <a:gridCol w="3143250"/>
                <a:gridCol w="1762125"/>
                <a:gridCol w="1714500"/>
                <a:gridCol w="1952625"/>
                <a:gridCol w="2247900"/>
              </a:tblGrid>
              <a:tr h="628650">
                <a:tc>
                  <a:txBody>
                    <a:bodyPr>
                      <a:noAutofit/>
                    </a:bodyPr>
                    <a:lstStyle/>
                    <a:p>
                      <a:r>
                        <a:rPr sz="1575" b="1">
                          <a:solidFill>
                            <a:srgbClr val="FFFFFF"/>
                          </a:solidFill>
                          <a:latin typeface="Aptos"/>
                          <a:ea typeface="Aptos"/>
                          <a:cs typeface="Aptos"/>
                        </a:rPr>
                        <a:t>Model</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ROC-AUC</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AP</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Log loss</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Top 10% lift</a:t>
                      </a:r>
                    </a:p>
                  </a:txBody>
                  <a:tcPr marL="91440" marR="91440" marT="45720" marB="45720">
                    <a:solidFill>
                      <a:srgbClr val="071826"/>
                    </a:solidFill>
                  </a:tcPr>
                </a:tc>
              </a:tr>
              <a:tr h="628650">
                <a:tc>
                  <a:txBody>
                    <a:bodyPr>
                      <a:noAutofit/>
                    </a:bodyPr>
                    <a:lstStyle/>
                    <a:p>
                      <a:r>
                        <a:rPr sz="1575" b="1">
                          <a:solidFill>
                            <a:srgbClr val="132433"/>
                          </a:solidFill>
                          <a:latin typeface="Aptos"/>
                          <a:ea typeface="Aptos"/>
                          <a:cs typeface="Aptos"/>
                        </a:rPr>
                        <a:t>Prior baseline</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0.5000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0.0049</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0.03094</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1.00x</a:t>
                      </a:r>
                    </a:p>
                  </a:txBody>
                  <a:tcPr marL="91440" marR="91440" marT="45720" marB="45720">
                    <a:solidFill>
                      <a:srgbClr val="FFFFFF"/>
                    </a:solidFill>
                  </a:tcPr>
                </a:tc>
              </a:tr>
              <a:tr h="628650">
                <a:tc>
                  <a:txBody>
                    <a:bodyPr>
                      <a:noAutofit/>
                    </a:bodyPr>
                    <a:lstStyle/>
                    <a:p>
                      <a:r>
                        <a:rPr sz="1575" b="1">
                          <a:solidFill>
                            <a:srgbClr val="132433"/>
                          </a:solidFill>
                          <a:latin typeface="Aptos"/>
                          <a:ea typeface="Aptos"/>
                          <a:cs typeface="Aptos"/>
                        </a:rPr>
                        <a:t>Logistic regression</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0.6767</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0.0081</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0.02924</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1.77x</a:t>
                      </a:r>
                    </a:p>
                  </a:txBody>
                  <a:tcPr marL="91440" marR="91440" marT="45720" marB="45720">
                    <a:solidFill>
                      <a:srgbClr val="EDF3F4"/>
                    </a:solidFill>
                  </a:tcPr>
                </a:tc>
              </a:tr>
              <a:tr h="628650">
                <a:tc>
                  <a:txBody>
                    <a:bodyPr>
                      <a:noAutofit/>
                    </a:bodyPr>
                    <a:lstStyle/>
                    <a:p>
                      <a:r>
                        <a:rPr sz="1575" b="1">
                          <a:solidFill>
                            <a:srgbClr val="132433"/>
                          </a:solidFill>
                          <a:latin typeface="Aptos"/>
                          <a:ea typeface="Aptos"/>
                          <a:cs typeface="Aptos"/>
                        </a:rPr>
                        <a:t>MLP: 32 / 16 / 8</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0.6739</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0.0081</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0.02930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1.86x</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20E9B45-486A-46B1-A4ED-04B26B66683B}"/>
              </a:ext>
            </a:extLst>
          </p:cNvPr>
          <p:cNvSpPr>
            <a:spLocks xmlns:a="http://schemas.openxmlformats.org/drawingml/2006/main" noGrp="1"/>
          </p:cNvSpPr>
          <p:nvPr/>
        </p:nvSpPr>
        <p:spPr>
          <a:xfrm xmlns:a="http://schemas.openxmlformats.org/drawingml/2006/main">
            <a:off x="723900" y="45720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Selected: logistic regression</a:t>
            </a:r>
          </a:p>
        </p:txBody>
      </p:sp>
      <p:sp>
        <p:nvSpPr>
          <p:cNvPr id="8" name="">
            <a:extLst xmlns:a="http://schemas.openxmlformats.org/drawingml/2006/main">
              <a:ext uri="{FF2B5EF4-FFF2-40B4-BE49-F238E27FC236}">
                <a16:creationId xmlns:a16="http://schemas.microsoft.com/office/drawing/2014/main" id="{DAE675F6-AC2D-47AA-A276-977FD03D6A02}"/>
              </a:ext>
            </a:extLst>
          </p:cNvPr>
          <p:cNvSpPr>
            <a:spLocks xmlns:a="http://schemas.openxmlformats.org/drawingml/2006/main" noGrp="1"/>
          </p:cNvSpPr>
          <p:nvPr/>
        </p:nvSpPr>
        <p:spPr>
          <a:xfrm xmlns:a="http://schemas.openxmlformats.org/drawingml/2006/main">
            <a:off x="723900" y="49339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5.48% lower test log loss than the prior.</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Validation favored logistic over the MLP.</a:t>
            </a:r>
          </a:p>
        </p:txBody>
      </p:sp>
      <p:sp>
        <p:nvSpPr>
          <p:cNvPr id="9" name="">
            <a:extLst xmlns:a="http://schemas.openxmlformats.org/drawingml/2006/main">
              <a:ext uri="{FF2B5EF4-FFF2-40B4-BE49-F238E27FC236}">
                <a16:creationId xmlns:a16="http://schemas.microsoft.com/office/drawing/2014/main" id="{21414F22-1436-4AB2-8CD7-5A8FE63AFC80}"/>
              </a:ext>
            </a:extLst>
          </p:cNvPr>
          <p:cNvSpPr>
            <a:spLocks xmlns:a="http://schemas.openxmlformats.org/drawingml/2006/main" noGrp="1"/>
          </p:cNvSpPr>
          <p:nvPr/>
        </p:nvSpPr>
        <p:spPr>
          <a:xfrm xmlns:a="http://schemas.openxmlformats.org/drawingml/2006/main">
            <a:off x="6362700" y="45720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Scope of the result</a:t>
            </a:r>
          </a:p>
        </p:txBody>
      </p:sp>
      <p:sp>
        <p:nvSpPr>
          <p:cNvPr id="10" name="">
            <a:extLst xmlns:a="http://schemas.openxmlformats.org/drawingml/2006/main">
              <a:ext uri="{FF2B5EF4-FFF2-40B4-BE49-F238E27FC236}">
                <a16:creationId xmlns:a16="http://schemas.microsoft.com/office/drawing/2014/main" id="{2352A1AA-67E8-4444-AF1F-0AF86D047156}"/>
              </a:ext>
            </a:extLst>
          </p:cNvPr>
          <p:cNvSpPr>
            <a:spLocks xmlns:a="http://schemas.openxmlformats.org/drawingml/2006/main" noGrp="1"/>
          </p:cNvSpPr>
          <p:nvPr/>
        </p:nvSpPr>
        <p:spPr>
          <a:xfrm xmlns:a="http://schemas.openxmlformats.org/drawingml/2006/main">
            <a:off x="6362700" y="4933950"/>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Test conversion prevalence: 0.489%.</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Product interest never authorizes credit.</a:t>
            </a:r>
          </a:p>
        </p:txBody>
      </p:sp>
      <p:sp>
        <p:nvSpPr>
          <p:cNvPr id="11" name="">
            <a:extLst xmlns:a="http://schemas.openxmlformats.org/drawingml/2006/main">
              <a:ext uri="{FF2B5EF4-FFF2-40B4-BE49-F238E27FC236}">
                <a16:creationId xmlns:a16="http://schemas.microsoft.com/office/drawing/2014/main" id="{C3823591-E28D-45E0-A5A9-220A8C73EB9B}"/>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Higher is better for ROC-AUC, AP and lift. Lower is better for log loss. Both candidates remain experimental.</a:t>
            </a:r>
          </a:p>
        </p:txBody>
      </p:sp>
    </p:spTree>
    <p:extLst>
      <p:ext uri="{BB962C8B-B14F-4D97-AF65-F5344CB8AC3E}">
        <p14:creationId xmlns:p14="http://schemas.microsoft.com/office/powerpoint/2010/main" val="1332500962"/>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D3AC2A-FBCA-439E-941A-1AE84FB9C326}"/>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Training adjustments and measured outcomes</a:t>
            </a:r>
          </a:p>
        </p:txBody>
      </p:sp>
      <p:sp>
        <p:nvSpPr>
          <p:cNvPr id="2" name="">
            <a:extLst xmlns:a="http://schemas.openxmlformats.org/drawingml/2006/main">
              <a:ext uri="{FF2B5EF4-FFF2-40B4-BE49-F238E27FC236}">
                <a16:creationId xmlns:a16="http://schemas.microsoft.com/office/drawing/2014/main" id="{624EFF96-C91D-44B3-9062-CD06AF868416}"/>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Model selection follows validation evidence. Greater depth did not produce a reliable improvement.</a:t>
            </a:r>
          </a:p>
        </p:txBody>
      </p:sp>
      <p:sp>
        <p:nvSpPr>
          <p:cNvPr id="3" name="">
            <a:extLst xmlns:a="http://schemas.openxmlformats.org/drawingml/2006/main">
              <a:ext uri="{FF2B5EF4-FFF2-40B4-BE49-F238E27FC236}">
                <a16:creationId xmlns:a16="http://schemas.microsoft.com/office/drawing/2014/main" id="{E071F289-FDC7-4995-8C36-A140F90CA726}"/>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11B4A5-91E1-40FC-B0C6-959747A2012F}"/>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7426F209-3A9C-4F1F-B74E-B4678F13CF59}"/>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04</a:t>
            </a:r>
          </a:p>
        </p:txBody>
      </p:sp>
      <p:graphicFrame>
        <p:nvGraphicFramePr>
          <p:cNvPr id="13" name=""/>
          <p:cNvGraphicFramePr/>
          <p:nvPr/>
        </p:nvGraphicFramePr>
        <p:xfrm>
          <a:off xmlns:a="http://schemas.openxmlformats.org/drawingml/2006/main" x="685800" y="1714500"/>
          <a:ext xmlns:a="http://schemas.openxmlformats.org/drawingml/2006/main" cx="10820400" cy="3505200"/>
        </p:xfrm>
        <a:graphic xmlns:a="http://schemas.openxmlformats.org/drawingml/2006/main">
          <a:graphicData uri="http://schemas.openxmlformats.org/drawingml/2006/table">
            <a:tbl>
              <a:tblPr firstRow="1" bandRow="0"/>
              <a:tblGrid>
                <a:gridCol w="2438400"/>
                <a:gridCol w="4438650"/>
                <a:gridCol w="3943350"/>
              </a:tblGrid>
              <a:tr h="701040">
                <a:tc>
                  <a:txBody>
                    <a:bodyPr>
                      <a:noAutofit/>
                    </a:bodyPr>
                    <a:lstStyle/>
                    <a:p>
                      <a:r>
                        <a:rPr sz="1350" b="1">
                          <a:solidFill>
                            <a:srgbClr val="FFFFFF"/>
                          </a:solidFill>
                          <a:latin typeface="Aptos"/>
                          <a:ea typeface="Aptos"/>
                          <a:cs typeface="Aptos"/>
                        </a:rPr>
                        <a:t>Adjustment</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Implementation</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Evidence / outcome</a:t>
                      </a:r>
                    </a:p>
                  </a:txBody>
                  <a:tcPr marL="91440" marR="91440" marT="45720" marB="45720">
                    <a:solidFill>
                      <a:srgbClr val="071826"/>
                    </a:solidFill>
                  </a:tcPr>
                </a:tc>
              </a:tr>
              <a:tr h="701040">
                <a:tc>
                  <a:txBody>
                    <a:bodyPr>
                      <a:noAutofit/>
                    </a:bodyPr>
                    <a:lstStyle/>
                    <a:p>
                      <a:r>
                        <a:rPr sz="1350" b="1">
                          <a:solidFill>
                            <a:srgbClr val="132433"/>
                          </a:solidFill>
                          <a:latin typeface="Aptos"/>
                          <a:ea typeface="Aptos"/>
                          <a:cs typeface="Aptos"/>
                        </a:rPr>
                        <a:t>Leakage control</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30-day label maturity and temporal gaps.</a:t>
                      </a:r>
                    </a:p>
                    <a:p>
                      <a:r>
                        <a:rPr sz="1350" b="0">
                          <a:solidFill>
                            <a:srgbClr val="132433"/>
                          </a:solidFill>
                          <a:latin typeface="Aptos"/>
                          <a:ea typeface="Aptos"/>
                          <a:cs typeface="Aptos"/>
                        </a:rPr>
                        <a:t>Only information available before each send.</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557,603 train / 99,158 validation.</a:t>
                      </a:r>
                    </a:p>
                    <a:p>
                      <a:r>
                        <a:rPr sz="1350" b="0">
                          <a:solidFill>
                            <a:srgbClr val="132433"/>
                          </a:solidFill>
                          <a:latin typeface="Aptos"/>
                          <a:ea typeface="Aptos"/>
                          <a:cs typeface="Aptos"/>
                        </a:rPr>
                        <a:t>248,875 test exposures.</a:t>
                      </a:r>
                    </a:p>
                  </a:txBody>
                  <a:tcPr marL="91440" marR="91440" marT="45720" marB="45720">
                    <a:solidFill>
                      <a:srgbClr val="FFFFFF"/>
                    </a:solidFill>
                  </a:tcPr>
                </a:tc>
              </a:tr>
              <a:tr h="701040">
                <a:tc>
                  <a:txBody>
                    <a:bodyPr>
                      <a:noAutofit/>
                    </a:bodyPr>
                    <a:lstStyle/>
                    <a:p>
                      <a:r>
                        <a:rPr sz="1350" b="1">
                          <a:solidFill>
                            <a:srgbClr val="132433"/>
                          </a:solidFill>
                          <a:latin typeface="Aptos"/>
                          <a:ea typeface="Aptos"/>
                          <a:cs typeface="Aptos"/>
                        </a:rPr>
                        <a:t>Preprocessing</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One-hot categories, numeric imputation,</a:t>
                      </a:r>
                    </a:p>
                    <a:p>
                      <a:r>
                        <a:rPr sz="1350" b="0">
                          <a:solidFill>
                            <a:srgbClr val="132433"/>
                          </a:solidFill>
                          <a:latin typeface="Aptos"/>
                          <a:ea typeface="Aptos"/>
                          <a:cs typeface="Aptos"/>
                        </a:rPr>
                        <a:t>standardization. Logistic C = 1.0.</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Logistic test AUC 0.6767</a:t>
                      </a:r>
                    </a:p>
                    <a:p>
                      <a:r>
                        <a:rPr sz="1350" b="0">
                          <a:solidFill>
                            <a:srgbClr val="132433"/>
                          </a:solidFill>
                          <a:latin typeface="Aptos"/>
                          <a:ea typeface="Aptos"/>
                          <a:cs typeface="Aptos"/>
                        </a:rPr>
                        <a:t>versus prior 0.5000.</a:t>
                      </a:r>
                    </a:p>
                  </a:txBody>
                  <a:tcPr marL="91440" marR="91440" marT="45720" marB="45720">
                    <a:solidFill>
                      <a:srgbClr val="EDF3F4"/>
                    </a:solidFill>
                  </a:tcPr>
                </a:tc>
              </a:tr>
              <a:tr h="701040">
                <a:tc>
                  <a:txBody>
                    <a:bodyPr>
                      <a:noAutofit/>
                    </a:bodyPr>
                    <a:lstStyle/>
                    <a:p>
                      <a:r>
                        <a:rPr sz="1350" b="1">
                          <a:solidFill>
                            <a:srgbClr val="132433"/>
                          </a:solidFill>
                          <a:latin typeface="Aptos"/>
                          <a:ea typeface="Aptos"/>
                          <a:cs typeface="Aptos"/>
                        </a:rPr>
                        <a:t>Neural regularization</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Adam, L2 = 0.01, learning rate 0.001.</a:t>
                      </a:r>
                    </a:p>
                    <a:p>
                      <a:r>
                        <a:rPr sz="1350" b="0">
                          <a:solidFill>
                            <a:srgbClr val="132433"/>
                          </a:solidFill>
                          <a:latin typeface="Aptos"/>
                          <a:ea typeface="Aptos"/>
                          <a:cs typeface="Aptos"/>
                        </a:rPr>
                        <a:t>Early stopping with patience 4.</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Initial MLP selected epoch 14.</a:t>
                      </a:r>
                    </a:p>
                    <a:p>
                      <a:r>
                        <a:rPr sz="1350" b="0">
                          <a:solidFill>
                            <a:srgbClr val="132433"/>
                          </a:solidFill>
                          <a:latin typeface="Aptos"/>
                          <a:ea typeface="Aptos"/>
                          <a:cs typeface="Aptos"/>
                        </a:rPr>
                        <a:t>Validation log loss still favors logistic.</a:t>
                      </a:r>
                    </a:p>
                  </a:txBody>
                  <a:tcPr marL="91440" marR="91440" marT="45720" marB="45720">
                    <a:solidFill>
                      <a:srgbClr val="FFFFFF"/>
                    </a:solidFill>
                  </a:tcPr>
                </a:tc>
              </a:tr>
              <a:tr h="701040">
                <a:tc>
                  <a:txBody>
                    <a:bodyPr>
                      <a:noAutofit/>
                    </a:bodyPr>
                    <a:lstStyle/>
                    <a:p>
                      <a:r>
                        <a:rPr sz="1350" b="1">
                          <a:solidFill>
                            <a:srgbClr val="132433"/>
                          </a:solidFill>
                          <a:latin typeface="Aptos"/>
                          <a:ea typeface="Aptos"/>
                          <a:cs typeface="Aptos"/>
                        </a:rPr>
                        <a:t>Depth experiment</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3 versus 6 hidden layers, 3 seeds,</a:t>
                      </a:r>
                    </a:p>
                    <a:p>
                      <a:r>
                        <a:rPr sz="1350" b="0">
                          <a:solidFill>
                            <a:srgbClr val="132433"/>
                          </a:solidFill>
                          <a:latin typeface="Aptos"/>
                          <a:ea typeface="Aptos"/>
                          <a:cs typeface="Aptos"/>
                        </a:rPr>
                        <a:t>30-epoch limit, separate selection set.</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Selection mean log loss: 0.03256</a:t>
                      </a:r>
                    </a:p>
                    <a:p>
                      <a:r>
                        <a:rPr sz="1350" b="0">
                          <a:solidFill>
                            <a:srgbClr val="132433"/>
                          </a:solidFill>
                          <a:latin typeface="Aptos"/>
                          <a:ea typeface="Aptos"/>
                          <a:cs typeface="Aptos"/>
                        </a:rPr>
                        <a:t>vs 0.03258. Logistic: 0.03235.</a:t>
                      </a:r>
                    </a:p>
                  </a:txBody>
                  <a:tcPr marL="91440" marR="91440" marT="45720" marB="45720">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80411CDD-D9CA-4FCC-B730-9944F60EEC27}"/>
              </a:ext>
            </a:extLst>
          </p:cNvPr>
          <p:cNvSpPr>
            <a:spLocks xmlns:a="http://schemas.openxmlformats.org/drawingml/2006/main" noGrp="1"/>
          </p:cNvSpPr>
          <p:nvPr/>
        </p:nvSpPr>
        <p:spPr>
          <a:xfrm xmlns:a="http://schemas.openxmlformats.org/drawingml/2006/main">
            <a:off x="704850" y="55149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Measured gains belong to the complete pipelines. Per-adjustment gains were not isolated in ablation studies.</a:t>
            </a:r>
          </a:p>
        </p:txBody>
      </p:sp>
    </p:spTree>
    <p:extLst>
      <p:ext uri="{BB962C8B-B14F-4D97-AF65-F5344CB8AC3E}">
        <p14:creationId xmlns:p14="http://schemas.microsoft.com/office/powerpoint/2010/main" val="15953924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A1766B-2539-4D61-A48F-32330C3E587B}"/>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Repayment capacity: conservative cash-flow proxy</a:t>
            </a:r>
          </a:p>
        </p:txBody>
      </p:sp>
      <p:sp>
        <p:nvSpPr>
          <p:cNvPr id="2" name="">
            <a:extLst xmlns:a="http://schemas.openxmlformats.org/drawingml/2006/main">
              <a:ext uri="{FF2B5EF4-FFF2-40B4-BE49-F238E27FC236}">
                <a16:creationId xmlns:a16="http://schemas.microsoft.com/office/drawing/2014/main" id="{525F04DB-F7EA-4614-93E5-2FD62CDB1A6D}"/>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150,000 training examples. 14,820 temporal validation examples from October-November 2025.</a:t>
            </a:r>
          </a:p>
        </p:txBody>
      </p:sp>
      <p:sp>
        <p:nvSpPr>
          <p:cNvPr id="3" name="">
            <a:extLst xmlns:a="http://schemas.openxmlformats.org/drawingml/2006/main">
              <a:ext uri="{FF2B5EF4-FFF2-40B4-BE49-F238E27FC236}">
                <a16:creationId xmlns:a16="http://schemas.microsoft.com/office/drawing/2014/main" id="{93FD8411-1807-4D8B-9B75-2EB3BABAC468}"/>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B9AE3D-3722-452A-AEA0-BAD737C5DCE7}"/>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EE6864C6-4188-4BA3-B0BE-C86F283DC4EB}"/>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05</a:t>
            </a:r>
          </a:p>
        </p:txBody>
      </p:sp>
      <p:graphicFrame>
        <p:nvGraphicFramePr>
          <p:cNvPr id="17" name=""/>
          <p:cNvGraphicFramePr/>
          <p:nvPr/>
        </p:nvGraphicFramePr>
        <p:xfrm>
          <a:off xmlns:a="http://schemas.openxmlformats.org/drawingml/2006/main" x="685800" y="1724025"/>
          <a:ext xmlns:a="http://schemas.openxmlformats.org/drawingml/2006/main" cx="10820400" cy="2362200"/>
        </p:xfrm>
        <a:graphic xmlns:a="http://schemas.openxmlformats.org/drawingml/2006/main">
          <a:graphicData uri="http://schemas.openxmlformats.org/drawingml/2006/table">
            <a:tbl>
              <a:tblPr firstRow="1" bandRow="0"/>
              <a:tblGrid>
                <a:gridCol w="2190750"/>
                <a:gridCol w="2952750"/>
                <a:gridCol w="2952750"/>
                <a:gridCol w="2724150"/>
              </a:tblGrid>
              <a:tr h="590550">
                <a:tc>
                  <a:txBody>
                    <a:bodyPr>
                      <a:noAutofit/>
                    </a:bodyPr>
                    <a:lstStyle/>
                    <a:p>
                      <a:r>
                        <a:rPr sz="1575" b="1">
                          <a:solidFill>
                            <a:srgbClr val="FFFFFF"/>
                          </a:solidFill>
                          <a:latin typeface="Aptos"/>
                          <a:ea typeface="Aptos"/>
                          <a:cs typeface="Aptos"/>
                        </a:rPr>
                        <a:t>Currency</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Baseline MAE</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Model MAE</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Reduction</a:t>
                      </a:r>
                    </a:p>
                  </a:txBody>
                  <a:tcPr marL="91440" marR="91440" marT="45720" marB="45720">
                    <a:solidFill>
                      <a:srgbClr val="071826"/>
                    </a:solidFill>
                  </a:tcPr>
                </a:tc>
              </a:tr>
              <a:tr h="590550">
                <a:tc>
                  <a:txBody>
                    <a:bodyPr>
                      <a:noAutofit/>
                    </a:bodyPr>
                    <a:lstStyle/>
                    <a:p>
                      <a:r>
                        <a:rPr sz="1575" b="1">
                          <a:solidFill>
                            <a:srgbClr val="132433"/>
                          </a:solidFill>
                          <a:latin typeface="Aptos"/>
                          <a:ea typeface="Aptos"/>
                          <a:cs typeface="Aptos"/>
                        </a:rPr>
                        <a:t>ARS</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29,387.48</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28,725.90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2.25%</a:t>
                      </a:r>
                    </a:p>
                  </a:txBody>
                  <a:tcPr marL="91440" marR="91440" marT="45720" marB="45720">
                    <a:solidFill>
                      <a:srgbClr val="FFFFFF"/>
                    </a:solidFill>
                  </a:tcPr>
                </a:tc>
              </a:tr>
              <a:tr h="590550">
                <a:tc>
                  <a:txBody>
                    <a:bodyPr>
                      <a:noAutofit/>
                    </a:bodyPr>
                    <a:lstStyle/>
                    <a:p>
                      <a:r>
                        <a:rPr sz="1575" b="1">
                          <a:solidFill>
                            <a:srgbClr val="132433"/>
                          </a:solidFill>
                          <a:latin typeface="Aptos"/>
                          <a:ea typeface="Aptos"/>
                          <a:cs typeface="Aptos"/>
                        </a:rPr>
                        <a:t>COP</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344,184.99</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343,242.66</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0.27%</a:t>
                      </a:r>
                    </a:p>
                  </a:txBody>
                  <a:tcPr marL="91440" marR="91440" marT="45720" marB="45720">
                    <a:solidFill>
                      <a:srgbClr val="EDF3F4"/>
                    </a:solidFill>
                  </a:tcPr>
                </a:tc>
              </a:tr>
              <a:tr h="590550">
                <a:tc>
                  <a:txBody>
                    <a:bodyPr>
                      <a:noAutofit/>
                    </a:bodyPr>
                    <a:lstStyle/>
                    <a:p>
                      <a:r>
                        <a:rPr sz="1575" b="1">
                          <a:solidFill>
                            <a:srgbClr val="132433"/>
                          </a:solidFill>
                          <a:latin typeface="Aptos"/>
                          <a:ea typeface="Aptos"/>
                          <a:cs typeface="Aptos"/>
                        </a:rPr>
                        <a:t>USD</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84.15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84.15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CAB14ED-6E48-458B-8CF8-FC42E1009FF5}"/>
              </a:ext>
            </a:extLst>
          </p:cNvPr>
          <p:cNvSpPr>
            <a:spLocks xmlns:a="http://schemas.openxmlformats.org/drawingml/2006/main" noGrp="1"/>
          </p:cNvSpPr>
          <p:nvPr/>
        </p:nvSpPr>
        <p:spPr>
          <a:xfrm xmlns:a="http://schemas.openxmlformats.org/drawingml/2006/main">
            <a:off x="723900" y="43910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Bounded estimate</a:t>
            </a:r>
          </a:p>
        </p:txBody>
      </p:sp>
      <p:sp>
        <p:nvSpPr>
          <p:cNvPr id="8" name="">
            <a:extLst xmlns:a="http://schemas.openxmlformats.org/drawingml/2006/main">
              <a:ext uri="{FF2B5EF4-FFF2-40B4-BE49-F238E27FC236}">
                <a16:creationId xmlns:a16="http://schemas.microsoft.com/office/drawing/2014/main" id="{CC8AA31B-E376-45CD-9A46-6027DE7764D5}"/>
              </a:ext>
            </a:extLst>
          </p:cNvPr>
          <p:cNvSpPr>
            <a:spLocks xmlns:a="http://schemas.openxmlformats.org/drawingml/2006/main" noGrp="1"/>
          </p:cNvSpPr>
          <p:nvPr/>
        </p:nvSpPr>
        <p:spPr>
          <a:xfrm xmlns:a="http://schemas.openxmlformats.org/drawingml/2006/main">
            <a:off x="723900" y="47529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Positive linear regression, capped by the</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three-month cash-flow baseline.</a:t>
            </a:r>
          </a:p>
        </p:txBody>
      </p:sp>
      <p:sp>
        <p:nvSpPr>
          <p:cNvPr id="9" name="">
            <a:extLst xmlns:a="http://schemas.openxmlformats.org/drawingml/2006/main">
              <a:ext uri="{FF2B5EF4-FFF2-40B4-BE49-F238E27FC236}">
                <a16:creationId xmlns:a16="http://schemas.microsoft.com/office/drawing/2014/main" id="{4940BDC3-E9E5-47AE-8A68-551BF00A304D}"/>
              </a:ext>
            </a:extLst>
          </p:cNvPr>
          <p:cNvSpPr>
            <a:spLocks xmlns:a="http://schemas.openxmlformats.org/drawingml/2006/main" noGrp="1"/>
          </p:cNvSpPr>
          <p:nvPr/>
        </p:nvSpPr>
        <p:spPr>
          <a:xfrm xmlns:a="http://schemas.openxmlformats.org/drawingml/2006/main">
            <a:off x="6362700" y="4391025"/>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Evidence coverage: 5.57%</a:t>
            </a:r>
          </a:p>
        </p:txBody>
      </p:sp>
      <p:sp>
        <p:nvSpPr>
          <p:cNvPr id="10" name="">
            <a:extLst xmlns:a="http://schemas.openxmlformats.org/drawingml/2006/main">
              <a:ext uri="{FF2B5EF4-FFF2-40B4-BE49-F238E27FC236}">
                <a16:creationId xmlns:a16="http://schemas.microsoft.com/office/drawing/2014/main" id="{5330C269-74FD-4645-A702-8A5331E10190}"/>
              </a:ext>
            </a:extLst>
          </p:cNvPr>
          <p:cNvSpPr>
            <a:spLocks xmlns:a="http://schemas.openxmlformats.org/drawingml/2006/main" noGrp="1"/>
          </p:cNvSpPr>
          <p:nvPr/>
        </p:nvSpPr>
        <p:spPr>
          <a:xfrm xmlns:a="http://schemas.openxmlformats.org/drawingml/2006/main">
            <a:off x="6362700" y="4752975"/>
            <a:ext cx="5105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825 / 14,820 rows meet the history rules.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Missing or ambiguous history causes abstention.</a:t>
            </a:r>
          </a:p>
        </p:txBody>
      </p:sp>
      <p:sp>
        <p:nvSpPr>
          <p:cNvPr id="11" name="">
            <a:extLst xmlns:a="http://schemas.openxmlformats.org/drawingml/2006/main">
              <a:ext uri="{FF2B5EF4-FFF2-40B4-BE49-F238E27FC236}">
                <a16:creationId xmlns:a16="http://schemas.microsoft.com/office/drawing/2014/main" id="{43C57BC2-2DAB-4909-B958-885B4FB2655E}"/>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MAE is in each currency's native units. Coverage describes usable evidence, not an approval rate. Gains are modest.</a:t>
            </a:r>
          </a:p>
        </p:txBody>
      </p:sp>
    </p:spTree>
    <p:extLst>
      <p:ext uri="{BB962C8B-B14F-4D97-AF65-F5344CB8AC3E}">
        <p14:creationId xmlns:p14="http://schemas.microsoft.com/office/powerpoint/2010/main" val="461065749"/>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68D9F2-41AC-4ACA-8240-AEAC144C441C}"/>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Eligibility and financial offer policy</a:t>
            </a:r>
          </a:p>
        </p:txBody>
      </p:sp>
      <p:sp>
        <p:nvSpPr>
          <p:cNvPr id="2" name="">
            <a:extLst xmlns:a="http://schemas.openxmlformats.org/drawingml/2006/main">
              <a:ext uri="{FF2B5EF4-FFF2-40B4-BE49-F238E27FC236}">
                <a16:creationId xmlns:a16="http://schemas.microsoft.com/office/drawing/2014/main" id="{2EBAA4F7-505B-4AD0-8270-6E4E386DC60E}"/>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Policy version 3 applies explicit prototype business assumptions to verified customer facts.</a:t>
            </a:r>
          </a:p>
        </p:txBody>
      </p:sp>
      <p:sp>
        <p:nvSpPr>
          <p:cNvPr id="3" name="">
            <a:extLst xmlns:a="http://schemas.openxmlformats.org/drawingml/2006/main">
              <a:ext uri="{FF2B5EF4-FFF2-40B4-BE49-F238E27FC236}">
                <a16:creationId xmlns:a16="http://schemas.microsoft.com/office/drawing/2014/main" id="{772A19DE-3654-46B0-94FC-9C475EA43A53}"/>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C88BCF-C9D7-462C-856E-45C5550C6323}"/>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87970477-FDA0-4E96-8C0C-CED17A6261EC}"/>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2F5037DE-8E50-43C2-B420-9DD134A0730E}"/>
              </a:ext>
            </a:extLst>
          </p:cNvPr>
          <p:cNvSpPr>
            <a:spLocks xmlns:a="http://schemas.openxmlformats.org/drawingml/2006/main" noGrp="1"/>
          </p:cNvSpPr>
          <p:nvPr/>
        </p:nvSpPr>
        <p:spPr>
          <a:xfrm xmlns:a="http://schemas.openxmlformats.org/drawingml/2006/main">
            <a:off x="723900" y="1752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1. Check evidence and current debt</a:t>
            </a:r>
          </a:p>
        </p:txBody>
      </p:sp>
      <p:sp>
        <p:nvSpPr>
          <p:cNvPr id="7" name="">
            <a:extLst xmlns:a="http://schemas.openxmlformats.org/drawingml/2006/main">
              <a:ext uri="{FF2B5EF4-FFF2-40B4-BE49-F238E27FC236}">
                <a16:creationId xmlns:a16="http://schemas.microsoft.com/office/drawing/2014/main" id="{8788EFEB-1C99-441B-804E-A12F26CE0621}"/>
              </a:ext>
            </a:extLst>
          </p:cNvPr>
          <p:cNvSpPr>
            <a:spLocks xmlns:a="http://schemas.openxmlformats.org/drawingml/2006/main" noGrp="1"/>
          </p:cNvSpPr>
          <p:nvPr/>
        </p:nvSpPr>
        <p:spPr>
          <a:xfrm xmlns:a="http://schemas.openxmlformats.org/drawingml/2006/main">
            <a:off x="723900" y="21145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Positive income and complete obligation terms.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6-month tenure for an additional product.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Fewer than 4 existing credit products.</a:t>
            </a:r>
          </a:p>
        </p:txBody>
      </p:sp>
      <p:sp>
        <p:nvSpPr>
          <p:cNvPr id="8" name="">
            <a:extLst xmlns:a="http://schemas.openxmlformats.org/drawingml/2006/main">
              <a:ext uri="{FF2B5EF4-FFF2-40B4-BE49-F238E27FC236}">
                <a16:creationId xmlns:a16="http://schemas.microsoft.com/office/drawing/2014/main" id="{6A93F60B-605F-4F82-B074-95D81FE1340C}"/>
              </a:ext>
            </a:extLst>
          </p:cNvPr>
          <p:cNvSpPr>
            <a:spLocks xmlns:a="http://schemas.openxmlformats.org/drawingml/2006/main" noGrp="1"/>
          </p:cNvSpPr>
          <p:nvPr/>
        </p:nvSpPr>
        <p:spPr>
          <a:xfrm xmlns:a="http://schemas.openxmlformats.org/drawingml/2006/main">
            <a:off x="6362700" y="17526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2. Calculate the payment budget</a:t>
            </a:r>
          </a:p>
        </p:txBody>
      </p:sp>
      <p:sp>
        <p:nvSpPr>
          <p:cNvPr id="9" name="">
            <a:extLst xmlns:a="http://schemas.openxmlformats.org/drawingml/2006/main">
              <a:ext uri="{FF2B5EF4-FFF2-40B4-BE49-F238E27FC236}">
                <a16:creationId xmlns:a16="http://schemas.microsoft.com/office/drawing/2014/main" id="{291F22E4-731A-4310-91D5-1D8713C9249F}"/>
              </a:ext>
            </a:extLst>
          </p:cNvPr>
          <p:cNvSpPr>
            <a:spLocks xmlns:a="http://schemas.openxmlformats.org/drawingml/2006/main" noGrp="1"/>
          </p:cNvSpPr>
          <p:nvPr/>
        </p:nvSpPr>
        <p:spPr>
          <a:xfrm xmlns:a="http://schemas.openxmlformats.org/drawingml/2006/main">
            <a:off x="6362700" y="21145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40% of income, less current obligations.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45% with qualifying reserves. Hard DTI: 60%.</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Existing exposure capped at 3x annual income.</a:t>
            </a:r>
          </a:p>
        </p:txBody>
      </p:sp>
      <p:sp>
        <p:nvSpPr>
          <p:cNvPr id="10" name="">
            <a:extLst xmlns:a="http://schemas.openxmlformats.org/drawingml/2006/main">
              <a:ext uri="{FF2B5EF4-FFF2-40B4-BE49-F238E27FC236}">
                <a16:creationId xmlns:a16="http://schemas.microsoft.com/office/drawing/2014/main" id="{2762E0C1-1FAF-4C2E-BEB1-8444DE92D886}"/>
              </a:ext>
            </a:extLst>
          </p:cNvPr>
          <p:cNvSpPr>
            <a:spLocks xmlns:a="http://schemas.openxmlformats.org/drawingml/2006/main" noGrp="1"/>
          </p:cNvSpPr>
          <p:nvPr/>
        </p:nvSpPr>
        <p:spPr>
          <a:xfrm xmlns:a="http://schemas.openxmlformats.org/drawingml/2006/main">
            <a:off x="723900" y="3657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3. Apply the capacity restriction</a:t>
            </a:r>
          </a:p>
        </p:txBody>
      </p:sp>
      <p:sp>
        <p:nvSpPr>
          <p:cNvPr id="11" name="">
            <a:extLst xmlns:a="http://schemas.openxmlformats.org/drawingml/2006/main">
              <a:ext uri="{FF2B5EF4-FFF2-40B4-BE49-F238E27FC236}">
                <a16:creationId xmlns:a16="http://schemas.microsoft.com/office/drawing/2014/main" id="{F7FA5F3D-AA97-42F2-B7B3-6F9DF693E62C}"/>
              </a:ext>
            </a:extLst>
          </p:cNvPr>
          <p:cNvSpPr>
            <a:spLocks xmlns:a="http://schemas.openxmlformats.org/drawingml/2006/main" noGrp="1"/>
          </p:cNvSpPr>
          <p:nvPr/>
        </p:nvSpPr>
        <p:spPr>
          <a:xfrm xmlns:a="http://schemas.openxmlformats.org/drawingml/2006/main">
            <a:off x="723900" y="40195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Use the lower of policy margin and ML capacity.</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Without a capacity estimate: 20% margin cut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and no mortgage offer.</a:t>
            </a:r>
          </a:p>
        </p:txBody>
      </p:sp>
      <p:sp>
        <p:nvSpPr>
          <p:cNvPr id="12" name="">
            <a:extLst xmlns:a="http://schemas.openxmlformats.org/drawingml/2006/main">
              <a:ext uri="{FF2B5EF4-FFF2-40B4-BE49-F238E27FC236}">
                <a16:creationId xmlns:a16="http://schemas.microsoft.com/office/drawing/2014/main" id="{07078726-473D-42F5-BFB5-F8B80418C929}"/>
              </a:ext>
            </a:extLst>
          </p:cNvPr>
          <p:cNvSpPr>
            <a:spLocks xmlns:a="http://schemas.openxmlformats.org/drawingml/2006/main" noGrp="1"/>
          </p:cNvSpPr>
          <p:nvPr/>
        </p:nvSpPr>
        <p:spPr>
          <a:xfrm xmlns:a="http://schemas.openxmlformats.org/drawingml/2006/main">
            <a:off x="6362700" y="36576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4. Validate and record the offer</a:t>
            </a:r>
          </a:p>
        </p:txBody>
      </p:sp>
      <p:sp>
        <p:nvSpPr>
          <p:cNvPr id="13" name="">
            <a:extLst xmlns:a="http://schemas.openxmlformats.org/drawingml/2006/main">
              <a:ext uri="{FF2B5EF4-FFF2-40B4-BE49-F238E27FC236}">
                <a16:creationId xmlns:a16="http://schemas.microsoft.com/office/drawing/2014/main" id="{DC61729A-0873-493B-A334-C45D2C72CAE3}"/>
              </a:ext>
            </a:extLst>
          </p:cNvPr>
          <p:cNvSpPr>
            <a:spLocks xmlns:a="http://schemas.openxmlformats.org/drawingml/2006/main" noGrp="1"/>
          </p:cNvSpPr>
          <p:nvPr/>
        </p:nvSpPr>
        <p:spPr>
          <a:xfrm xmlns:a="http://schemas.openxmlformats.org/drawingml/2006/main">
            <a:off x="6362700" y="40195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Check segment, amount, term and reserves.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Publish payment, effective rate and total interest.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Record quote, read it back, or escalate.</a:t>
            </a:r>
          </a:p>
        </p:txBody>
      </p:sp>
      <p:sp>
        <p:nvSpPr>
          <p:cNvPr id="14" name="">
            <a:extLst xmlns:a="http://schemas.openxmlformats.org/drawingml/2006/main">
              <a:ext uri="{FF2B5EF4-FFF2-40B4-BE49-F238E27FC236}">
                <a16:creationId xmlns:a16="http://schemas.microsoft.com/office/drawing/2014/main" id="{047620E7-742D-4155-801A-E9243BA96F31}"/>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The policy determines eligibility. Commercial scores cannot override it. Recorded quotes do not constitute disbursement.</a:t>
            </a:r>
          </a:p>
        </p:txBody>
      </p:sp>
    </p:spTree>
    <p:extLst>
      <p:ext uri="{BB962C8B-B14F-4D97-AF65-F5344CB8AC3E}">
        <p14:creationId xmlns:p14="http://schemas.microsoft.com/office/powerpoint/2010/main" val="16984781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2026-10-05T01:08:50.6720000Z</dcterms:created>
  <dcterms:modified xsi:type="dcterms:W3CDTF">2026-10-05T01:08:50.6720000Z</dcterms:modified>
</coreProperties>
</file>
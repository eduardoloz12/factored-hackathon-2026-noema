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0150ae07e16472d" /><Relationship Type="http://schemas.openxmlformats.org/officeDocument/2006/relationships/extended-properties" Target="/docProps/app.xml" Id="Rbcfd0b61e9f3413e" /><Relationship Type="http://schemas.openxmlformats.org/officeDocument/2006/relationships/officeDocument" Target="/ppt/presentation.xml" Id="Ra2c6467caed04d2e" /></Relationships>
</file>

<file path=ppt/presentation.xml><?xml version="1.0" encoding="utf-8"?>
<p:presentation xmlns:p="http://schemas.openxmlformats.org/presentationml/2006/main">
  <p:sldMasterIdLst>
    <p:sldMasterId xmlns:r="http://schemas.openxmlformats.org/officeDocument/2006/relationships" id="2147483648" r:id="R0da6399806c34d7d"/>
  </p:sldMasterIdLst>
  <p:notesMasterIdLst>
    <p:notesMasterId xmlns:r="http://schemas.openxmlformats.org/officeDocument/2006/relationships" r:id="Rbd22afb491ff494e"/>
  </p:notesMasterIdLst>
  <p:sldIdLst>
    <p:sldId xmlns:r="http://schemas.openxmlformats.org/officeDocument/2006/relationships" id="256" r:id="Ra2d3eb9fe7574446"/>
    <p:sldId xmlns:r="http://schemas.openxmlformats.org/officeDocument/2006/relationships" id="257" r:id="R7c054f7fa5a7488c"/>
    <p:sldId xmlns:r="http://schemas.openxmlformats.org/officeDocument/2006/relationships" id="258" r:id="R46a2ef70632c4314"/>
    <p:sldId xmlns:r="http://schemas.openxmlformats.org/officeDocument/2006/relationships" id="259" r:id="R5806eb1aed024289"/>
    <p:sldId xmlns:r="http://schemas.openxmlformats.org/officeDocument/2006/relationships" id="260" r:id="R80ab3e55e6b94385"/>
    <p:sldId xmlns:r="http://schemas.openxmlformats.org/officeDocument/2006/relationships" id="261" r:id="Rd17a1b7d55a24cfa"/>
    <p:sldId xmlns:r="http://schemas.openxmlformats.org/officeDocument/2006/relationships" id="262" r:id="Rb356f17144b24206"/>
    <p:sldId xmlns:r="http://schemas.openxmlformats.org/officeDocument/2006/relationships" id="263" r:id="R418bb16f22aa4b43"/>
    <p:sldId xmlns:r="http://schemas.openxmlformats.org/officeDocument/2006/relationships" id="264" r:id="R7db380da224d47df"/>
    <p:sldId xmlns:r="http://schemas.openxmlformats.org/officeDocument/2006/relationships" id="265" r:id="R62315e1d646e4a2e"/>
    <p:sldId xmlns:r="http://schemas.openxmlformats.org/officeDocument/2006/relationships" id="266" r:id="Rdc4b07978a024878"/>
    <p:sldId xmlns:r="http://schemas.openxmlformats.org/officeDocument/2006/relationships" id="267" r:id="Rb3f6bb5a9c4a447e"/>
    <p:sldId xmlns:r="http://schemas.openxmlformats.org/officeDocument/2006/relationships" id="268" r:id="Rf55630f3c2d440a7"/>
    <p:sldId xmlns:r="http://schemas.openxmlformats.org/officeDocument/2006/relationships" id="269" r:id="Rd7937b85500742b4"/>
    <p:sldId xmlns:r="http://schemas.openxmlformats.org/officeDocument/2006/relationships" id="270" r:id="Rf2a624b8d26245c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0fc508ef71df4d4c" /><Relationship Type="http://schemas.openxmlformats.org/officeDocument/2006/relationships/slideMaster" Target="/ppt/slideMasters/slideMaster1.xml" Id="R0da6399806c34d7d" /><Relationship Type="http://schemas.openxmlformats.org/officeDocument/2006/relationships/notesMaster" Target="/ppt/notesMasters/notesMaster1.xml" Id="Rbd22afb491ff494e" /><Relationship Type="http://schemas.openxmlformats.org/officeDocument/2006/relationships/presProps" Target="/ppt/presProps.xml" Id="Rf61d83e1fa9a4480" /><Relationship Type="http://schemas.openxmlformats.org/officeDocument/2006/relationships/viewProps" Target="/ppt/viewProps.xml" Id="R450dcde5259a4b14" /><Relationship Type="http://schemas.openxmlformats.org/officeDocument/2006/relationships/tableStyles" Target="/ppt/tableStyles.xml" Id="R279c91947c614be3" /><Relationship Type="http://schemas.openxmlformats.org/officeDocument/2006/relationships/slide" Target="/ppt/slides/slide1.xml" Id="Ra2d3eb9fe7574446" /><Relationship Type="http://schemas.openxmlformats.org/officeDocument/2006/relationships/slide" Target="/ppt/slides/slide2.xml" Id="R7c054f7fa5a7488c" /><Relationship Type="http://schemas.openxmlformats.org/officeDocument/2006/relationships/slide" Target="/ppt/slides/slide3.xml" Id="R46a2ef70632c4314" /><Relationship Type="http://schemas.openxmlformats.org/officeDocument/2006/relationships/slide" Target="/ppt/slides/slide4.xml" Id="R5806eb1aed024289" /><Relationship Type="http://schemas.openxmlformats.org/officeDocument/2006/relationships/slide" Target="/ppt/slides/slide5.xml" Id="R80ab3e55e6b94385" /><Relationship Type="http://schemas.openxmlformats.org/officeDocument/2006/relationships/slide" Target="/ppt/slides/slide6.xml" Id="Rd17a1b7d55a24cfa" /><Relationship Type="http://schemas.openxmlformats.org/officeDocument/2006/relationships/slide" Target="/ppt/slides/slide7.xml" Id="Rb356f17144b24206" /><Relationship Type="http://schemas.openxmlformats.org/officeDocument/2006/relationships/slide" Target="/ppt/slides/slide8.xml" Id="R418bb16f22aa4b43" /><Relationship Type="http://schemas.openxmlformats.org/officeDocument/2006/relationships/slide" Target="/ppt/slides/slide9.xml" Id="R7db380da224d47df" /><Relationship Type="http://schemas.openxmlformats.org/officeDocument/2006/relationships/slide" Target="/ppt/slides/slide10.xml" Id="R62315e1d646e4a2e" /><Relationship Type="http://schemas.openxmlformats.org/officeDocument/2006/relationships/slide" Target="/ppt/slides/slide11.xml" Id="Rdc4b07978a024878" /><Relationship Type="http://schemas.openxmlformats.org/officeDocument/2006/relationships/slide" Target="/ppt/slides/slide12.xml" Id="Rb3f6bb5a9c4a447e" /><Relationship Type="http://schemas.openxmlformats.org/officeDocument/2006/relationships/slide" Target="/ppt/slides/slide13.xml" Id="Rf55630f3c2d440a7" /><Relationship Type="http://schemas.openxmlformats.org/officeDocument/2006/relationships/slide" Target="/ppt/slides/slide14.xml" Id="Rd7937b85500742b4" /><Relationship Type="http://schemas.openxmlformats.org/officeDocument/2006/relationships/slide" Target="/ppt/slides/slide15.xml" Id="Rf2a624b8d26245c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026776d84154e9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3ed8395b9f747e6" /><Relationship Type="http://schemas.openxmlformats.org/officeDocument/2006/relationships/notesMaster" Target="/ppt/notesMasters/notesMaster1.xml" Id="Rc81ce3f7c33b4dfd" /></Relationships>
</file>

<file path=ppt/notesSlides/_rels/notesSlide2.xml.rels>&#65279;<?xml version="1.0" encoding="utf-8"?><Relationships xmlns="http://schemas.openxmlformats.org/package/2006/relationships"><Relationship Type="http://schemas.openxmlformats.org/officeDocument/2006/relationships/slide" Target="/ppt/slides/slide2.xml" Id="R7f66de8597884495" /><Relationship Type="http://schemas.openxmlformats.org/officeDocument/2006/relationships/notesMaster" Target="/ppt/notesMasters/notesMaster1.xml" Id="R6c4aea0bd58648c0" /></Relationships>
</file>

<file path=ppt/notesSlides/_rels/notesSlide3.xml.rels>&#65279;<?xml version="1.0" encoding="utf-8"?><Relationships xmlns="http://schemas.openxmlformats.org/package/2006/relationships"><Relationship Type="http://schemas.openxmlformats.org/officeDocument/2006/relationships/slide" Target="/ppt/slides/slide3.xml" Id="R6ea9c1f6cf724095" /><Relationship Type="http://schemas.openxmlformats.org/officeDocument/2006/relationships/notesMaster" Target="/ppt/notesMasters/notesMaster1.xml" Id="R32c947b433774018" /></Relationships>
</file>

<file path=ppt/notesSlides/_rels/notesSlide4.xml.rels>&#65279;<?xml version="1.0" encoding="utf-8"?><Relationships xmlns="http://schemas.openxmlformats.org/package/2006/relationships"><Relationship Type="http://schemas.openxmlformats.org/officeDocument/2006/relationships/slide" Target="/ppt/slides/slide4.xml" Id="Rb36de90dce294499" /><Relationship Type="http://schemas.openxmlformats.org/officeDocument/2006/relationships/notesMaster" Target="/ppt/notesMasters/notesMaster1.xml" Id="Rfc65eaf61aec410e" /></Relationships>
</file>

<file path=ppt/notesSlides/_rels/notesSlide5.xml.rels>&#65279;<?xml version="1.0" encoding="utf-8"?><Relationships xmlns="http://schemas.openxmlformats.org/package/2006/relationships"><Relationship Type="http://schemas.openxmlformats.org/officeDocument/2006/relationships/slide" Target="/ppt/slides/slide5.xml" Id="Rc8d8ad7ac3e7463a" /><Relationship Type="http://schemas.openxmlformats.org/officeDocument/2006/relationships/notesMaster" Target="/ppt/notesMasters/notesMaster1.xml" Id="Rf712a53f1b84465c" /></Relationships>
</file>

<file path=ppt/notesSlides/_rels/notesSlide6.xml.rels>&#65279;<?xml version="1.0" encoding="utf-8"?><Relationships xmlns="http://schemas.openxmlformats.org/package/2006/relationships"><Relationship Type="http://schemas.openxmlformats.org/officeDocument/2006/relationships/slide" Target="/ppt/slides/slide6.xml" Id="R28d641a507d6492b" /><Relationship Type="http://schemas.openxmlformats.org/officeDocument/2006/relationships/notesMaster" Target="/ppt/notesMasters/notesMaster1.xml" Id="R3c1b98c4191241b5" /></Relationships>
</file>

<file path=ppt/notesSlides/_rels/notesSlide7.xml.rels>&#65279;<?xml version="1.0" encoding="utf-8"?><Relationships xmlns="http://schemas.openxmlformats.org/package/2006/relationships"><Relationship Type="http://schemas.openxmlformats.org/officeDocument/2006/relationships/slide" Target="/ppt/slides/slide7.xml" Id="Rbcb5ffb293884bcd" /><Relationship Type="http://schemas.openxmlformats.org/officeDocument/2006/relationships/notesMaster" Target="/ppt/notesMasters/notesMaster1.xml" Id="R30cee17b7a3d4a3c" /></Relationships>
</file>

<file path=ppt/notesSlides/_rels/notesSlide8.xml.rels>&#65279;<?xml version="1.0" encoding="utf-8"?><Relationships xmlns="http://schemas.openxmlformats.org/package/2006/relationships"><Relationship Type="http://schemas.openxmlformats.org/officeDocument/2006/relationships/slide" Target="/ppt/slides/slide8.xml" Id="R35dda5f194f74156" /><Relationship Type="http://schemas.openxmlformats.org/officeDocument/2006/relationships/notesMaster" Target="/ppt/notesMasters/notesMaster1.xml" Id="Rd4983c30a27f49e7" /></Relationships>
</file>

<file path=ppt/notesSlides/_rels/notesSlide9.xml.rels>&#65279;<?xml version="1.0" encoding="utf-8"?><Relationships xmlns="http://schemas.openxmlformats.org/package/2006/relationships"><Relationship Type="http://schemas.openxmlformats.org/officeDocument/2006/relationships/slide" Target="/ppt/slides/slide9.xml" Id="R3a394a70a28149f6" /><Relationship Type="http://schemas.openxmlformats.org/officeDocument/2006/relationships/notesMaster" Target="/ppt/notesMasters/notesMaster1.xml" Id="R33b49994f97f4b0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d14515865414c16" /><Relationship Type="http://schemas.openxmlformats.org/officeDocument/2006/relationships/notesMaster" Target="/ppt/notesMasters/notesMaster1.xml" Id="Rf4aa44f40190495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460c831ad424f68" /><Relationship Type="http://schemas.openxmlformats.org/officeDocument/2006/relationships/notesMaster" Target="/ppt/notesMasters/notesMaster1.xml" Id="R1579897bfc1a4ed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d4397957a884aad" /><Relationship Type="http://schemas.openxmlformats.org/officeDocument/2006/relationships/notesMaster" Target="/ppt/notesMasters/notesMaster1.xml" Id="R0275e61118864f6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4496d5ad400425b" /><Relationship Type="http://schemas.openxmlformats.org/officeDocument/2006/relationships/notesMaster" Target="/ppt/notesMasters/notesMaster1.xml" Id="Rc1a6704833954c8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e1a0a10f9024971" /><Relationship Type="http://schemas.openxmlformats.org/officeDocument/2006/relationships/notesMaster" Target="/ppt/notesMasters/notesMaster1.xml" Id="R17cfffef5949429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b0db9527e924555" /><Relationship Type="http://schemas.openxmlformats.org/officeDocument/2006/relationships/notesMaster" Target="/ppt/notesMasters/notesMaster1.xml" Id="R6a671c1f886343a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sections 1, 2, 3, 4, and 10; docs/00_challenge_brief.md.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NOEMA separates language understanding, identity checks, deterministic eligibility, tool execution, read-back verification, and structured escalation. Models support specific tasks: product-interest ranking and a bounded cash-flow estimate. They do not learn a defensible credit approval label from this dataset. The visible architecture is the repository design, not certification that every deployed endpoint enforces every control. Sources: README.md; agent/policies/engine.py; agent/core/orchestrator.py; agent/core/verifier.py; docs/23_executive_summary_validation.md. Audit total: 23,495,188 rows, from docs/federico_model_and_data_results.txt.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ml/model_cards/product_interest.json and deep_interest.json; ml/training/product_interest.py. Test period: May-November 2025, 1,216 positive cases, prevalence 0.489%. Baseline predicts the training conversion prior for every exposure. Logistic regression uses product, channel, prior sends and send month. Deep MLP uses the same inputs. Logistic test log loss improves by 5.48% relative to the prior, AP by 66.47%, and top-decile lift is 1.77x. These are retrospective ranking results, not causal uplift or credit approval accuracy. Selection uses validation, not the displayed test. Models remain marked production_ready=false. AP means average precision, ROC-AUC measures ranking, log loss evaluates probabilities, and lift compares top-decile conversion with the full test prevalence. The small absolute AP reflects the rare outcome.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ml/training/product_interest.py; ml/model_cards/deep_interest.json; ml/model_cards/depth_experiment.json; ml/training/depth_experiment.py. Product-interest preparation one-hot encodes categories, imputes numeric values using training medians with missingness indicators, and scales numerics. Logistic C=1.0, max_iter=1000, seed=42. MLP uses ReLU hidden layers, sigmoid output, Adam, alpha=0.01, learning rate=0.001, batch=1024, patience=4. The initial MLP run used at most 20 epochs and selected epoch 14. Follow-up depth study uses 30 epochs and seeds 42,43,44, with separate stopping and selection periods. Three-layer selection mean log loss=0.0325569, six-layer=0.0325812, logistic=0.0323455. Three-layer mean AP is higher, but logistic has better log loss and Brier. The recommendation remains logistic. Cleaning and validation controls improve evidence quality; no isolated ablation proves the metric contribution of each preprocessing step. No new training is claimed by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data/models/capacity.json; ml/training/capacity.py. Target=min(max(monthly deposits-monthly outflows,0),0.30*monthly deposits). Baseline=min(previous-three-month minimum surplus,0.30*previous-three-month mean deposits). LinearRegression(positive=True) predicts the future target from mean deposits, mean outflows, minimum surplus and active months. Prediction is clipped to [0, baseline], so the learned model can only lower this ceiling. Last two complete months form validation. Training is capped at 150,000 rows with seed 42 after deterministic customer sampling hash(customer_id)%20=0. Metrics describe all 14,820 validation rows, not only the 825 rows meeting serving evidence requirements. Eligibility for serving requires three active months and no ambiguous transfers/adjustments. Aggregate MAE 92,731.04 baseline vs 92,369.45 model gives 0.39% reduction, but mixes currencies and must not support cross-country claims. No observed solvency/default label and no external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agent/policies/eligibility_v1.yaml (version:3, effective 2026-10-02, data cutoff 2025-12-31); agent/policies/engine.py; agent/tools/credit.py; agent/core/verifier.py. Rules are prototype business choices, not regulatory thresholds. Missing positive income or missing credit limit/rate causes abstention. Additional product requires 6 months tenure; at 4 existing credit products no new offer; current DTI&gt;=60% blocks; current granted exposure&gt;3*annual income blocks. DTI budget is normally 40%, or 45% when reserves cover &gt;=6 months of positive current obligations. Policy margin=max(0,DTI budget*income-current obligations). Available capacity caps this margin; absent capacity multiplies it by 0.80 and excludes mortgages. Per-product checks include segment, minimum, maximum, term and reserves. Tools record a quote and read it back before success. A quote is not a disbursement. The strict path has these controls, while end-to-end deployment enforcement requires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ml/training/product_interest.py and ml/model_cards/product_interest.json. The source audit counts 1,746,801 exposures and 979,681 eligible rows before temporal split/embargo. Audit exclusion categories can overlap and should not be summed as a waterfall. Same customers may recur across time. Customer-cluster bootstrap with 100 repetitions gives test ROC-AUC interval [0.66750,0.68891] and AP interval [0.00744,0.00922]. Those intervals are conditional on the test period. Training uses exposures July 2023-November 2024, validation January-March 2025 and test May-November 2025. December and April create gaps for label maturation. Process-date availability is enforced at split boundaries. Inputs exclude target-campaign opens and clicks and any post-send outcome. Product/channel metadata are assumed stable and lack a versioned availability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ml/model_cards/depth_experiment.json; ml/training/depth_experiment.py. Three hidden layers=[32,16,8], 1,153 parameters. Six hidden layers=[32,32,16,16,8,8], 2,553 parameters. Training through November 2024, stopping in January 2025, selection from March 3, test from May. Selection set contains 34,142 exposures and 187 positives. ReLU, Adam, alpha 0.01, learning rate 0.001, batch 1024, patience 4. Selection summary reports means over 3 seeds for neural families; logistic is a single deterministic baseline run. Preferred neural family is three_hidden, recommended model logistic. Test fixed seed 42 yields six-layer AUC 0.67758, logistic 0.67672; this small test difference does not justify changing the validation choice. The test was reused from previous experiments and is not fresh external validation. Standard deviation over seeds is not a confidence interval.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ml/model_cards/support_escalation.json; ml/model_cards/churn_prediction.json; ml/training/churn_prediction.py; ml/training/customer_segmentation.py. Support escalation: trained logistic on channel, interaction type, reason category with temporal train/validation/test, 88,976 test rows. Logistic AUC=0.497402 versus prior 0.5; AP=0.097986 versus 0.099251; signal_gate_passed=false. User-requested human escalation must remain available regardless of scores. Churn V2: 100-tree random forest, class_weight=balanced, one-hot encoding, StandardScaler, train_test_split test_size=0.2 random_state=42. Training code fills product_count and total_balance_usd structural nulls and drops remaining incomplete rows. Card reports accuracy 0.841953, precision 0.151659, recall 0.014506, F1 0.026479. No baseline benchmark or forward temporal evaluation is reported, so no improvement claim is supported. Customer segmentation script fits 50-tree random forest and scores on the training data, explicitly a mock. Its production_ready flag cannot substitute for held-out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ml/training/capacity.py; data/models/capacity.json. Approved transactions only, with operation and process dates before the cutoff. Calendar months are completed and missing activity months are represented as zero activity. Per customer/currency, three lagged months form features. Deposits are Deposit/Deposito; outflows Payment/Purchase/Withdrawal and translated equivalents. Transfers and adjustments count as ambiguous. Target and baseline are distinct: target is the next monthly proxy, baseline uses prior-three-month history. Nonnegative coefficients constrain the learned regression, not all economic relationships. Intercept and coefficients come from pooled native-currency data, limiting comparability. Output is clipped to [0,ceiling]. Serving needs 3 active months, no ambiguity and the requested currency. Aggregate selection favors model by 0.39% MAE but this is modest and currency-scale sensitive. Metrics were computed across all validation rows, not solely the serving-eligible subset.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agent/policies/engine.py evaluar and agent/policies/eligibility_v1.yaml version 3. Income must be positive. Missing limit or annual rate on an existing credit obligation causes abstention before DTI computation. Rules proceed through tenure, product count, hard DTI, current granted exposure, and remaining margin. Existing-product count at 4 blocks another. Exposure check is on existing granted credit and does not itself prove a post-offer combined exposure ceiling. Qualifying reserves may raise DTI budget to 45%, but the separate current DTI hard cutoff remains 60%. Net worth is published as a fact and is not a decision threshold. Delinquency cannot be reliably determined. Policy comments retaining an older remaining-term formula are superseded by executable _carga: fixed-loan payment uses original total term.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agent/policies/eligibility_v1.yaml; agent/policies/engine.py; agent/tools/credit.py. Credit card: nominal 31.52%, effective 36.4969%, minimum 500, maximum 100000, all Basic/Plus/Premium/Student segments, revolving minimum-payment assumption 5%, no reserve requirement. Config contains a 48-month value, but this is not an amortization schedule. Personal loan: nominal 20.10%, effective 22.0591%, USD1000-150000, terms24/48/72 months, Basic/Plus/Premium, reserves cover1 proposed payment. Mortgage nominal8.98%, effective9.3590%, USD20000-500000, terms120/180/240 months, Plus/Premium, reserves cover3 proposed payments, requires available cash-flow estimate. Effective rate=(1+nominal/12)^12-1 with nominal expressed as fraction. Fees and jurisdiction-specific disclosures are not established by these calculations. Annual rates are policy values based on source medians, not current market quotes. The authoritative catalog is YAML, not placeholder gold.product_policy rows.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agent/policies/engine.py cuota_francesa and evaluar; agent/policies/eligibility_v1.yaml. Example assumptions: Basic segment, established relationship, monthly income USD3000, current obligations USD600, current granted exposure USD10000, one existing credit product, liquid reserves USD1500, available capacity estimate USD450/month. Reserves cover2.5 months of current obligations, below6, so DTI cap stays40%. Base margin=0.4*3000-600=600. Capacity caps it at450. Current DTI20% passes hard60%; existing exposure10000 is under108000; other customer rules pass. At nominal20.10% the requested10000 costs approximately509.45 at24months,304.84 at48months,240.11 at72months. 24months cannot fund the full requested principal within450 but may produce a lower counteroffer. 48/72 pass one-payment reserve requirement. Calculations use full precision before display rounding. Total interest=payment*months-principal. Quote recording and verification remain separate subsequent 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agent/policies/engine.py _carga and evaluar; agent/policies/eligibility_v1.yaml; agent/tools/credit.py record_offer_quote; agent/core/verifier.py; tests/policies; tests/tools/test_escrituras_y_relectura.py. Existing card load is max(5% drawn balance,USD25) when drawn balance&gt;0, plus5%*10% of unused line. Unknown drawn balance assumes full line. Existing fixed-loan payment uses original total term rather than remaining term. Reserves count eligible liquid accounts at100% and investments at70%; &gt;=6 current-payment months permits45% DTI. Missing capacity now cuts policy margin by20% and excludes mortgages. Multiple terms evaluate minimum, ceiling and reserves separately and publish total interest. Removed unsupported payment-compliance rule never executed, so removing it alone did not change decisions. Record_offer_quote validates selected product and term against eligible offers; tools enforce roles and idempotency, then verifier reads persisted fields. Grounding checks compare response values with tool evidence. Validation tests exist in repository, but no new suite run or production enforcement claim is made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agent/policies/engine.py _carga, _reservas and evaluar; agent/policies/eligibility_v1.yaml. Existing fixed-loan installments use granted principal and original total term, not remaining term. The policy discloses assumed terms when contractual terms are unavailable. Existing revolvers use max(5% drawn balance,25 USD) when drawn balance is positive plus0.5% unused line (5% minimum times10% stress factor). Missing drawn balance assumes full credit limit. Liquid eligible accounts count100%, investments70%, reserve compensation uses reserves divided by positive CURRENT monthly debt service. At least6 months raises DTI budget from40% to45%. Required reserves on a proposed loan are measured against its PROPOSED installment: personal1, mortgage3, card0. New revolving quote payment uses5% of offered line. Fixed-loan formula uses i=nominal annual fraction/12 and n=months. These are prototype underwriting assumptions and not universal banking or regulatory rules.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df2022215e24a7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fdef4c70d514e59" /><Relationship Type="http://schemas.openxmlformats.org/officeDocument/2006/relationships/slideLayout" Target="/ppt/slideLayouts/slideLayout1.xml" Id="R801f466757c8493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01f466757c8493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ba739dec1da41e6" /><Relationship Type="http://schemas.openxmlformats.org/officeDocument/2006/relationships/image" Target="/ppt/media/image.png" Id="R93f698fafb3c43e8" /><Relationship Type="http://schemas.openxmlformats.org/officeDocument/2006/relationships/notesSlide" Target="/ppt/notesSlides/notesSlide1.xml" Id="Rffa44cf752cc4ef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dd20a767d7c47f5" /><Relationship Type="http://schemas.openxmlformats.org/officeDocument/2006/relationships/notesSlide" Target="/ppt/notesSlides/notesSlide2.xml" Id="Rf6bc21cc42664b9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7d0c8587523426a" /><Relationship Type="http://schemas.openxmlformats.org/officeDocument/2006/relationships/notesSlide" Target="/ppt/notesSlides/notesSlide3.xml" Id="R21d7848562f1455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45d57e20e8342d7" /><Relationship Type="http://schemas.openxmlformats.org/officeDocument/2006/relationships/notesSlide" Target="/ppt/notesSlides/notesSlide4.xml" Id="Rb812f189d9074ed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878126068af45c6" /><Relationship Type="http://schemas.openxmlformats.org/officeDocument/2006/relationships/notesSlide" Target="/ppt/notesSlides/notesSlide5.xml" Id="R66afc0b36cb44d3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1b7ac088ef7471c" /><Relationship Type="http://schemas.openxmlformats.org/officeDocument/2006/relationships/notesSlide" Target="/ppt/notesSlides/notesSlide6.xml" Id="R0cc704b555df426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064a10ab37e4f84" /><Relationship Type="http://schemas.openxmlformats.org/officeDocument/2006/relationships/notesSlide" Target="/ppt/notesSlides/notesSlide7.xml" Id="R177522f0bbd747d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dadd9dc287c442c" /><Relationship Type="http://schemas.openxmlformats.org/officeDocument/2006/relationships/notesSlide" Target="/ppt/notesSlides/notesSlide8.xml" Id="R6591c116927a489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8125c2aa0a24320" /><Relationship Type="http://schemas.openxmlformats.org/officeDocument/2006/relationships/notesSlide" Target="/ppt/notesSlides/notesSlide9.xml" Id="Rf595f22c83c24e9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63364b4ca1741e3" /><Relationship Type="http://schemas.openxmlformats.org/officeDocument/2006/relationships/notesSlide" Target="/ppt/notesSlides/notesSlide10.xml" Id="R698e48bfc7b946d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16eff70406640c7" /><Relationship Type="http://schemas.openxmlformats.org/officeDocument/2006/relationships/notesSlide" Target="/ppt/notesSlides/notesSlide11.xml" Id="R0851cf2fb93e4a4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ed6ed8adeaa4ebc" /><Relationship Type="http://schemas.openxmlformats.org/officeDocument/2006/relationships/notesSlide" Target="/ppt/notesSlides/notesSlide12.xml" Id="R1f4f56029d6a47e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2a53ae37dfe472d" /><Relationship Type="http://schemas.openxmlformats.org/officeDocument/2006/relationships/notesSlide" Target="/ppt/notesSlides/notesSlide13.xml" Id="Rbd28128c904d45b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7618891515a422c" /><Relationship Type="http://schemas.openxmlformats.org/officeDocument/2006/relationships/notesSlide" Target="/ppt/notesSlides/notesSlide14.xml" Id="R764aacf22c0549b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1508a4912f1494f" /><Relationship Type="http://schemas.openxmlformats.org/officeDocument/2006/relationships/notesSlide" Target="/ppt/notesSlides/notesSlide15.xml" Id="Ra360d858019f4b2b" /></Relationships>
</file>

<file path=ppt/slides/slide1.xml><?xml version="1.0" encoding="utf-8"?>
<p:sld xmlns:p="http://schemas.openxmlformats.org/presentationml/2006/main">
  <p:cSld>
    <p:bg>
      <p:bgPr>
        <a:solidFill xmlns:a="http://schemas.openxmlformats.org/drawingml/2006/main">
          <a:srgbClr val="071826"/>
        </a:solidFill>
      </p:bgPr>
    </p:bg>
    <p:spTree>
      <p:nvGrpSpPr>
        <p:cNvPr id="1" name=""/>
        <p:cNvGrpSpPr/>
        <p:nvPr/>
      </p:nvGrpSpPr>
      <p:grpSpPr>
        <a:xfrm xmlns:a="http://schemas.openxmlformats.org/drawingml/2006/main"/>
      </p:grpSpPr>
      <p:pic>
        <p:nvPicPr>
          <p:cNvPr id="9" name="Picture 7"/>
          <p:cNvPicPr>
            <a:picLocks xmlns:a="http://schemas.openxmlformats.org/drawingml/2006/main" noChangeAspect="1"/>
          </p:cNvPicPr>
          <p:nvPr/>
        </p:nvPicPr>
        <p:blipFill>
          <a:blip xmlns:r="http://schemas.openxmlformats.org/officeDocument/2006/relationships" xmlns:a="http://schemas.openxmlformats.org/drawingml/2006/main" r:embed="R93f698fafb3c43e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Rectangle 1">
            <a:extLst xmlns:a="http://schemas.openxmlformats.org/drawingml/2006/main">
              <a:ext uri="{FF2B5EF4-FFF2-40B4-BE49-F238E27FC236}">
                <a16:creationId xmlns:a16="http://schemas.microsoft.com/office/drawing/2014/main" id="{99662736-A823-43A8-9B57-6ADCC932941E}"/>
              </a:ext>
            </a:extLst>
          </p:cNvPr>
          <p:cNvSpPr>
            <a:spLocks xmlns:a="http://schemas.openxmlformats.org/drawingml/2006/main" noGrp="1"/>
          </p:cNvSpPr>
          <p:nvPr/>
        </p:nvSpPr>
        <p:spPr>
          <a:xfrm xmlns:a="http://schemas.openxmlformats.org/drawingml/2006/main">
            <a:off x="0" y="0"/>
            <a:ext cx="5619750" cy="6858000"/>
          </a:xfrm>
          <a:prstGeom xmlns:a="http://schemas.openxmlformats.org/drawingml/2006/main" prst="rect">
            <a:avLst/>
          </a:prstGeom>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3" name="Rectangle 2">
            <a:extLst xmlns:a="http://schemas.openxmlformats.org/drawingml/2006/main">
              <a:ext uri="{FF2B5EF4-FFF2-40B4-BE49-F238E27FC236}">
                <a16:creationId xmlns:a16="http://schemas.microsoft.com/office/drawing/2014/main" id="{1195EF7D-F026-4A57-A05F-34B29FC01A1F}"/>
              </a:ext>
            </a:extLst>
          </p:cNvPr>
          <p:cNvSpPr>
            <a:spLocks xmlns:a="http://schemas.openxmlformats.org/drawingml/2006/main" noGrp="1"/>
          </p:cNvSpPr>
          <p:nvPr/>
        </p:nvSpPr>
        <p:spPr>
          <a:xfrm xmlns:a="http://schemas.openxmlformats.org/drawingml/2006/main">
            <a:off x="704850" y="1524000"/>
            <a:ext cx="3714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402"/>
          </a:bodyPr>
          <a:lstStyle xmlns:a="http://schemas.openxmlformats.org/drawingml/2006/main"/>
          <a:p xmlns:a="http://schemas.openxmlformats.org/drawingml/2006/main">
            <a:pPr>
              <a:buNone/>
              <a:defRPr sz="4350" b="1">
                <a:solidFill>
                  <a:srgbClr val="FFFFFF"/>
                </a:solidFill>
                <a:latin typeface="Aptos"/>
                <a:ea typeface="Aptos"/>
                <a:cs typeface="Aptos"/>
              </a:defRPr>
            </a:pPr>
            <a:r>
              <a:rPr sz="4350" b="1">
                <a:solidFill>
                  <a:srgbClr val="FFFFFF"/>
                </a:solidFill>
                <a:latin typeface="Aptos"/>
                <a:ea typeface="Aptos"/>
                <a:cs typeface="Aptos"/>
              </a:rPr>
              <a:t>NOEMA</a:t>
            </a:r>
          </a:p>
        </p:txBody>
      </p:sp>
      <p:sp>
        <p:nvSpPr>
          <p:cNvPr id="4" name="Rectangle 3">
            <a:extLst xmlns:a="http://schemas.openxmlformats.org/drawingml/2006/main">
              <a:ext uri="{FF2B5EF4-FFF2-40B4-BE49-F238E27FC236}">
                <a16:creationId xmlns:a16="http://schemas.microsoft.com/office/drawing/2014/main" id="{F7957355-4605-408F-964D-8F6FF755F2E5}"/>
              </a:ext>
            </a:extLst>
          </p:cNvPr>
          <p:cNvSpPr>
            <a:spLocks xmlns:a="http://schemas.openxmlformats.org/drawingml/2006/main" noGrp="1"/>
          </p:cNvSpPr>
          <p:nvPr/>
        </p:nvSpPr>
        <p:spPr>
          <a:xfrm xmlns:a="http://schemas.openxmlformats.org/drawingml/2006/main">
            <a:off x="742950" y="2324100"/>
            <a:ext cx="4143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875" b="0">
                <a:solidFill>
                  <a:srgbClr val="F6F3EC"/>
                </a:solidFill>
                <a:latin typeface="Aptos"/>
                <a:ea typeface="Aptos"/>
                <a:cs typeface="Aptos"/>
              </a:defRPr>
            </a:pPr>
            <a:r>
              <a:rPr sz="1875" b="0">
                <a:solidFill>
                  <a:srgbClr val="F6F3EC"/>
                </a:solidFill>
                <a:latin typeface="Aptos"/>
                <a:ea typeface="Aptos"/>
                <a:cs typeface="Aptos"/>
              </a:rPr>
              <a:t>Credit eligibility assistant for safer banking conversations</a:t>
            </a:r>
          </a:p>
        </p:txBody>
      </p:sp>
      <p:sp>
        <p:nvSpPr>
          <p:cNvPr id="5" name="Rectangle 4">
            <a:extLst xmlns:a="http://schemas.openxmlformats.org/drawingml/2006/main">
              <a:ext uri="{FF2B5EF4-FFF2-40B4-BE49-F238E27FC236}">
                <a16:creationId xmlns:a16="http://schemas.microsoft.com/office/drawing/2014/main" id="{FBA26EF3-746F-4063-8265-56B28AD0017E}"/>
              </a:ext>
            </a:extLst>
          </p:cNvPr>
          <p:cNvSpPr>
            <a:spLocks xmlns:a="http://schemas.openxmlformats.org/drawingml/2006/main" noGrp="1"/>
          </p:cNvSpPr>
          <p:nvPr/>
        </p:nvSpPr>
        <p:spPr>
          <a:xfrm xmlns:a="http://schemas.openxmlformats.org/drawingml/2006/main">
            <a:off x="762000" y="3352800"/>
            <a:ext cx="819150" cy="47625"/>
          </a:xfrm>
          <a:prstGeom xmlns:a="http://schemas.openxmlformats.org/drawingml/2006/main" prst="rect">
            <a:avLst/>
          </a:prstGeom>
          <a:solidFill xmlns:a="http://schemas.openxmlformats.org/drawingml/2006/main">
            <a:srgbClr val="C9A45C"/>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EF13C7E4-3E13-4A23-A1D0-E2AEF21F1665}"/>
              </a:ext>
            </a:extLst>
          </p:cNvPr>
          <p:cNvSpPr>
            <a:spLocks xmlns:a="http://schemas.openxmlformats.org/drawingml/2006/main" noGrp="1"/>
          </p:cNvSpPr>
          <p:nvPr/>
        </p:nvSpPr>
        <p:spPr>
          <a:xfrm xmlns:a="http://schemas.openxmlformats.org/drawingml/2006/main">
            <a:off x="762000" y="367665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buNone/>
              <a:defRPr sz="1200" b="0">
                <a:solidFill>
                  <a:srgbClr val="D9E3E7"/>
                </a:solidFill>
                <a:latin typeface="Aptos"/>
                <a:ea typeface="Aptos"/>
                <a:cs typeface="Aptos"/>
              </a:defRPr>
            </a:pPr>
            <a:r>
              <a:rPr sz="1200" b="0">
                <a:solidFill>
                  <a:srgbClr val="D9E3E7"/>
                </a:solidFill>
                <a:latin typeface="Aptos"/>
                <a:ea typeface="Aptos"/>
                <a:cs typeface="Aptos"/>
              </a:rPr>
              <a:t>Built for Factored AI &amp; Data Hackathon 2026</a:t>
            </a:r>
          </a:p>
        </p:txBody>
      </p:sp>
      <p:sp>
        <p:nvSpPr>
          <p:cNvPr id="7" name="Rectangle 6">
            <a:extLst xmlns:a="http://schemas.openxmlformats.org/drawingml/2006/main">
              <a:ext uri="{FF2B5EF4-FFF2-40B4-BE49-F238E27FC236}">
                <a16:creationId xmlns:a16="http://schemas.microsoft.com/office/drawing/2014/main" id="{8E342728-C106-4B2E-9AF9-8F68F4E53A25}"/>
              </a:ext>
            </a:extLst>
          </p:cNvPr>
          <p:cNvSpPr>
            <a:spLocks xmlns:a="http://schemas.openxmlformats.org/drawingml/2006/main" noGrp="1"/>
          </p:cNvSpPr>
          <p:nvPr/>
        </p:nvSpPr>
        <p:spPr>
          <a:xfrm xmlns:a="http://schemas.openxmlformats.org/drawingml/2006/main">
            <a:off x="762000" y="4000500"/>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125" b="0">
                <a:solidFill>
                  <a:srgbClr val="BACAD1"/>
                </a:solidFill>
                <a:latin typeface="Aptos"/>
                <a:ea typeface="Aptos"/>
                <a:cs typeface="Aptos"/>
              </a:defRPr>
            </a:pPr>
            <a:r>
              <a:rPr sz="1125" b="0">
                <a:solidFill>
                  <a:srgbClr val="BACAD1"/>
                </a:solidFill>
                <a:latin typeface="Aptos"/>
                <a:ea typeface="Aptos"/>
                <a:cs typeface="Aptos"/>
              </a:rPr>
              <a:t>Spanish and Portuguese · verified data · deterministic credit policy · structured human handoff</a:t>
            </a:r>
          </a:p>
        </p:txBody>
      </p:sp>
    </p:spTree>
    <p:extLst>
      <p:ext uri="{BB962C8B-B14F-4D97-AF65-F5344CB8AC3E}">
        <p14:creationId xmlns:p14="http://schemas.microsoft.com/office/powerpoint/2010/main" val="25176208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Rectangle 42">
            <a:extLst xmlns:a="http://schemas.openxmlformats.org/drawingml/2006/main">
              <a:ext uri="{FF2B5EF4-FFF2-40B4-BE49-F238E27FC236}">
                <a16:creationId xmlns:a16="http://schemas.microsoft.com/office/drawing/2014/main" id="{23D823D7-A1CE-4A61-B33E-CC39DE6FB2B2}"/>
              </a:ext>
            </a:extLst>
          </p:cNvPr>
          <p:cNvSpPr>
            <a:spLocks xmlns:a="http://schemas.openxmlformats.org/drawingml/2006/main" noGrp="1"/>
          </p:cNvSpPr>
          <p:nvPr/>
        </p:nvSpPr>
        <p:spPr>
          <a:xfrm xmlns:a="http://schemas.openxmlformats.org/drawingml/2006/main">
            <a:off x="666750" y="400050"/>
            <a:ext cx="8001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2550" b="1">
                <a:solidFill>
                  <a:srgbClr val="132433"/>
                </a:solidFill>
                <a:latin typeface="Aptos"/>
                <a:ea typeface="Aptos"/>
                <a:cs typeface="Aptos"/>
              </a:defRPr>
            </a:pPr>
            <a:r>
              <a:rPr sz="2550" b="1">
                <a:solidFill>
                  <a:srgbClr val="132433"/>
                </a:solidFill>
                <a:latin typeface="Aptos"/>
                <a:ea typeface="Aptos"/>
                <a:cs typeface="Aptos"/>
              </a:rPr>
              <a:t>System architecture</a:t>
            </a:r>
          </a:p>
        </p:txBody>
      </p:sp>
      <p:sp>
        <p:nvSpPr>
          <p:cNvPr id="2" name="Rectangle 1">
            <a:extLst xmlns:a="http://schemas.openxmlformats.org/drawingml/2006/main">
              <a:ext uri="{FF2B5EF4-FFF2-40B4-BE49-F238E27FC236}">
                <a16:creationId xmlns:a16="http://schemas.microsoft.com/office/drawing/2014/main" id="{E8A5E69E-E3E5-40DD-9896-5CE55D81D795}"/>
              </a:ext>
            </a:extLst>
          </p:cNvPr>
          <p:cNvSpPr>
            <a:spLocks xmlns:a="http://schemas.openxmlformats.org/drawingml/2006/main" noGrp="1"/>
          </p:cNvSpPr>
          <p:nvPr/>
        </p:nvSpPr>
        <p:spPr>
          <a:xfrm xmlns:a="http://schemas.openxmlformats.org/drawingml/2006/main">
            <a:off x="685800" y="91440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5E7180"/>
                </a:solidFill>
                <a:latin typeface="Aptos"/>
                <a:ea typeface="Aptos"/>
                <a:cs typeface="Aptos"/>
              </a:defRPr>
            </a:pPr>
            <a:r>
              <a:rPr sz="1275" b="0">
                <a:solidFill>
                  <a:srgbClr val="5E7180"/>
                </a:solidFill>
                <a:latin typeface="Aptos"/>
                <a:ea typeface="Aptos"/>
                <a:cs typeface="Aptos"/>
              </a:rPr>
              <a:t>Credit conversations require evidence, a policy decision, and confirmation of every recorded action.</a:t>
            </a:r>
          </a:p>
        </p:txBody>
      </p:sp>
      <p:sp>
        <p:nvSpPr>
          <p:cNvPr id="3" name="Rectangle 2">
            <a:extLst xmlns:a="http://schemas.openxmlformats.org/drawingml/2006/main">
              <a:ext uri="{FF2B5EF4-FFF2-40B4-BE49-F238E27FC236}">
                <a16:creationId xmlns:a16="http://schemas.microsoft.com/office/drawing/2014/main" id="{5C75FC9D-DE69-43A5-BFD8-8D6CAF13BE2D}"/>
              </a:ext>
            </a:extLst>
          </p:cNvPr>
          <p:cNvSpPr>
            <a:spLocks xmlns:a="http://schemas.openxmlformats.org/drawingml/2006/main" noGrp="1"/>
          </p:cNvSpPr>
          <p:nvPr/>
        </p:nvSpPr>
        <p:spPr>
          <a:xfrm xmlns:a="http://schemas.openxmlformats.org/drawingml/2006/main">
            <a:off x="666750" y="1276350"/>
            <a:ext cx="876300" cy="38100"/>
          </a:xfrm>
          <a:prstGeom xmlns:a="http://schemas.openxmlformats.org/drawingml/2006/main" prst="rect">
            <a:avLst/>
          </a:prstGeom>
          <a:solidFill xmlns:a="http://schemas.openxmlformats.org/drawingml/2006/main">
            <a:srgbClr val="1FB6A6"/>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4" name="Rectangle 3">
            <a:extLst xmlns:a="http://schemas.openxmlformats.org/drawingml/2006/main">
              <a:ext uri="{FF2B5EF4-FFF2-40B4-BE49-F238E27FC236}">
                <a16:creationId xmlns:a16="http://schemas.microsoft.com/office/drawing/2014/main" id="{13436ACA-5BE3-48C2-96B4-2C733F2F2249}"/>
              </a:ext>
            </a:extLst>
          </p:cNvPr>
          <p:cNvSpPr>
            <a:spLocks xmlns:a="http://schemas.openxmlformats.org/drawingml/2006/main" noGrp="1"/>
          </p:cNvSpPr>
          <p:nvPr/>
        </p:nvSpPr>
        <p:spPr>
          <a:xfrm xmlns:a="http://schemas.openxmlformats.org/drawingml/2006/main">
            <a:off x="666750" y="1752600"/>
            <a:ext cx="16002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7E2E7"/>
            </a:solidFill>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590DA7AA-94DC-41E7-A022-0DA521004522}"/>
              </a:ext>
            </a:extLst>
          </p:cNvPr>
          <p:cNvSpPr>
            <a:spLocks xmlns:a="http://schemas.openxmlformats.org/drawingml/2006/main" noGrp="1"/>
          </p:cNvSpPr>
          <p:nvPr/>
        </p:nvSpPr>
        <p:spPr>
          <a:xfrm xmlns:a="http://schemas.openxmlformats.org/drawingml/2006/main">
            <a:off x="666750" y="1752600"/>
            <a:ext cx="1600200" cy="66675"/>
          </a:xfrm>
          <a:prstGeom xmlns:a="http://schemas.openxmlformats.org/drawingml/2006/main" prst="rect">
            <a:avLst/>
          </a:prstGeom>
          <a:solidFill xmlns:a="http://schemas.openxmlformats.org/drawingml/2006/main">
            <a:srgbClr val="1FB6A6"/>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C1AAA5B0-26AF-4461-9C9B-74C6CE8EF756}"/>
              </a:ext>
            </a:extLst>
          </p:cNvPr>
          <p:cNvSpPr>
            <a:spLocks xmlns:a="http://schemas.openxmlformats.org/drawingml/2006/main" noGrp="1"/>
          </p:cNvSpPr>
          <p:nvPr/>
        </p:nvSpPr>
        <p:spPr>
          <a:xfrm xmlns:a="http://schemas.openxmlformats.org/drawingml/2006/main">
            <a:off x="800100" y="1914525"/>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buNone/>
              <a:defRPr sz="1125" b="1">
                <a:solidFill>
                  <a:srgbClr val="132433"/>
                </a:solidFill>
                <a:latin typeface="Aptos"/>
                <a:ea typeface="Aptos"/>
                <a:cs typeface="Aptos"/>
              </a:defRPr>
            </a:pPr>
            <a:r>
              <a:rPr sz="1125" b="1">
                <a:solidFill>
                  <a:srgbClr val="132433"/>
                </a:solidFill>
                <a:latin typeface="Aptos"/>
                <a:ea typeface="Aptos"/>
                <a:cs typeface="Aptos"/>
              </a:rPr>
              <a:t>Understand</a:t>
            </a:r>
          </a:p>
        </p:txBody>
      </p:sp>
      <p:sp>
        <p:nvSpPr>
          <p:cNvPr id="7" name="Rectangle 6">
            <a:extLst xmlns:a="http://schemas.openxmlformats.org/drawingml/2006/main">
              <a:ext uri="{FF2B5EF4-FFF2-40B4-BE49-F238E27FC236}">
                <a16:creationId xmlns:a16="http://schemas.microsoft.com/office/drawing/2014/main" id="{83C29010-FD88-4F47-9E14-EDA5329CB04D}"/>
              </a:ext>
            </a:extLst>
          </p:cNvPr>
          <p:cNvSpPr>
            <a:spLocks xmlns:a="http://schemas.openxmlformats.org/drawingml/2006/main" noGrp="1"/>
          </p:cNvSpPr>
          <p:nvPr/>
        </p:nvSpPr>
        <p:spPr>
          <a:xfrm xmlns:a="http://schemas.openxmlformats.org/drawingml/2006/main">
            <a:off x="800100" y="21621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28"/>
          </a:bodyPr>
          <a:lstStyle xmlns:a="http://schemas.openxmlformats.org/drawingml/2006/main"/>
          <a:p xmlns:a="http://schemas.openxmlformats.org/drawingml/2006/main">
            <a:pPr>
              <a:buNone/>
              <a:defRPr sz="863" b="0">
                <a:solidFill>
                  <a:srgbClr val="5E7180"/>
                </a:solidFill>
                <a:latin typeface="Aptos"/>
                <a:ea typeface="Aptos"/>
                <a:cs typeface="Aptos"/>
              </a:defRPr>
            </a:pPr>
            <a:r>
              <a:rPr sz="863" b="0">
                <a:solidFill>
                  <a:srgbClr val="5E7180"/>
                </a:solidFill>
                <a:latin typeface="Aptos"/>
                <a:ea typeface="Aptos"/>
                <a:cs typeface="Aptos"/>
              </a:rPr>
              <a:t>Intent, language, slots, missing facts</a:t>
            </a:r>
          </a:p>
        </p:txBody>
      </p:sp>
      <p:sp>
        <p:nvSpPr>
          <p:cNvPr id="8" name="Rectangle 7">
            <a:extLst xmlns:a="http://schemas.openxmlformats.org/drawingml/2006/main">
              <a:ext uri="{FF2B5EF4-FFF2-40B4-BE49-F238E27FC236}">
                <a16:creationId xmlns:a16="http://schemas.microsoft.com/office/drawing/2014/main" id="{D44C0562-91C6-42DA-A2E5-E92F10202F34}"/>
              </a:ext>
            </a:extLst>
          </p:cNvPr>
          <p:cNvSpPr>
            <a:spLocks xmlns:a="http://schemas.openxmlformats.org/drawingml/2006/main" noGrp="1"/>
          </p:cNvSpPr>
          <p:nvPr/>
        </p:nvSpPr>
        <p:spPr>
          <a:xfrm xmlns:a="http://schemas.openxmlformats.org/drawingml/2006/main">
            <a:off x="2428875" y="1752600"/>
            <a:ext cx="16002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7E2E7"/>
            </a:solidFill>
          </a:ln>
        </p:spPr>
        <p:txBody>
          <a:bodyPr xmlns:a="http://schemas.openxmlformats.org/drawingml/2006/main"/>
          <a:lstStyle xmlns:a="http://schemas.openxmlformats.org/drawingml/2006/main"/>
          <a:p xmlns:a="http://schemas.openxmlformats.org/drawingml/2006/main">
            <a:endParaRPr/>
          </a:p>
        </p:txBody>
      </p:sp>
      <p:sp>
        <p:nvSpPr>
          <p:cNvPr id="9" name="Rectangle 8">
            <a:extLst xmlns:a="http://schemas.openxmlformats.org/drawingml/2006/main">
              <a:ext uri="{FF2B5EF4-FFF2-40B4-BE49-F238E27FC236}">
                <a16:creationId xmlns:a16="http://schemas.microsoft.com/office/drawing/2014/main" id="{0205D195-D134-480E-8BB1-E87035D0C02A}"/>
              </a:ext>
            </a:extLst>
          </p:cNvPr>
          <p:cNvSpPr>
            <a:spLocks xmlns:a="http://schemas.openxmlformats.org/drawingml/2006/main" noGrp="1"/>
          </p:cNvSpPr>
          <p:nvPr/>
        </p:nvSpPr>
        <p:spPr>
          <a:xfrm xmlns:a="http://schemas.openxmlformats.org/drawingml/2006/main">
            <a:off x="2428875" y="1752600"/>
            <a:ext cx="1600200" cy="66675"/>
          </a:xfrm>
          <a:prstGeom xmlns:a="http://schemas.openxmlformats.org/drawingml/2006/main" prst="rect">
            <a:avLst/>
          </a:prstGeom>
          <a:solidFill xmlns:a="http://schemas.openxmlformats.org/drawingml/2006/main">
            <a:srgbClr val="1FB6A6"/>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0" name="Rectangle 9">
            <a:extLst xmlns:a="http://schemas.openxmlformats.org/drawingml/2006/main">
              <a:ext uri="{FF2B5EF4-FFF2-40B4-BE49-F238E27FC236}">
                <a16:creationId xmlns:a16="http://schemas.microsoft.com/office/drawing/2014/main" id="{DE62D1BE-0FEA-4A03-9918-7A502DDFBE7F}"/>
              </a:ext>
            </a:extLst>
          </p:cNvPr>
          <p:cNvSpPr>
            <a:spLocks xmlns:a="http://schemas.openxmlformats.org/drawingml/2006/main" noGrp="1"/>
          </p:cNvSpPr>
          <p:nvPr/>
        </p:nvSpPr>
        <p:spPr>
          <a:xfrm xmlns:a="http://schemas.openxmlformats.org/drawingml/2006/main">
            <a:off x="2562225" y="1914525"/>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buNone/>
              <a:defRPr sz="1125" b="1">
                <a:solidFill>
                  <a:srgbClr val="132433"/>
                </a:solidFill>
                <a:latin typeface="Aptos"/>
                <a:ea typeface="Aptos"/>
                <a:cs typeface="Aptos"/>
              </a:defRPr>
            </a:pPr>
            <a:r>
              <a:rPr sz="1125" b="1">
                <a:solidFill>
                  <a:srgbClr val="132433"/>
                </a:solidFill>
                <a:latin typeface="Aptos"/>
                <a:ea typeface="Aptos"/>
                <a:cs typeface="Aptos"/>
              </a:rPr>
              <a:t>Access guard</a:t>
            </a:r>
          </a:p>
        </p:txBody>
      </p:sp>
      <p:sp>
        <p:nvSpPr>
          <p:cNvPr id="11" name="Rectangle 10">
            <a:extLst xmlns:a="http://schemas.openxmlformats.org/drawingml/2006/main">
              <a:ext uri="{FF2B5EF4-FFF2-40B4-BE49-F238E27FC236}">
                <a16:creationId xmlns:a16="http://schemas.microsoft.com/office/drawing/2014/main" id="{79C429D7-0B00-4FB8-A9B4-A048FDB8DEAF}"/>
              </a:ext>
            </a:extLst>
          </p:cNvPr>
          <p:cNvSpPr>
            <a:spLocks xmlns:a="http://schemas.openxmlformats.org/drawingml/2006/main" noGrp="1"/>
          </p:cNvSpPr>
          <p:nvPr/>
        </p:nvSpPr>
        <p:spPr>
          <a:xfrm xmlns:a="http://schemas.openxmlformats.org/drawingml/2006/main">
            <a:off x="2562225" y="21621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4222"/>
          </a:bodyPr>
          <a:lstStyle xmlns:a="http://schemas.openxmlformats.org/drawingml/2006/main"/>
          <a:p xmlns:a="http://schemas.openxmlformats.org/drawingml/2006/main">
            <a:pPr>
              <a:buNone/>
              <a:defRPr sz="863" b="0">
                <a:solidFill>
                  <a:srgbClr val="5E7180"/>
                </a:solidFill>
                <a:latin typeface="Aptos"/>
                <a:ea typeface="Aptos"/>
                <a:cs typeface="Aptos"/>
              </a:defRPr>
            </a:pPr>
            <a:r>
              <a:rPr sz="863" b="0">
                <a:solidFill>
                  <a:srgbClr val="5E7180"/>
                </a:solidFill>
                <a:latin typeface="Aptos"/>
                <a:ea typeface="Aptos"/>
                <a:cs typeface="Aptos"/>
              </a:rPr>
              <a:t>Document and birth date check</a:t>
            </a:r>
          </a:p>
        </p:txBody>
      </p:sp>
      <p:sp>
        <p:nvSpPr>
          <p:cNvPr id="12" name="Rectangle 11">
            <a:extLst xmlns:a="http://schemas.openxmlformats.org/drawingml/2006/main">
              <a:ext uri="{FF2B5EF4-FFF2-40B4-BE49-F238E27FC236}">
                <a16:creationId xmlns:a16="http://schemas.microsoft.com/office/drawing/2014/main" id="{EAE4A5F1-BD2D-4CB9-8A6A-7E9D616120F5}"/>
              </a:ext>
            </a:extLst>
          </p:cNvPr>
          <p:cNvSpPr>
            <a:spLocks xmlns:a="http://schemas.openxmlformats.org/drawingml/2006/main" noGrp="1"/>
          </p:cNvSpPr>
          <p:nvPr/>
        </p:nvSpPr>
        <p:spPr>
          <a:xfrm xmlns:a="http://schemas.openxmlformats.org/drawingml/2006/main">
            <a:off x="4191000" y="1752600"/>
            <a:ext cx="16002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7E2E7"/>
            </a:solidFill>
          </a:ln>
        </p:spPr>
        <p:txBody>
          <a:bodyPr xmlns:a="http://schemas.openxmlformats.org/drawingml/2006/main"/>
          <a:lstStyle xmlns:a="http://schemas.openxmlformats.org/drawingml/2006/main"/>
          <a:p xmlns:a="http://schemas.openxmlformats.org/drawingml/2006/main">
            <a:endParaRPr/>
          </a:p>
        </p:txBody>
      </p:sp>
      <p:sp>
        <p:nvSpPr>
          <p:cNvPr id="13" name="Rectangle 12">
            <a:extLst xmlns:a="http://schemas.openxmlformats.org/drawingml/2006/main">
              <a:ext uri="{FF2B5EF4-FFF2-40B4-BE49-F238E27FC236}">
                <a16:creationId xmlns:a16="http://schemas.microsoft.com/office/drawing/2014/main" id="{5E9D4279-D841-418E-A069-8FBDCD098FCD}"/>
              </a:ext>
            </a:extLst>
          </p:cNvPr>
          <p:cNvSpPr>
            <a:spLocks xmlns:a="http://schemas.openxmlformats.org/drawingml/2006/main" noGrp="1"/>
          </p:cNvSpPr>
          <p:nvPr/>
        </p:nvSpPr>
        <p:spPr>
          <a:xfrm xmlns:a="http://schemas.openxmlformats.org/drawingml/2006/main">
            <a:off x="4191000" y="1752600"/>
            <a:ext cx="1600200" cy="66675"/>
          </a:xfrm>
          <a:prstGeom xmlns:a="http://schemas.openxmlformats.org/drawingml/2006/main" prst="rect">
            <a:avLst/>
          </a:prstGeom>
          <a:solidFill xmlns:a="http://schemas.openxmlformats.org/drawingml/2006/main">
            <a:srgbClr val="1FB6A6"/>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4" name="Rectangle 13">
            <a:extLst xmlns:a="http://schemas.openxmlformats.org/drawingml/2006/main">
              <a:ext uri="{FF2B5EF4-FFF2-40B4-BE49-F238E27FC236}">
                <a16:creationId xmlns:a16="http://schemas.microsoft.com/office/drawing/2014/main" id="{25AD519F-3E47-4899-98FA-809A29503E81}"/>
              </a:ext>
            </a:extLst>
          </p:cNvPr>
          <p:cNvSpPr>
            <a:spLocks xmlns:a="http://schemas.openxmlformats.org/drawingml/2006/main" noGrp="1"/>
          </p:cNvSpPr>
          <p:nvPr/>
        </p:nvSpPr>
        <p:spPr>
          <a:xfrm xmlns:a="http://schemas.openxmlformats.org/drawingml/2006/main">
            <a:off x="4324350" y="1914525"/>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buNone/>
              <a:defRPr sz="1125" b="1">
                <a:solidFill>
                  <a:srgbClr val="132433"/>
                </a:solidFill>
                <a:latin typeface="Aptos"/>
                <a:ea typeface="Aptos"/>
                <a:cs typeface="Aptos"/>
              </a:defRPr>
            </a:pPr>
            <a:r>
              <a:rPr sz="1125" b="1">
                <a:solidFill>
                  <a:srgbClr val="132433"/>
                </a:solidFill>
                <a:latin typeface="Aptos"/>
                <a:ea typeface="Aptos"/>
                <a:cs typeface="Aptos"/>
              </a:rPr>
              <a:t>Decide</a:t>
            </a:r>
          </a:p>
        </p:txBody>
      </p:sp>
      <p:sp>
        <p:nvSpPr>
          <p:cNvPr id="15" name="Rectangle 14">
            <a:extLst xmlns:a="http://schemas.openxmlformats.org/drawingml/2006/main">
              <a:ext uri="{FF2B5EF4-FFF2-40B4-BE49-F238E27FC236}">
                <a16:creationId xmlns:a16="http://schemas.microsoft.com/office/drawing/2014/main" id="{5367D352-0CD2-40C3-8AAE-46FDE5EEA77C}"/>
              </a:ext>
            </a:extLst>
          </p:cNvPr>
          <p:cNvSpPr>
            <a:spLocks xmlns:a="http://schemas.openxmlformats.org/drawingml/2006/main" noGrp="1"/>
          </p:cNvSpPr>
          <p:nvPr/>
        </p:nvSpPr>
        <p:spPr>
          <a:xfrm xmlns:a="http://schemas.openxmlformats.org/drawingml/2006/main">
            <a:off x="4324350" y="21621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043"/>
          </a:bodyPr>
          <a:lstStyle xmlns:a="http://schemas.openxmlformats.org/drawingml/2006/main"/>
          <a:p xmlns:a="http://schemas.openxmlformats.org/drawingml/2006/main">
            <a:pPr>
              <a:buNone/>
              <a:defRPr sz="863" b="0">
                <a:solidFill>
                  <a:srgbClr val="5E7180"/>
                </a:solidFill>
                <a:latin typeface="Aptos"/>
                <a:ea typeface="Aptos"/>
                <a:cs typeface="Aptos"/>
              </a:defRPr>
            </a:pPr>
            <a:r>
              <a:rPr sz="863" b="0">
                <a:solidFill>
                  <a:srgbClr val="5E7180"/>
                </a:solidFill>
                <a:latin typeface="Aptos"/>
                <a:ea typeface="Aptos"/>
                <a:cs typeface="Aptos"/>
              </a:rPr>
              <a:t>Versioned policy with capacity cap</a:t>
            </a:r>
          </a:p>
        </p:txBody>
      </p:sp>
      <p:sp>
        <p:nvSpPr>
          <p:cNvPr id="16" name="Rectangle 15">
            <a:extLst xmlns:a="http://schemas.openxmlformats.org/drawingml/2006/main">
              <a:ext uri="{FF2B5EF4-FFF2-40B4-BE49-F238E27FC236}">
                <a16:creationId xmlns:a16="http://schemas.microsoft.com/office/drawing/2014/main" id="{9D9968BE-E1FD-4B30-95E6-B675DB216842}"/>
              </a:ext>
            </a:extLst>
          </p:cNvPr>
          <p:cNvSpPr>
            <a:spLocks xmlns:a="http://schemas.openxmlformats.org/drawingml/2006/main" noGrp="1"/>
          </p:cNvSpPr>
          <p:nvPr/>
        </p:nvSpPr>
        <p:spPr>
          <a:xfrm xmlns:a="http://schemas.openxmlformats.org/drawingml/2006/main">
            <a:off x="5953125" y="1752600"/>
            <a:ext cx="16002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7E2E7"/>
            </a:solidFill>
          </a:ln>
        </p:spPr>
        <p:txBody>
          <a:bodyPr xmlns:a="http://schemas.openxmlformats.org/drawingml/2006/main"/>
          <a:lstStyle xmlns:a="http://schemas.openxmlformats.org/drawingml/2006/main"/>
          <a:p xmlns:a="http://schemas.openxmlformats.org/drawingml/2006/main">
            <a:endParaRPr/>
          </a:p>
        </p:txBody>
      </p:sp>
      <p:sp>
        <p:nvSpPr>
          <p:cNvPr id="17" name="Rectangle 16">
            <a:extLst xmlns:a="http://schemas.openxmlformats.org/drawingml/2006/main">
              <a:ext uri="{FF2B5EF4-FFF2-40B4-BE49-F238E27FC236}">
                <a16:creationId xmlns:a16="http://schemas.microsoft.com/office/drawing/2014/main" id="{8B6617C4-3CF9-436F-A117-64B50DBD8829}"/>
              </a:ext>
            </a:extLst>
          </p:cNvPr>
          <p:cNvSpPr>
            <a:spLocks xmlns:a="http://schemas.openxmlformats.org/drawingml/2006/main" noGrp="1"/>
          </p:cNvSpPr>
          <p:nvPr/>
        </p:nvSpPr>
        <p:spPr>
          <a:xfrm xmlns:a="http://schemas.openxmlformats.org/drawingml/2006/main">
            <a:off x="5953125" y="1752600"/>
            <a:ext cx="1600200" cy="66675"/>
          </a:xfrm>
          <a:prstGeom xmlns:a="http://schemas.openxmlformats.org/drawingml/2006/main" prst="rect">
            <a:avLst/>
          </a:prstGeom>
          <a:solidFill xmlns:a="http://schemas.openxmlformats.org/drawingml/2006/main">
            <a:srgbClr val="1FB6A6"/>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8" name="Rectangle 17">
            <a:extLst xmlns:a="http://schemas.openxmlformats.org/drawingml/2006/main">
              <a:ext uri="{FF2B5EF4-FFF2-40B4-BE49-F238E27FC236}">
                <a16:creationId xmlns:a16="http://schemas.microsoft.com/office/drawing/2014/main" id="{EA278D6C-ABA6-4DEE-8E11-B543A4442E23}"/>
              </a:ext>
            </a:extLst>
          </p:cNvPr>
          <p:cNvSpPr>
            <a:spLocks xmlns:a="http://schemas.openxmlformats.org/drawingml/2006/main" noGrp="1"/>
          </p:cNvSpPr>
          <p:nvPr/>
        </p:nvSpPr>
        <p:spPr>
          <a:xfrm xmlns:a="http://schemas.openxmlformats.org/drawingml/2006/main">
            <a:off x="6086475" y="1914525"/>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buNone/>
              <a:defRPr sz="1125" b="1">
                <a:solidFill>
                  <a:srgbClr val="132433"/>
                </a:solidFill>
                <a:latin typeface="Aptos"/>
                <a:ea typeface="Aptos"/>
                <a:cs typeface="Aptos"/>
              </a:defRPr>
            </a:pPr>
            <a:r>
              <a:rPr sz="1125" b="1">
                <a:solidFill>
                  <a:srgbClr val="132433"/>
                </a:solidFill>
                <a:latin typeface="Aptos"/>
                <a:ea typeface="Aptos"/>
                <a:cs typeface="Aptos"/>
              </a:rPr>
              <a:t>Act</a:t>
            </a:r>
          </a:p>
        </p:txBody>
      </p:sp>
      <p:sp>
        <p:nvSpPr>
          <p:cNvPr id="19" name="Rectangle 18">
            <a:extLst xmlns:a="http://schemas.openxmlformats.org/drawingml/2006/main">
              <a:ext uri="{FF2B5EF4-FFF2-40B4-BE49-F238E27FC236}">
                <a16:creationId xmlns:a16="http://schemas.microsoft.com/office/drawing/2014/main" id="{543BCC19-A84B-47E4-A047-D38F63A84680}"/>
              </a:ext>
            </a:extLst>
          </p:cNvPr>
          <p:cNvSpPr>
            <a:spLocks xmlns:a="http://schemas.openxmlformats.org/drawingml/2006/main" noGrp="1"/>
          </p:cNvSpPr>
          <p:nvPr/>
        </p:nvSpPr>
        <p:spPr>
          <a:xfrm xmlns:a="http://schemas.openxmlformats.org/drawingml/2006/main">
            <a:off x="6086475" y="21621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548"/>
          </a:bodyPr>
          <a:lstStyle xmlns:a="http://schemas.openxmlformats.org/drawingml/2006/main"/>
          <a:p xmlns:a="http://schemas.openxmlformats.org/drawingml/2006/main">
            <a:pPr>
              <a:buNone/>
              <a:defRPr sz="863" b="0">
                <a:solidFill>
                  <a:srgbClr val="5E7180"/>
                </a:solidFill>
                <a:latin typeface="Aptos"/>
                <a:ea typeface="Aptos"/>
                <a:cs typeface="Aptos"/>
              </a:defRPr>
            </a:pPr>
            <a:r>
              <a:rPr sz="863" b="0">
                <a:solidFill>
                  <a:srgbClr val="5E7180"/>
                </a:solidFill>
                <a:latin typeface="Aptos"/>
                <a:ea typeface="Aptos"/>
                <a:cs typeface="Aptos"/>
              </a:rPr>
              <a:t>Typed tools and role allowlist</a:t>
            </a:r>
          </a:p>
        </p:txBody>
      </p:sp>
      <p:sp>
        <p:nvSpPr>
          <p:cNvPr id="20" name="Rectangle 19">
            <a:extLst xmlns:a="http://schemas.openxmlformats.org/drawingml/2006/main">
              <a:ext uri="{FF2B5EF4-FFF2-40B4-BE49-F238E27FC236}">
                <a16:creationId xmlns:a16="http://schemas.microsoft.com/office/drawing/2014/main" id="{465967CF-3C1A-4BEE-84D0-09EB861723E3}"/>
              </a:ext>
            </a:extLst>
          </p:cNvPr>
          <p:cNvSpPr>
            <a:spLocks xmlns:a="http://schemas.openxmlformats.org/drawingml/2006/main" noGrp="1"/>
          </p:cNvSpPr>
          <p:nvPr/>
        </p:nvSpPr>
        <p:spPr>
          <a:xfrm xmlns:a="http://schemas.openxmlformats.org/drawingml/2006/main">
            <a:off x="7715250" y="1752600"/>
            <a:ext cx="16002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7E2E7"/>
            </a:solidFill>
          </a:ln>
        </p:spPr>
        <p:txBody>
          <a:bodyPr xmlns:a="http://schemas.openxmlformats.org/drawingml/2006/main"/>
          <a:lstStyle xmlns:a="http://schemas.openxmlformats.org/drawingml/2006/main"/>
          <a:p xmlns:a="http://schemas.openxmlformats.org/drawingml/2006/main">
            <a:endParaRPr/>
          </a:p>
        </p:txBody>
      </p:sp>
      <p:sp>
        <p:nvSpPr>
          <p:cNvPr id="21" name="Rectangle 20">
            <a:extLst xmlns:a="http://schemas.openxmlformats.org/drawingml/2006/main">
              <a:ext uri="{FF2B5EF4-FFF2-40B4-BE49-F238E27FC236}">
                <a16:creationId xmlns:a16="http://schemas.microsoft.com/office/drawing/2014/main" id="{0BB367ED-A996-4584-A272-049D5867B8B1}"/>
              </a:ext>
            </a:extLst>
          </p:cNvPr>
          <p:cNvSpPr>
            <a:spLocks xmlns:a="http://schemas.openxmlformats.org/drawingml/2006/main" noGrp="1"/>
          </p:cNvSpPr>
          <p:nvPr/>
        </p:nvSpPr>
        <p:spPr>
          <a:xfrm xmlns:a="http://schemas.openxmlformats.org/drawingml/2006/main">
            <a:off x="7715250" y="1752600"/>
            <a:ext cx="1600200" cy="66675"/>
          </a:xfrm>
          <a:prstGeom xmlns:a="http://schemas.openxmlformats.org/drawingml/2006/main" prst="rect">
            <a:avLst/>
          </a:prstGeom>
          <a:solidFill xmlns:a="http://schemas.openxmlformats.org/drawingml/2006/main">
            <a:srgbClr val="1FB6A6"/>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2" name="Rectangle 21">
            <a:extLst xmlns:a="http://schemas.openxmlformats.org/drawingml/2006/main">
              <a:ext uri="{FF2B5EF4-FFF2-40B4-BE49-F238E27FC236}">
                <a16:creationId xmlns:a16="http://schemas.microsoft.com/office/drawing/2014/main" id="{B1837926-6829-47AC-8D7D-2CCE83DCEC52}"/>
              </a:ext>
            </a:extLst>
          </p:cNvPr>
          <p:cNvSpPr>
            <a:spLocks xmlns:a="http://schemas.openxmlformats.org/drawingml/2006/main" noGrp="1"/>
          </p:cNvSpPr>
          <p:nvPr/>
        </p:nvSpPr>
        <p:spPr>
          <a:xfrm xmlns:a="http://schemas.openxmlformats.org/drawingml/2006/main">
            <a:off x="7848600" y="1914525"/>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buNone/>
              <a:defRPr sz="1125" b="1">
                <a:solidFill>
                  <a:srgbClr val="132433"/>
                </a:solidFill>
                <a:latin typeface="Aptos"/>
                <a:ea typeface="Aptos"/>
                <a:cs typeface="Aptos"/>
              </a:defRPr>
            </a:pPr>
            <a:r>
              <a:rPr sz="1125" b="1">
                <a:solidFill>
                  <a:srgbClr val="132433"/>
                </a:solidFill>
                <a:latin typeface="Aptos"/>
                <a:ea typeface="Aptos"/>
                <a:cs typeface="Aptos"/>
              </a:rPr>
              <a:t>Verify</a:t>
            </a:r>
          </a:p>
        </p:txBody>
      </p:sp>
      <p:sp>
        <p:nvSpPr>
          <p:cNvPr id="23" name="Rectangle 22">
            <a:extLst xmlns:a="http://schemas.openxmlformats.org/drawingml/2006/main">
              <a:ext uri="{FF2B5EF4-FFF2-40B4-BE49-F238E27FC236}">
                <a16:creationId xmlns:a16="http://schemas.microsoft.com/office/drawing/2014/main" id="{CF9B1C2D-839B-4837-B18F-FA25266E65E5}"/>
              </a:ext>
            </a:extLst>
          </p:cNvPr>
          <p:cNvSpPr>
            <a:spLocks xmlns:a="http://schemas.openxmlformats.org/drawingml/2006/main" noGrp="1"/>
          </p:cNvSpPr>
          <p:nvPr/>
        </p:nvSpPr>
        <p:spPr>
          <a:xfrm xmlns:a="http://schemas.openxmlformats.org/drawingml/2006/main">
            <a:off x="7848600" y="21621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863" b="0">
                <a:solidFill>
                  <a:srgbClr val="5E7180"/>
                </a:solidFill>
                <a:latin typeface="Aptos"/>
                <a:ea typeface="Aptos"/>
                <a:cs typeface="Aptos"/>
              </a:defRPr>
            </a:pPr>
            <a:r>
              <a:rPr sz="863" b="0">
                <a:solidFill>
                  <a:srgbClr val="5E7180"/>
                </a:solidFill>
                <a:latin typeface="Aptos"/>
                <a:ea typeface="Aptos"/>
                <a:cs typeface="Aptos"/>
              </a:rPr>
              <a:t>Read back every write</a:t>
            </a:r>
          </a:p>
        </p:txBody>
      </p:sp>
      <p:sp>
        <p:nvSpPr>
          <p:cNvPr id="24" name="Rectangle 23">
            <a:extLst xmlns:a="http://schemas.openxmlformats.org/drawingml/2006/main">
              <a:ext uri="{FF2B5EF4-FFF2-40B4-BE49-F238E27FC236}">
                <a16:creationId xmlns:a16="http://schemas.microsoft.com/office/drawing/2014/main" id="{EDECAE5A-BB6E-4B7A-9CEC-4BBE002C866F}"/>
              </a:ext>
            </a:extLst>
          </p:cNvPr>
          <p:cNvSpPr>
            <a:spLocks xmlns:a="http://schemas.openxmlformats.org/drawingml/2006/main" noGrp="1"/>
          </p:cNvSpPr>
          <p:nvPr/>
        </p:nvSpPr>
        <p:spPr>
          <a:xfrm xmlns:a="http://schemas.openxmlformats.org/drawingml/2006/main">
            <a:off x="9477375" y="1752600"/>
            <a:ext cx="16002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7E2E7"/>
            </a:solidFill>
          </a:ln>
        </p:spPr>
        <p:txBody>
          <a:bodyPr xmlns:a="http://schemas.openxmlformats.org/drawingml/2006/main"/>
          <a:lstStyle xmlns:a="http://schemas.openxmlformats.org/drawingml/2006/main"/>
          <a:p xmlns:a="http://schemas.openxmlformats.org/drawingml/2006/main">
            <a:endParaRPr/>
          </a:p>
        </p:txBody>
      </p:sp>
      <p:sp>
        <p:nvSpPr>
          <p:cNvPr id="25" name="Rectangle 24">
            <a:extLst xmlns:a="http://schemas.openxmlformats.org/drawingml/2006/main">
              <a:ext uri="{FF2B5EF4-FFF2-40B4-BE49-F238E27FC236}">
                <a16:creationId xmlns:a16="http://schemas.microsoft.com/office/drawing/2014/main" id="{AF84EF69-434E-4BD3-8101-C83D3828F41D}"/>
              </a:ext>
            </a:extLst>
          </p:cNvPr>
          <p:cNvSpPr>
            <a:spLocks xmlns:a="http://schemas.openxmlformats.org/drawingml/2006/main" noGrp="1"/>
          </p:cNvSpPr>
          <p:nvPr/>
        </p:nvSpPr>
        <p:spPr>
          <a:xfrm xmlns:a="http://schemas.openxmlformats.org/drawingml/2006/main">
            <a:off x="9477375" y="1752600"/>
            <a:ext cx="1600200" cy="66675"/>
          </a:xfrm>
          <a:prstGeom xmlns:a="http://schemas.openxmlformats.org/drawingml/2006/main" prst="rect">
            <a:avLst/>
          </a:prstGeom>
          <a:solidFill xmlns:a="http://schemas.openxmlformats.org/drawingml/2006/main">
            <a:srgbClr val="1FB6A6"/>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6" name="Rectangle 25">
            <a:extLst xmlns:a="http://schemas.openxmlformats.org/drawingml/2006/main">
              <a:ext uri="{FF2B5EF4-FFF2-40B4-BE49-F238E27FC236}">
                <a16:creationId xmlns:a16="http://schemas.microsoft.com/office/drawing/2014/main" id="{B2E6223F-B97F-49D5-A698-B08E15584BE7}"/>
              </a:ext>
            </a:extLst>
          </p:cNvPr>
          <p:cNvSpPr>
            <a:spLocks xmlns:a="http://schemas.openxmlformats.org/drawingml/2006/main" noGrp="1"/>
          </p:cNvSpPr>
          <p:nvPr/>
        </p:nvSpPr>
        <p:spPr>
          <a:xfrm xmlns:a="http://schemas.openxmlformats.org/drawingml/2006/main">
            <a:off x="9610725" y="1914525"/>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buNone/>
              <a:defRPr sz="1125" b="1">
                <a:solidFill>
                  <a:srgbClr val="132433"/>
                </a:solidFill>
                <a:latin typeface="Aptos"/>
                <a:ea typeface="Aptos"/>
                <a:cs typeface="Aptos"/>
              </a:defRPr>
            </a:pPr>
            <a:r>
              <a:rPr sz="1125" b="1">
                <a:solidFill>
                  <a:srgbClr val="132433"/>
                </a:solidFill>
                <a:latin typeface="Aptos"/>
                <a:ea typeface="Aptos"/>
                <a:cs typeface="Aptos"/>
              </a:rPr>
              <a:t>Escalate</a:t>
            </a:r>
          </a:p>
        </p:txBody>
      </p:sp>
      <p:sp>
        <p:nvSpPr>
          <p:cNvPr id="27" name="Rectangle 26">
            <a:extLst xmlns:a="http://schemas.openxmlformats.org/drawingml/2006/main">
              <a:ext uri="{FF2B5EF4-FFF2-40B4-BE49-F238E27FC236}">
                <a16:creationId xmlns:a16="http://schemas.microsoft.com/office/drawing/2014/main" id="{1945C032-F061-4379-A92E-42B7B52F1F06}"/>
              </a:ext>
            </a:extLst>
          </p:cNvPr>
          <p:cNvSpPr>
            <a:spLocks xmlns:a="http://schemas.openxmlformats.org/drawingml/2006/main" noGrp="1"/>
          </p:cNvSpPr>
          <p:nvPr/>
        </p:nvSpPr>
        <p:spPr>
          <a:xfrm xmlns:a="http://schemas.openxmlformats.org/drawingml/2006/main">
            <a:off x="9610725" y="21621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863" b="0">
                <a:solidFill>
                  <a:srgbClr val="5E7180"/>
                </a:solidFill>
                <a:latin typeface="Aptos"/>
                <a:ea typeface="Aptos"/>
                <a:cs typeface="Aptos"/>
              </a:defRPr>
            </a:pPr>
            <a:r>
              <a:rPr sz="863" b="0">
                <a:solidFill>
                  <a:srgbClr val="5E7180"/>
                </a:solidFill>
                <a:latin typeface="Aptos"/>
                <a:ea typeface="Aptos"/>
                <a:cs typeface="Aptos"/>
              </a:rPr>
              <a:t>Structured case file</a:t>
            </a:r>
          </a:p>
        </p:txBody>
      </p:sp>
      <p:sp>
        <p:nvSpPr>
          <p:cNvPr id="28" name="Rectangle 27">
            <a:extLst xmlns:a="http://schemas.openxmlformats.org/drawingml/2006/main">
              <a:ext uri="{FF2B5EF4-FFF2-40B4-BE49-F238E27FC236}">
                <a16:creationId xmlns:a16="http://schemas.microsoft.com/office/drawing/2014/main" id="{4D12A15F-C0C5-4437-82A4-21423F12EB14}"/>
              </a:ext>
            </a:extLst>
          </p:cNvPr>
          <p:cNvSpPr>
            <a:spLocks xmlns:a="http://schemas.openxmlformats.org/drawingml/2006/main" noGrp="1"/>
          </p:cNvSpPr>
          <p:nvPr/>
        </p:nvSpPr>
        <p:spPr>
          <a:xfrm xmlns:a="http://schemas.openxmlformats.org/drawingml/2006/main">
            <a:off x="1143000" y="3219450"/>
            <a:ext cx="9906000" cy="9525"/>
          </a:xfrm>
          <a:prstGeom xmlns:a="http://schemas.openxmlformats.org/drawingml/2006/main" prst="rect">
            <a:avLst/>
          </a:prstGeom>
          <a:solidFill xmlns:a="http://schemas.openxmlformats.org/drawingml/2006/main">
            <a:srgbClr val="CAD7DD"/>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9" name="Rectangle 28">
            <a:extLst xmlns:a="http://schemas.openxmlformats.org/drawingml/2006/main">
              <a:ext uri="{FF2B5EF4-FFF2-40B4-BE49-F238E27FC236}">
                <a16:creationId xmlns:a16="http://schemas.microsoft.com/office/drawing/2014/main" id="{796247DC-4872-424F-80BF-056EF574B138}"/>
              </a:ext>
            </a:extLst>
          </p:cNvPr>
          <p:cNvSpPr>
            <a:spLocks xmlns:a="http://schemas.openxmlformats.org/drawingml/2006/main" noGrp="1"/>
          </p:cNvSpPr>
          <p:nvPr/>
        </p:nvSpPr>
        <p:spPr>
          <a:xfrm xmlns:a="http://schemas.openxmlformats.org/drawingml/2006/main">
            <a:off x="742950" y="3695700"/>
            <a:ext cx="3143250" cy="1524000"/>
          </a:xfrm>
          <a:prstGeom xmlns:a="http://schemas.openxmlformats.org/drawingml/2006/main" prst="rect">
            <a:avLst/>
          </a:prstGeom>
          <a:solidFill xmlns:a="http://schemas.openxmlformats.org/drawingml/2006/main">
            <a:srgbClr val="FFFFFF"/>
          </a:solidFill>
          <a:ln xmlns:a="http://schemas.openxmlformats.org/drawingml/2006/main" w="9525">
            <a:solidFill>
              <a:srgbClr val="D7E2E7"/>
            </a:solidFill>
          </a:ln>
        </p:spPr>
        <p:txBody>
          <a:bodyPr xmlns:a="http://schemas.openxmlformats.org/drawingml/2006/main"/>
          <a:lstStyle xmlns:a="http://schemas.openxmlformats.org/drawingml/2006/main"/>
          <a:p xmlns:a="http://schemas.openxmlformats.org/drawingml/2006/main">
            <a:endParaRPr/>
          </a:p>
        </p:txBody>
      </p:sp>
      <p:sp>
        <p:nvSpPr>
          <p:cNvPr id="30" name="Rectangle 29">
            <a:extLst xmlns:a="http://schemas.openxmlformats.org/drawingml/2006/main">
              <a:ext uri="{FF2B5EF4-FFF2-40B4-BE49-F238E27FC236}">
                <a16:creationId xmlns:a16="http://schemas.microsoft.com/office/drawing/2014/main" id="{6A2AADE2-21DA-4012-BB7A-3C25B707C2E3}"/>
              </a:ext>
            </a:extLst>
          </p:cNvPr>
          <p:cNvSpPr>
            <a:spLocks xmlns:a="http://schemas.openxmlformats.org/drawingml/2006/main" noGrp="1"/>
          </p:cNvSpPr>
          <p:nvPr/>
        </p:nvSpPr>
        <p:spPr>
          <a:xfrm xmlns:a="http://schemas.openxmlformats.org/drawingml/2006/main">
            <a:off x="742950" y="3695700"/>
            <a:ext cx="57150" cy="1524000"/>
          </a:xfrm>
          <a:prstGeom xmlns:a="http://schemas.openxmlformats.org/drawingml/2006/main" prst="rect">
            <a:avLst/>
          </a:prstGeom>
          <a:solidFill xmlns:a="http://schemas.openxmlformats.org/drawingml/2006/main">
            <a:srgbClr val="6D8FB3"/>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31" name="Rectangle 30">
            <a:extLst xmlns:a="http://schemas.openxmlformats.org/drawingml/2006/main">
              <a:ext uri="{FF2B5EF4-FFF2-40B4-BE49-F238E27FC236}">
                <a16:creationId xmlns:a16="http://schemas.microsoft.com/office/drawing/2014/main" id="{FDACB570-8129-4A09-BFBD-73BDBFC71142}"/>
              </a:ext>
            </a:extLst>
          </p:cNvPr>
          <p:cNvSpPr>
            <a:spLocks xmlns:a="http://schemas.openxmlformats.org/drawingml/2006/main" noGrp="1"/>
          </p:cNvSpPr>
          <p:nvPr/>
        </p:nvSpPr>
        <p:spPr>
          <a:xfrm xmlns:a="http://schemas.openxmlformats.org/drawingml/2006/main">
            <a:off x="952500" y="3867150"/>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425" b="1">
                <a:solidFill>
                  <a:srgbClr val="132433"/>
                </a:solidFill>
                <a:latin typeface="Aptos"/>
                <a:ea typeface="Aptos"/>
                <a:cs typeface="Aptos"/>
              </a:defRPr>
            </a:pPr>
            <a:r>
              <a:rPr sz="1425" b="1">
                <a:solidFill>
                  <a:srgbClr val="132433"/>
                </a:solidFill>
                <a:latin typeface="Aptos"/>
                <a:ea typeface="Aptos"/>
                <a:cs typeface="Aptos"/>
              </a:rPr>
              <a:t>Channels</a:t>
            </a:r>
          </a:p>
        </p:txBody>
      </p:sp>
      <p:sp>
        <p:nvSpPr>
          <p:cNvPr id="32" name="Rectangle 31">
            <a:extLst xmlns:a="http://schemas.openxmlformats.org/drawingml/2006/main">
              <a:ext uri="{FF2B5EF4-FFF2-40B4-BE49-F238E27FC236}">
                <a16:creationId xmlns:a16="http://schemas.microsoft.com/office/drawing/2014/main" id="{C4A8E4E6-460B-45AB-A126-98D7F42CA0BC}"/>
              </a:ext>
            </a:extLst>
          </p:cNvPr>
          <p:cNvSpPr>
            <a:spLocks xmlns:a="http://schemas.openxmlformats.org/drawingml/2006/main" noGrp="1"/>
          </p:cNvSpPr>
          <p:nvPr/>
        </p:nvSpPr>
        <p:spPr>
          <a:xfrm xmlns:a="http://schemas.openxmlformats.org/drawingml/2006/main">
            <a:off x="952500" y="4267200"/>
            <a:ext cx="27241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125" b="0">
                <a:solidFill>
                  <a:srgbClr val="314554"/>
                </a:solidFill>
                <a:latin typeface="Aptos"/>
                <a:ea typeface="Aptos"/>
                <a:cs typeface="Aptos"/>
              </a:defRPr>
            </a:pPr>
            <a:r>
              <a:rPr sz="1125" b="0">
                <a:solidFill>
                  <a:srgbClr val="314554"/>
                </a:solidFill>
                <a:latin typeface="Aptos"/>
                <a:ea typeface="Aptos"/>
                <a:cs typeface="Aptos"/>
              </a:rPr>
              <a:t>Next.js UI exposes chat, glass-box diagnostics, case console, and analytics views.</a:t>
            </a:r>
          </a:p>
        </p:txBody>
      </p:sp>
      <p:sp>
        <p:nvSpPr>
          <p:cNvPr id="33" name="Rectangle 32">
            <a:extLst xmlns:a="http://schemas.openxmlformats.org/drawingml/2006/main">
              <a:ext uri="{FF2B5EF4-FFF2-40B4-BE49-F238E27FC236}">
                <a16:creationId xmlns:a16="http://schemas.microsoft.com/office/drawing/2014/main" id="{82139555-B9ED-45A8-A2CC-E5FDA8AD4FB3}"/>
              </a:ext>
            </a:extLst>
          </p:cNvPr>
          <p:cNvSpPr>
            <a:spLocks xmlns:a="http://schemas.openxmlformats.org/drawingml/2006/main" noGrp="1"/>
          </p:cNvSpPr>
          <p:nvPr/>
        </p:nvSpPr>
        <p:spPr>
          <a:xfrm xmlns:a="http://schemas.openxmlformats.org/drawingml/2006/main">
            <a:off x="4514850" y="3695700"/>
            <a:ext cx="3143250" cy="1524000"/>
          </a:xfrm>
          <a:prstGeom xmlns:a="http://schemas.openxmlformats.org/drawingml/2006/main" prst="rect">
            <a:avLst/>
          </a:prstGeom>
          <a:solidFill xmlns:a="http://schemas.openxmlformats.org/drawingml/2006/main">
            <a:srgbClr val="FFFFFF"/>
          </a:solidFill>
          <a:ln xmlns:a="http://schemas.openxmlformats.org/drawingml/2006/main" w="9525">
            <a:solidFill>
              <a:srgbClr val="D7E2E7"/>
            </a:solidFill>
          </a:ln>
        </p:spPr>
        <p:txBody>
          <a:bodyPr xmlns:a="http://schemas.openxmlformats.org/drawingml/2006/main"/>
          <a:lstStyle xmlns:a="http://schemas.openxmlformats.org/drawingml/2006/main"/>
          <a:p xmlns:a="http://schemas.openxmlformats.org/drawingml/2006/main">
            <a:endParaRPr/>
          </a:p>
        </p:txBody>
      </p:sp>
      <p:sp>
        <p:nvSpPr>
          <p:cNvPr id="34" name="Rectangle 33">
            <a:extLst xmlns:a="http://schemas.openxmlformats.org/drawingml/2006/main">
              <a:ext uri="{FF2B5EF4-FFF2-40B4-BE49-F238E27FC236}">
                <a16:creationId xmlns:a16="http://schemas.microsoft.com/office/drawing/2014/main" id="{8BA202F8-3084-4485-A9EB-3A59AF9AD168}"/>
              </a:ext>
            </a:extLst>
          </p:cNvPr>
          <p:cNvSpPr>
            <a:spLocks xmlns:a="http://schemas.openxmlformats.org/drawingml/2006/main" noGrp="1"/>
          </p:cNvSpPr>
          <p:nvPr/>
        </p:nvSpPr>
        <p:spPr>
          <a:xfrm xmlns:a="http://schemas.openxmlformats.org/drawingml/2006/main">
            <a:off x="4514850" y="3695700"/>
            <a:ext cx="57150" cy="1524000"/>
          </a:xfrm>
          <a:prstGeom xmlns:a="http://schemas.openxmlformats.org/drawingml/2006/main" prst="rect">
            <a:avLst/>
          </a:prstGeom>
          <a:solidFill xmlns:a="http://schemas.openxmlformats.org/drawingml/2006/main">
            <a:srgbClr val="1FB6A6"/>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35" name="Rectangle 34">
            <a:extLst xmlns:a="http://schemas.openxmlformats.org/drawingml/2006/main">
              <a:ext uri="{FF2B5EF4-FFF2-40B4-BE49-F238E27FC236}">
                <a16:creationId xmlns:a16="http://schemas.microsoft.com/office/drawing/2014/main" id="{E0B45DF6-3BD8-4A78-9287-949CFD34DF33}"/>
              </a:ext>
            </a:extLst>
          </p:cNvPr>
          <p:cNvSpPr>
            <a:spLocks xmlns:a="http://schemas.openxmlformats.org/drawingml/2006/main" noGrp="1"/>
          </p:cNvSpPr>
          <p:nvPr/>
        </p:nvSpPr>
        <p:spPr>
          <a:xfrm xmlns:a="http://schemas.openxmlformats.org/drawingml/2006/main">
            <a:off x="4724400" y="3867150"/>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425" b="1">
                <a:solidFill>
                  <a:srgbClr val="132433"/>
                </a:solidFill>
                <a:latin typeface="Aptos"/>
                <a:ea typeface="Aptos"/>
                <a:cs typeface="Aptos"/>
              </a:defRPr>
            </a:pPr>
            <a:r>
              <a:rPr sz="1425" b="1">
                <a:solidFill>
                  <a:srgbClr val="132433"/>
                </a:solidFill>
                <a:latin typeface="Aptos"/>
                <a:ea typeface="Aptos"/>
                <a:cs typeface="Aptos"/>
              </a:rPr>
              <a:t>Service layer</a:t>
            </a:r>
          </a:p>
        </p:txBody>
      </p:sp>
      <p:sp>
        <p:nvSpPr>
          <p:cNvPr id="36" name="Rectangle 35">
            <a:extLst xmlns:a="http://schemas.openxmlformats.org/drawingml/2006/main">
              <a:ext uri="{FF2B5EF4-FFF2-40B4-BE49-F238E27FC236}">
                <a16:creationId xmlns:a16="http://schemas.microsoft.com/office/drawing/2014/main" id="{BEEEEC41-4B79-4A7C-88CD-68A2878AD957}"/>
              </a:ext>
            </a:extLst>
          </p:cNvPr>
          <p:cNvSpPr>
            <a:spLocks xmlns:a="http://schemas.openxmlformats.org/drawingml/2006/main" noGrp="1"/>
          </p:cNvSpPr>
          <p:nvPr/>
        </p:nvSpPr>
        <p:spPr>
          <a:xfrm xmlns:a="http://schemas.openxmlformats.org/drawingml/2006/main">
            <a:off x="4724400" y="4267200"/>
            <a:ext cx="27241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125" b="0">
                <a:solidFill>
                  <a:srgbClr val="314554"/>
                </a:solidFill>
                <a:latin typeface="Aptos"/>
                <a:ea typeface="Aptos"/>
                <a:cs typeface="Aptos"/>
              </a:defRPr>
            </a:pPr>
            <a:r>
              <a:rPr sz="1125" b="0">
                <a:solidFill>
                  <a:srgbClr val="314554"/>
                </a:solidFill>
                <a:latin typeface="Aptos"/>
                <a:ea typeface="Aptos"/>
                <a:cs typeface="Aptos"/>
              </a:rPr>
              <a:t>FastAPI calls the orchestrator, verifier, policy engine, ML models, and tool registry.</a:t>
            </a:r>
          </a:p>
        </p:txBody>
      </p:sp>
      <p:sp>
        <p:nvSpPr>
          <p:cNvPr id="37" name="Rectangle 36">
            <a:extLst xmlns:a="http://schemas.openxmlformats.org/drawingml/2006/main">
              <a:ext uri="{FF2B5EF4-FFF2-40B4-BE49-F238E27FC236}">
                <a16:creationId xmlns:a16="http://schemas.microsoft.com/office/drawing/2014/main" id="{C31B948E-6896-40CF-AC41-6EBCA43CBCDE}"/>
              </a:ext>
            </a:extLst>
          </p:cNvPr>
          <p:cNvSpPr>
            <a:spLocks xmlns:a="http://schemas.openxmlformats.org/drawingml/2006/main" noGrp="1"/>
          </p:cNvSpPr>
          <p:nvPr/>
        </p:nvSpPr>
        <p:spPr>
          <a:xfrm xmlns:a="http://schemas.openxmlformats.org/drawingml/2006/main">
            <a:off x="8286750" y="3695700"/>
            <a:ext cx="3143250" cy="1524000"/>
          </a:xfrm>
          <a:prstGeom xmlns:a="http://schemas.openxmlformats.org/drawingml/2006/main" prst="rect">
            <a:avLst/>
          </a:prstGeom>
          <a:solidFill xmlns:a="http://schemas.openxmlformats.org/drawingml/2006/main">
            <a:srgbClr val="FFFFFF"/>
          </a:solidFill>
          <a:ln xmlns:a="http://schemas.openxmlformats.org/drawingml/2006/main" w="9525">
            <a:solidFill>
              <a:srgbClr val="D7E2E7"/>
            </a:solidFill>
          </a:ln>
        </p:spPr>
        <p:txBody>
          <a:bodyPr xmlns:a="http://schemas.openxmlformats.org/drawingml/2006/main"/>
          <a:lstStyle xmlns:a="http://schemas.openxmlformats.org/drawingml/2006/main"/>
          <a:p xmlns:a="http://schemas.openxmlformats.org/drawingml/2006/main">
            <a:endParaRPr/>
          </a:p>
        </p:txBody>
      </p:sp>
      <p:sp>
        <p:nvSpPr>
          <p:cNvPr id="38" name="Rectangle 37">
            <a:extLst xmlns:a="http://schemas.openxmlformats.org/drawingml/2006/main">
              <a:ext uri="{FF2B5EF4-FFF2-40B4-BE49-F238E27FC236}">
                <a16:creationId xmlns:a16="http://schemas.microsoft.com/office/drawing/2014/main" id="{5F5E830E-AEF4-48C7-944E-ADB3CF563246}"/>
              </a:ext>
            </a:extLst>
          </p:cNvPr>
          <p:cNvSpPr>
            <a:spLocks xmlns:a="http://schemas.openxmlformats.org/drawingml/2006/main" noGrp="1"/>
          </p:cNvSpPr>
          <p:nvPr/>
        </p:nvSpPr>
        <p:spPr>
          <a:xfrm xmlns:a="http://schemas.openxmlformats.org/drawingml/2006/main">
            <a:off x="8286750" y="3695700"/>
            <a:ext cx="57150" cy="1524000"/>
          </a:xfrm>
          <a:prstGeom xmlns:a="http://schemas.openxmlformats.org/drawingml/2006/main" prst="rect">
            <a:avLst/>
          </a:prstGeom>
          <a:solidFill xmlns:a="http://schemas.openxmlformats.org/drawingml/2006/main">
            <a:srgbClr val="C9A45C"/>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39" name="Rectangle 38">
            <a:extLst xmlns:a="http://schemas.openxmlformats.org/drawingml/2006/main">
              <a:ext uri="{FF2B5EF4-FFF2-40B4-BE49-F238E27FC236}">
                <a16:creationId xmlns:a16="http://schemas.microsoft.com/office/drawing/2014/main" id="{E98414C2-88CE-48F3-A104-D2EF066240C4}"/>
              </a:ext>
            </a:extLst>
          </p:cNvPr>
          <p:cNvSpPr>
            <a:spLocks xmlns:a="http://schemas.openxmlformats.org/drawingml/2006/main" noGrp="1"/>
          </p:cNvSpPr>
          <p:nvPr/>
        </p:nvSpPr>
        <p:spPr>
          <a:xfrm xmlns:a="http://schemas.openxmlformats.org/drawingml/2006/main">
            <a:off x="8496300" y="3867150"/>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425" b="1">
                <a:solidFill>
                  <a:srgbClr val="132433"/>
                </a:solidFill>
                <a:latin typeface="Aptos"/>
                <a:ea typeface="Aptos"/>
                <a:cs typeface="Aptos"/>
              </a:defRPr>
            </a:pPr>
            <a:r>
              <a:rPr sz="1425" b="1">
                <a:solidFill>
                  <a:srgbClr val="132433"/>
                </a:solidFill>
                <a:latin typeface="Aptos"/>
                <a:ea typeface="Aptos"/>
                <a:cs typeface="Aptos"/>
              </a:rPr>
              <a:t>Data and models</a:t>
            </a:r>
          </a:p>
        </p:txBody>
      </p:sp>
      <p:sp>
        <p:nvSpPr>
          <p:cNvPr id="40" name="Rectangle 39">
            <a:extLst xmlns:a="http://schemas.openxmlformats.org/drawingml/2006/main">
              <a:ext uri="{FF2B5EF4-FFF2-40B4-BE49-F238E27FC236}">
                <a16:creationId xmlns:a16="http://schemas.microsoft.com/office/drawing/2014/main" id="{BD800D9E-2CFD-4D7D-B5C5-CB87F60D2D02}"/>
              </a:ext>
            </a:extLst>
          </p:cNvPr>
          <p:cNvSpPr>
            <a:spLocks xmlns:a="http://schemas.openxmlformats.org/drawingml/2006/main" noGrp="1"/>
          </p:cNvSpPr>
          <p:nvPr/>
        </p:nvSpPr>
        <p:spPr>
          <a:xfrm xmlns:a="http://schemas.openxmlformats.org/drawingml/2006/main">
            <a:off x="8496300" y="4267200"/>
            <a:ext cx="27241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125" b="0">
                <a:solidFill>
                  <a:srgbClr val="314554"/>
                </a:solidFill>
                <a:latin typeface="Aptos"/>
                <a:ea typeface="Aptos"/>
                <a:cs typeface="Aptos"/>
              </a:defRPr>
            </a:pPr>
            <a:r>
              <a:rPr sz="1125" b="0">
                <a:solidFill>
                  <a:srgbClr val="314554"/>
                </a:solidFill>
                <a:latin typeface="Aptos"/>
                <a:ea typeface="Aptos"/>
                <a:cs typeface="Aptos"/>
              </a:rPr>
              <a:t>23.5M source rows audited. DuckDB and dbt curate local data. Model cards record comparisons and limitations.</a:t>
            </a:r>
          </a:p>
        </p:txBody>
      </p:sp>
      <p:sp>
        <p:nvSpPr>
          <p:cNvPr id="41" name="Rectangle 40">
            <a:extLst xmlns:a="http://schemas.openxmlformats.org/drawingml/2006/main">
              <a:ext uri="{FF2B5EF4-FFF2-40B4-BE49-F238E27FC236}">
                <a16:creationId xmlns:a16="http://schemas.microsoft.com/office/drawing/2014/main" id="{F5FC5001-AF3E-4B01-9FBC-DF2AA1187B79}"/>
              </a:ext>
            </a:extLst>
          </p:cNvPr>
          <p:cNvSpPr>
            <a:spLocks xmlns:a="http://schemas.openxmlformats.org/drawingml/2006/main" noGrp="1"/>
          </p:cNvSpPr>
          <p:nvPr/>
        </p:nvSpPr>
        <p:spPr>
          <a:xfrm xmlns:a="http://schemas.openxmlformats.org/drawingml/2006/main">
            <a:off x="685800" y="6400800"/>
            <a:ext cx="495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900" b="0">
                <a:solidFill>
                  <a:srgbClr val="5E7180"/>
                </a:solidFill>
                <a:latin typeface="Aptos"/>
                <a:ea typeface="Aptos"/>
                <a:cs typeface="Aptos"/>
              </a:defRPr>
            </a:pPr>
            <a:r>
              <a:rPr sz="900" b="0">
                <a:solidFill>
                  <a:srgbClr val="5E7180"/>
                </a:solidFill>
                <a:latin typeface="Aptos"/>
                <a:ea typeface="Aptos"/>
                <a:cs typeface="Aptos"/>
              </a:rPr>
              <a:t>NOEMA · Factored AI &amp; Data Hackathon 2026</a:t>
            </a:r>
          </a:p>
        </p:txBody>
      </p:sp>
      <p:sp>
        <p:nvSpPr>
          <p:cNvPr id="42" name="Rectangle 41">
            <a:extLst xmlns:a="http://schemas.openxmlformats.org/drawingml/2006/main">
              <a:ext uri="{FF2B5EF4-FFF2-40B4-BE49-F238E27FC236}">
                <a16:creationId xmlns:a16="http://schemas.microsoft.com/office/drawing/2014/main" id="{B170B35C-4C20-4AE2-A10D-BD7048E56EB2}"/>
              </a:ext>
            </a:extLst>
          </p:cNvPr>
          <p:cNvSpPr>
            <a:spLocks xmlns:a="http://schemas.openxmlformats.org/drawingml/2006/main" noGrp="1"/>
          </p:cNvSpPr>
          <p:nvPr/>
        </p:nvSpPr>
        <p:spPr>
          <a:xfrm xmlns:a="http://schemas.openxmlformats.org/drawingml/2006/main">
            <a:off x="11096625" y="63817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900" b="1">
                <a:solidFill>
                  <a:srgbClr val="5E7180"/>
                </a:solidFill>
                <a:latin typeface="Aptos"/>
                <a:ea typeface="Aptos"/>
                <a:cs typeface="Aptos"/>
              </a:defRPr>
            </a:pPr>
            <a:r>
              <a:rPr sz="900" b="1">
                <a:solidFill>
                  <a:srgbClr val="5E7180"/>
                </a:solidFill>
                <a:latin typeface="Aptos"/>
                <a:ea typeface="Aptos"/>
                <a:cs typeface="Aptos"/>
              </a:rPr>
              <a:t>02</a:t>
            </a:r>
          </a:p>
        </p:txBody>
      </p:sp>
    </p:spTree>
    <p:extLst>
      <p:ext uri="{BB962C8B-B14F-4D97-AF65-F5344CB8AC3E}">
        <p14:creationId xmlns:p14="http://schemas.microsoft.com/office/powerpoint/2010/main" val="70280552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604AAB7-1CA7-40F7-BB57-2E66FD80ADFF}"/>
              </a:ext>
            </a:extLst>
          </p:cNvPr>
          <p:cNvSpPr>
            <a:spLocks xmlns:a="http://schemas.openxmlformats.org/drawingml/2006/main" noGrp="1"/>
          </p:cNvSpPr>
          <p:nvPr/>
        </p:nvSpPr>
        <p:spPr>
          <a:xfrm xmlns:a="http://schemas.openxmlformats.org/drawingml/2006/main">
            <a:off x="666750" y="4000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32433"/>
                </a:solidFill>
                <a:latin typeface="Aptos"/>
                <a:ea typeface="Aptos"/>
                <a:cs typeface="Aptos"/>
              </a:defRPr>
            </a:pPr>
            <a:r>
              <a:rPr sz="2550" b="1">
                <a:solidFill>
                  <a:srgbClr val="132433"/>
                </a:solidFill>
                <a:latin typeface="Aptos"/>
                <a:ea typeface="Aptos"/>
                <a:cs typeface="Aptos"/>
              </a:rPr>
              <a:t>Trained models versus baseline</a:t>
            </a:r>
          </a:p>
        </p:txBody>
      </p:sp>
      <p:sp>
        <p:nvSpPr>
          <p:cNvPr id="2" name="">
            <a:extLst xmlns:a="http://schemas.openxmlformats.org/drawingml/2006/main">
              <a:ext uri="{FF2B5EF4-FFF2-40B4-BE49-F238E27FC236}">
                <a16:creationId xmlns:a16="http://schemas.microsoft.com/office/drawing/2014/main" id="{8FD79C06-188A-40BA-9981-1DF35697773E}"/>
              </a:ext>
            </a:extLst>
          </p:cNvPr>
          <p:cNvSpPr>
            <a:spLocks xmlns:a="http://schemas.openxmlformats.org/drawingml/2006/main" noGrp="1"/>
          </p:cNvSpPr>
          <p:nvPr/>
        </p:nvSpPr>
        <p:spPr>
          <a:xfrm xmlns:a="http://schemas.openxmlformats.org/drawingml/2006/main">
            <a:off x="685800" y="9715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E7180"/>
                </a:solidFill>
                <a:latin typeface="Aptos"/>
                <a:ea typeface="Aptos"/>
                <a:cs typeface="Aptos"/>
              </a:defRPr>
            </a:pPr>
            <a:r>
              <a:rPr sz="1350" b="0">
                <a:solidFill>
                  <a:srgbClr val="5E7180"/>
                </a:solidFill>
                <a:latin typeface="Aptos"/>
                <a:ea typeface="Aptos"/>
                <a:cs typeface="Aptos"/>
              </a:rPr>
              <a:t>Product interest: observed campaign conversion within 30 days. Test set: 248,875 exposures.</a:t>
            </a:r>
          </a:p>
        </p:txBody>
      </p:sp>
      <p:sp>
        <p:nvSpPr>
          <p:cNvPr id="3" name="">
            <a:extLst xmlns:a="http://schemas.openxmlformats.org/drawingml/2006/main">
              <a:ext uri="{FF2B5EF4-FFF2-40B4-BE49-F238E27FC236}">
                <a16:creationId xmlns:a16="http://schemas.microsoft.com/office/drawing/2014/main" id="{8CB4960A-64A4-4426-9484-2CF5E7819036}"/>
              </a:ext>
            </a:extLst>
          </p:cNvPr>
          <p:cNvSpPr>
            <a:spLocks xmlns:a="http://schemas.openxmlformats.org/drawingml/2006/main" noGrp="1"/>
          </p:cNvSpPr>
          <p:nvPr/>
        </p:nvSpPr>
        <p:spPr>
          <a:xfrm xmlns:a="http://schemas.openxmlformats.org/drawingml/2006/main">
            <a:off x="666750" y="1409700"/>
            <a:ext cx="876300" cy="38100"/>
          </a:xfrm>
          <a:prstGeom xmlns:a="http://schemas.openxmlformats.org/drawingml/2006/main" prst="rect">
            <a:avLst/>
          </a:prstGeom>
          <a:solidFill xmlns:a="http://schemas.openxmlformats.org/drawingml/2006/main">
            <a:srgbClr val="1FB6A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5A49570-6058-43A9-8BE7-316658B59CA6}"/>
              </a:ext>
            </a:extLst>
          </p:cNvPr>
          <p:cNvSpPr>
            <a:spLocks xmlns:a="http://schemas.openxmlformats.org/drawingml/2006/main" noGrp="1"/>
          </p:cNvSpPr>
          <p:nvPr/>
        </p:nvSpPr>
        <p:spPr>
          <a:xfrm xmlns:a="http://schemas.openxmlformats.org/drawingml/2006/main">
            <a:off x="685800" y="64008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E7180"/>
                </a:solidFill>
                <a:latin typeface="Aptos"/>
                <a:ea typeface="Aptos"/>
                <a:cs typeface="Aptos"/>
              </a:defRPr>
            </a:pPr>
            <a:r>
              <a:rPr sz="900" b="0">
                <a:solidFill>
                  <a:srgbClr val="5E7180"/>
                </a:solidFill>
                <a:latin typeface="Aptos"/>
                <a:ea typeface="Aptos"/>
                <a:cs typeface="Aptos"/>
              </a:rPr>
              <a:t>NOEMA  /  Factored AI &amp; Data Hackathon 2026</a:t>
            </a:r>
          </a:p>
        </p:txBody>
      </p:sp>
      <p:sp>
        <p:nvSpPr>
          <p:cNvPr id="5" name="">
            <a:extLst xmlns:a="http://schemas.openxmlformats.org/drawingml/2006/main">
              <a:ext uri="{FF2B5EF4-FFF2-40B4-BE49-F238E27FC236}">
                <a16:creationId xmlns:a16="http://schemas.microsoft.com/office/drawing/2014/main" id="{6380FA93-7E80-4384-98B6-D8448E715C53}"/>
              </a:ext>
            </a:extLst>
          </p:cNvPr>
          <p:cNvSpPr>
            <a:spLocks xmlns:a="http://schemas.openxmlformats.org/drawingml/2006/main" noGrp="1"/>
          </p:cNvSpPr>
          <p:nvPr/>
        </p:nvSpPr>
        <p:spPr>
          <a:xfrm xmlns:a="http://schemas.openxmlformats.org/drawingml/2006/main">
            <a:off x="11096625" y="64008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5E7180"/>
                </a:solidFill>
                <a:latin typeface="Aptos"/>
                <a:ea typeface="Aptos"/>
                <a:cs typeface="Aptos"/>
              </a:defRPr>
            </a:pPr>
            <a:r>
              <a:rPr sz="900" b="1">
                <a:solidFill>
                  <a:srgbClr val="5E7180"/>
                </a:solidFill>
                <a:latin typeface="Aptos"/>
                <a:ea typeface="Aptos"/>
                <a:cs typeface="Aptos"/>
              </a:rPr>
              <a:t>03</a:t>
            </a:r>
          </a:p>
        </p:txBody>
      </p:sp>
      <p:graphicFrame>
        <p:nvGraphicFramePr>
          <p:cNvPr id="17" name=""/>
          <p:cNvGraphicFramePr/>
          <p:nvPr/>
        </p:nvGraphicFramePr>
        <p:xfrm>
          <a:off xmlns:a="http://schemas.openxmlformats.org/drawingml/2006/main" x="685800" y="1724025"/>
          <a:ext xmlns:a="http://schemas.openxmlformats.org/drawingml/2006/main" cx="10820400" cy="2514600"/>
        </p:xfrm>
        <a:graphic xmlns:a="http://schemas.openxmlformats.org/drawingml/2006/main">
          <a:graphicData uri="http://schemas.openxmlformats.org/drawingml/2006/table">
            <a:tbl>
              <a:tblPr firstRow="1" bandRow="0"/>
              <a:tblGrid>
                <a:gridCol w="3143250"/>
                <a:gridCol w="1762125"/>
                <a:gridCol w="1714500"/>
                <a:gridCol w="1952625"/>
                <a:gridCol w="2247900"/>
              </a:tblGrid>
              <a:tr h="628650">
                <a:tc>
                  <a:txBody>
                    <a:bodyPr>
                      <a:noAutofit/>
                    </a:bodyPr>
                    <a:lstStyle/>
                    <a:p>
                      <a:r>
                        <a:rPr sz="1575" b="1">
                          <a:solidFill>
                            <a:srgbClr val="FFFFFF"/>
                          </a:solidFill>
                          <a:latin typeface="Aptos"/>
                          <a:ea typeface="Aptos"/>
                          <a:cs typeface="Aptos"/>
                        </a:rPr>
                        <a:t>Model</a:t>
                      </a:r>
                    </a:p>
                  </a:txBody>
                  <a:tcPr marL="91440" marR="91440" marT="45720" marB="45720">
                    <a:solidFill>
                      <a:srgbClr val="071826"/>
                    </a:solidFill>
                  </a:tcPr>
                </a:tc>
                <a:tc>
                  <a:txBody>
                    <a:bodyPr>
                      <a:noAutofit/>
                    </a:bodyPr>
                    <a:lstStyle/>
                    <a:p>
                      <a:r>
                        <a:rPr sz="1575" b="1">
                          <a:solidFill>
                            <a:srgbClr val="FFFFFF"/>
                          </a:solidFill>
                          <a:latin typeface="Aptos"/>
                          <a:ea typeface="Aptos"/>
                          <a:cs typeface="Aptos"/>
                        </a:rPr>
                        <a:t>ROC-AUC</a:t>
                      </a:r>
                    </a:p>
                  </a:txBody>
                  <a:tcPr marL="91440" marR="91440" marT="45720" marB="45720">
                    <a:solidFill>
                      <a:srgbClr val="071826"/>
                    </a:solidFill>
                  </a:tcPr>
                </a:tc>
                <a:tc>
                  <a:txBody>
                    <a:bodyPr>
                      <a:noAutofit/>
                    </a:bodyPr>
                    <a:lstStyle/>
                    <a:p>
                      <a:r>
                        <a:rPr sz="1575" b="1">
                          <a:solidFill>
                            <a:srgbClr val="FFFFFF"/>
                          </a:solidFill>
                          <a:latin typeface="Aptos"/>
                          <a:ea typeface="Aptos"/>
                          <a:cs typeface="Aptos"/>
                        </a:rPr>
                        <a:t>AP</a:t>
                      </a:r>
                    </a:p>
                  </a:txBody>
                  <a:tcPr marL="91440" marR="91440" marT="45720" marB="45720">
                    <a:solidFill>
                      <a:srgbClr val="071826"/>
                    </a:solidFill>
                  </a:tcPr>
                </a:tc>
                <a:tc>
                  <a:txBody>
                    <a:bodyPr>
                      <a:noAutofit/>
                    </a:bodyPr>
                    <a:lstStyle/>
                    <a:p>
                      <a:r>
                        <a:rPr sz="1575" b="1">
                          <a:solidFill>
                            <a:srgbClr val="FFFFFF"/>
                          </a:solidFill>
                          <a:latin typeface="Aptos"/>
                          <a:ea typeface="Aptos"/>
                          <a:cs typeface="Aptos"/>
                        </a:rPr>
                        <a:t>Log loss</a:t>
                      </a:r>
                    </a:p>
                  </a:txBody>
                  <a:tcPr marL="91440" marR="91440" marT="45720" marB="45720">
                    <a:solidFill>
                      <a:srgbClr val="071826"/>
                    </a:solidFill>
                  </a:tcPr>
                </a:tc>
                <a:tc>
                  <a:txBody>
                    <a:bodyPr>
                      <a:noAutofit/>
                    </a:bodyPr>
                    <a:lstStyle/>
                    <a:p>
                      <a:r>
                        <a:rPr sz="1575" b="1">
                          <a:solidFill>
                            <a:srgbClr val="FFFFFF"/>
                          </a:solidFill>
                          <a:latin typeface="Aptos"/>
                          <a:ea typeface="Aptos"/>
                          <a:cs typeface="Aptos"/>
                        </a:rPr>
                        <a:t>Top 10% lift</a:t>
                      </a:r>
                    </a:p>
                  </a:txBody>
                  <a:tcPr marL="91440" marR="91440" marT="45720" marB="45720">
                    <a:solidFill>
                      <a:srgbClr val="071826"/>
                    </a:solidFill>
                  </a:tcPr>
                </a:tc>
              </a:tr>
              <a:tr h="628650">
                <a:tc>
                  <a:txBody>
                    <a:bodyPr>
                      <a:noAutofit/>
                    </a:bodyPr>
                    <a:lstStyle/>
                    <a:p>
                      <a:r>
                        <a:rPr sz="1575" b="1">
                          <a:solidFill>
                            <a:srgbClr val="132433"/>
                          </a:solidFill>
                          <a:latin typeface="Aptos"/>
                          <a:ea typeface="Aptos"/>
                          <a:cs typeface="Aptos"/>
                        </a:rPr>
                        <a:t>Prior baseline</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0.5000</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0.0049</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0.03094</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1.00x</a:t>
                      </a:r>
                    </a:p>
                  </a:txBody>
                  <a:tcPr marL="91440" marR="91440" marT="45720" marB="45720">
                    <a:solidFill>
                      <a:srgbClr val="FFFFFF"/>
                    </a:solidFill>
                  </a:tcPr>
                </a:tc>
              </a:tr>
              <a:tr h="628650">
                <a:tc>
                  <a:txBody>
                    <a:bodyPr>
                      <a:noAutofit/>
                    </a:bodyPr>
                    <a:lstStyle/>
                    <a:p>
                      <a:r>
                        <a:rPr sz="1575" b="1">
                          <a:solidFill>
                            <a:srgbClr val="132433"/>
                          </a:solidFill>
                          <a:latin typeface="Aptos"/>
                          <a:ea typeface="Aptos"/>
                          <a:cs typeface="Aptos"/>
                        </a:rPr>
                        <a:t>Logistic regression</a:t>
                      </a:r>
                    </a:p>
                  </a:txBody>
                  <a:tcPr marL="91440" marR="91440" marT="45720" marB="45720">
                    <a:solidFill>
                      <a:srgbClr val="EDF3F4"/>
                    </a:solidFill>
                  </a:tcPr>
                </a:tc>
                <a:tc>
                  <a:txBody>
                    <a:bodyPr>
                      <a:noAutofit/>
                    </a:bodyPr>
                    <a:lstStyle/>
                    <a:p>
                      <a:r>
                        <a:rPr sz="1575" b="0">
                          <a:solidFill>
                            <a:srgbClr val="132433"/>
                          </a:solidFill>
                          <a:latin typeface="Aptos"/>
                          <a:ea typeface="Aptos"/>
                          <a:cs typeface="Aptos"/>
                        </a:rPr>
                        <a:t>0.6767</a:t>
                      </a:r>
                    </a:p>
                  </a:txBody>
                  <a:tcPr marL="91440" marR="91440" marT="45720" marB="45720">
                    <a:solidFill>
                      <a:srgbClr val="EDF3F4"/>
                    </a:solidFill>
                  </a:tcPr>
                </a:tc>
                <a:tc>
                  <a:txBody>
                    <a:bodyPr>
                      <a:noAutofit/>
                    </a:bodyPr>
                    <a:lstStyle/>
                    <a:p>
                      <a:r>
                        <a:rPr sz="1575" b="0">
                          <a:solidFill>
                            <a:srgbClr val="132433"/>
                          </a:solidFill>
                          <a:latin typeface="Aptos"/>
                          <a:ea typeface="Aptos"/>
                          <a:cs typeface="Aptos"/>
                        </a:rPr>
                        <a:t>0.0081</a:t>
                      </a:r>
                    </a:p>
                  </a:txBody>
                  <a:tcPr marL="91440" marR="91440" marT="45720" marB="45720">
                    <a:solidFill>
                      <a:srgbClr val="EDF3F4"/>
                    </a:solidFill>
                  </a:tcPr>
                </a:tc>
                <a:tc>
                  <a:txBody>
                    <a:bodyPr>
                      <a:noAutofit/>
                    </a:bodyPr>
                    <a:lstStyle/>
                    <a:p>
                      <a:r>
                        <a:rPr sz="1575" b="0">
                          <a:solidFill>
                            <a:srgbClr val="132433"/>
                          </a:solidFill>
                          <a:latin typeface="Aptos"/>
                          <a:ea typeface="Aptos"/>
                          <a:cs typeface="Aptos"/>
                        </a:rPr>
                        <a:t>0.02924</a:t>
                      </a:r>
                    </a:p>
                  </a:txBody>
                  <a:tcPr marL="91440" marR="91440" marT="45720" marB="45720">
                    <a:solidFill>
                      <a:srgbClr val="EDF3F4"/>
                    </a:solidFill>
                  </a:tcPr>
                </a:tc>
                <a:tc>
                  <a:txBody>
                    <a:bodyPr>
                      <a:noAutofit/>
                    </a:bodyPr>
                    <a:lstStyle/>
                    <a:p>
                      <a:r>
                        <a:rPr sz="1575" b="0">
                          <a:solidFill>
                            <a:srgbClr val="132433"/>
                          </a:solidFill>
                          <a:latin typeface="Aptos"/>
                          <a:ea typeface="Aptos"/>
                          <a:cs typeface="Aptos"/>
                        </a:rPr>
                        <a:t>1.77x</a:t>
                      </a:r>
                    </a:p>
                  </a:txBody>
                  <a:tcPr marL="91440" marR="91440" marT="45720" marB="45720">
                    <a:solidFill>
                      <a:srgbClr val="EDF3F4"/>
                    </a:solidFill>
                  </a:tcPr>
                </a:tc>
              </a:tr>
              <a:tr h="628650">
                <a:tc>
                  <a:txBody>
                    <a:bodyPr>
                      <a:noAutofit/>
                    </a:bodyPr>
                    <a:lstStyle/>
                    <a:p>
                      <a:r>
                        <a:rPr sz="1575" b="1">
                          <a:solidFill>
                            <a:srgbClr val="132433"/>
                          </a:solidFill>
                          <a:latin typeface="Aptos"/>
                          <a:ea typeface="Aptos"/>
                          <a:cs typeface="Aptos"/>
                        </a:rPr>
                        <a:t>MLP: 32 / 16 / 8</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0.6739</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0.0081</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0.02930</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1.86x</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8855060C-2546-4EFF-BC8E-D1B7E7DE1658}"/>
              </a:ext>
            </a:extLst>
          </p:cNvPr>
          <p:cNvSpPr>
            <a:spLocks xmlns:a="http://schemas.openxmlformats.org/drawingml/2006/main" noGrp="1"/>
          </p:cNvSpPr>
          <p:nvPr/>
        </p:nvSpPr>
        <p:spPr>
          <a:xfrm xmlns:a="http://schemas.openxmlformats.org/drawingml/2006/main">
            <a:off x="723900" y="4572000"/>
            <a:ext cx="504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2433"/>
                </a:solidFill>
                <a:latin typeface="Aptos"/>
                <a:ea typeface="Aptos"/>
                <a:cs typeface="Aptos"/>
              </a:defRPr>
            </a:pPr>
            <a:r>
              <a:rPr sz="1725" b="1">
                <a:solidFill>
                  <a:srgbClr val="132433"/>
                </a:solidFill>
                <a:latin typeface="Aptos"/>
                <a:ea typeface="Aptos"/>
                <a:cs typeface="Aptos"/>
              </a:rPr>
              <a:t>Selected: logistic regression</a:t>
            </a:r>
          </a:p>
        </p:txBody>
      </p:sp>
      <p:sp>
        <p:nvSpPr>
          <p:cNvPr id="8" name="">
            <a:extLst xmlns:a="http://schemas.openxmlformats.org/drawingml/2006/main">
              <a:ext uri="{FF2B5EF4-FFF2-40B4-BE49-F238E27FC236}">
                <a16:creationId xmlns:a16="http://schemas.microsoft.com/office/drawing/2014/main" id="{02895D2D-AA21-47C9-BFA9-1001715DAFA4}"/>
              </a:ext>
            </a:extLst>
          </p:cNvPr>
          <p:cNvSpPr>
            <a:spLocks xmlns:a="http://schemas.openxmlformats.org/drawingml/2006/main" noGrp="1"/>
          </p:cNvSpPr>
          <p:nvPr/>
        </p:nvSpPr>
        <p:spPr>
          <a:xfrm xmlns:a="http://schemas.openxmlformats.org/drawingml/2006/main">
            <a:off x="723900" y="4933950"/>
            <a:ext cx="504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5.48% lower test log loss than the prior.</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Validation favored logistic over the MLP.</a:t>
            </a:r>
          </a:p>
        </p:txBody>
      </p:sp>
      <p:sp>
        <p:nvSpPr>
          <p:cNvPr id="9" name="">
            <a:extLst xmlns:a="http://schemas.openxmlformats.org/drawingml/2006/main">
              <a:ext uri="{FF2B5EF4-FFF2-40B4-BE49-F238E27FC236}">
                <a16:creationId xmlns:a16="http://schemas.microsoft.com/office/drawing/2014/main" id="{08B18430-D848-4AA1-8C42-FC948EA85590}"/>
              </a:ext>
            </a:extLst>
          </p:cNvPr>
          <p:cNvSpPr>
            <a:spLocks xmlns:a="http://schemas.openxmlformats.org/drawingml/2006/main" noGrp="1"/>
          </p:cNvSpPr>
          <p:nvPr/>
        </p:nvSpPr>
        <p:spPr>
          <a:xfrm xmlns:a="http://schemas.openxmlformats.org/drawingml/2006/main">
            <a:off x="6362700" y="4572000"/>
            <a:ext cx="5095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2433"/>
                </a:solidFill>
                <a:latin typeface="Aptos"/>
                <a:ea typeface="Aptos"/>
                <a:cs typeface="Aptos"/>
              </a:defRPr>
            </a:pPr>
            <a:r>
              <a:rPr sz="1725" b="1">
                <a:solidFill>
                  <a:srgbClr val="132433"/>
                </a:solidFill>
                <a:latin typeface="Aptos"/>
                <a:ea typeface="Aptos"/>
                <a:cs typeface="Aptos"/>
              </a:rPr>
              <a:t>Scope of the result</a:t>
            </a:r>
          </a:p>
        </p:txBody>
      </p:sp>
      <p:sp>
        <p:nvSpPr>
          <p:cNvPr id="10" name="">
            <a:extLst xmlns:a="http://schemas.openxmlformats.org/drawingml/2006/main">
              <a:ext uri="{FF2B5EF4-FFF2-40B4-BE49-F238E27FC236}">
                <a16:creationId xmlns:a16="http://schemas.microsoft.com/office/drawing/2014/main" id="{FE224D89-D09D-4E92-833C-945A83F153C1}"/>
              </a:ext>
            </a:extLst>
          </p:cNvPr>
          <p:cNvSpPr>
            <a:spLocks xmlns:a="http://schemas.openxmlformats.org/drawingml/2006/main" noGrp="1"/>
          </p:cNvSpPr>
          <p:nvPr/>
        </p:nvSpPr>
        <p:spPr>
          <a:xfrm xmlns:a="http://schemas.openxmlformats.org/drawingml/2006/main">
            <a:off x="6362700" y="4933950"/>
            <a:ext cx="5095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Test conversion prevalence: 0.489%.</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Product interest never authorizes credit.</a:t>
            </a:r>
          </a:p>
        </p:txBody>
      </p:sp>
      <p:sp>
        <p:nvSpPr>
          <p:cNvPr id="11" name="">
            <a:extLst xmlns:a="http://schemas.openxmlformats.org/drawingml/2006/main">
              <a:ext uri="{FF2B5EF4-FFF2-40B4-BE49-F238E27FC236}">
                <a16:creationId xmlns:a16="http://schemas.microsoft.com/office/drawing/2014/main" id="{07567332-DD01-4731-AA17-C3299DAD77F1}"/>
              </a:ext>
            </a:extLst>
          </p:cNvPr>
          <p:cNvSpPr>
            <a:spLocks xmlns:a="http://schemas.openxmlformats.org/drawingml/2006/main" noGrp="1"/>
          </p:cNvSpPr>
          <p:nvPr/>
        </p:nvSpPr>
        <p:spPr>
          <a:xfrm xmlns:a="http://schemas.openxmlformats.org/drawingml/2006/main">
            <a:off x="704850" y="575310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E7180"/>
                </a:solidFill>
                <a:latin typeface="Aptos"/>
                <a:ea typeface="Aptos"/>
                <a:cs typeface="Aptos"/>
              </a:defRPr>
            </a:pPr>
            <a:r>
              <a:rPr sz="1275" b="0">
                <a:solidFill>
                  <a:srgbClr val="5E7180"/>
                </a:solidFill>
                <a:latin typeface="Aptos"/>
                <a:ea typeface="Aptos"/>
                <a:cs typeface="Aptos"/>
              </a:rPr>
              <a:t>Higher is better for ROC-AUC, AP and lift. Lower is better for log loss. Both candidates remain experimental.</a:t>
            </a:r>
          </a:p>
        </p:txBody>
      </p:sp>
    </p:spTree>
    <p:extLst>
      <p:ext uri="{BB962C8B-B14F-4D97-AF65-F5344CB8AC3E}">
        <p14:creationId xmlns:p14="http://schemas.microsoft.com/office/powerpoint/2010/main" val="252229714"/>
      </p:ext>
    </p:extLst>
  </p:cSld>
</p:sld>
</file>

<file path=ppt/slides/slide4.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9B5A1B0-E878-4A4B-B079-A951F503C77D}"/>
              </a:ext>
            </a:extLst>
          </p:cNvPr>
          <p:cNvSpPr>
            <a:spLocks xmlns:a="http://schemas.openxmlformats.org/drawingml/2006/main" noGrp="1"/>
          </p:cNvSpPr>
          <p:nvPr/>
        </p:nvSpPr>
        <p:spPr>
          <a:xfrm xmlns:a="http://schemas.openxmlformats.org/drawingml/2006/main">
            <a:off x="666750" y="4000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32433"/>
                </a:solidFill>
                <a:latin typeface="Aptos"/>
                <a:ea typeface="Aptos"/>
                <a:cs typeface="Aptos"/>
              </a:defRPr>
            </a:pPr>
            <a:r>
              <a:rPr sz="2550" b="1">
                <a:solidFill>
                  <a:srgbClr val="132433"/>
                </a:solidFill>
                <a:latin typeface="Aptos"/>
                <a:ea typeface="Aptos"/>
                <a:cs typeface="Aptos"/>
              </a:rPr>
              <a:t>Training adjustments and measured outcomes</a:t>
            </a:r>
          </a:p>
        </p:txBody>
      </p:sp>
      <p:sp>
        <p:nvSpPr>
          <p:cNvPr id="2" name="">
            <a:extLst xmlns:a="http://schemas.openxmlformats.org/drawingml/2006/main">
              <a:ext uri="{FF2B5EF4-FFF2-40B4-BE49-F238E27FC236}">
                <a16:creationId xmlns:a16="http://schemas.microsoft.com/office/drawing/2014/main" id="{31D5AF0E-BAC7-4298-8764-6A61AAD9EEBF}"/>
              </a:ext>
            </a:extLst>
          </p:cNvPr>
          <p:cNvSpPr>
            <a:spLocks xmlns:a="http://schemas.openxmlformats.org/drawingml/2006/main" noGrp="1"/>
          </p:cNvSpPr>
          <p:nvPr/>
        </p:nvSpPr>
        <p:spPr>
          <a:xfrm xmlns:a="http://schemas.openxmlformats.org/drawingml/2006/main">
            <a:off x="685800" y="9715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E7180"/>
                </a:solidFill>
                <a:latin typeface="Aptos"/>
                <a:ea typeface="Aptos"/>
                <a:cs typeface="Aptos"/>
              </a:defRPr>
            </a:pPr>
            <a:r>
              <a:rPr sz="1350" b="0">
                <a:solidFill>
                  <a:srgbClr val="5E7180"/>
                </a:solidFill>
                <a:latin typeface="Aptos"/>
                <a:ea typeface="Aptos"/>
                <a:cs typeface="Aptos"/>
              </a:rPr>
              <a:t>Model selection follows validation evidence. Greater depth did not produce a reliable improvement.</a:t>
            </a:r>
          </a:p>
        </p:txBody>
      </p:sp>
      <p:sp>
        <p:nvSpPr>
          <p:cNvPr id="3" name="">
            <a:extLst xmlns:a="http://schemas.openxmlformats.org/drawingml/2006/main">
              <a:ext uri="{FF2B5EF4-FFF2-40B4-BE49-F238E27FC236}">
                <a16:creationId xmlns:a16="http://schemas.microsoft.com/office/drawing/2014/main" id="{3278C81C-C2A5-458D-B1A6-0F5884FE7835}"/>
              </a:ext>
            </a:extLst>
          </p:cNvPr>
          <p:cNvSpPr>
            <a:spLocks xmlns:a="http://schemas.openxmlformats.org/drawingml/2006/main" noGrp="1"/>
          </p:cNvSpPr>
          <p:nvPr/>
        </p:nvSpPr>
        <p:spPr>
          <a:xfrm xmlns:a="http://schemas.openxmlformats.org/drawingml/2006/main">
            <a:off x="666750" y="1409700"/>
            <a:ext cx="876300" cy="38100"/>
          </a:xfrm>
          <a:prstGeom xmlns:a="http://schemas.openxmlformats.org/drawingml/2006/main" prst="rect">
            <a:avLst/>
          </a:prstGeom>
          <a:solidFill xmlns:a="http://schemas.openxmlformats.org/drawingml/2006/main">
            <a:srgbClr val="1FB6A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65C4F4A-C4C6-4226-8470-DF07083F4A34}"/>
              </a:ext>
            </a:extLst>
          </p:cNvPr>
          <p:cNvSpPr>
            <a:spLocks xmlns:a="http://schemas.openxmlformats.org/drawingml/2006/main" noGrp="1"/>
          </p:cNvSpPr>
          <p:nvPr/>
        </p:nvSpPr>
        <p:spPr>
          <a:xfrm xmlns:a="http://schemas.openxmlformats.org/drawingml/2006/main">
            <a:off x="685800" y="64008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E7180"/>
                </a:solidFill>
                <a:latin typeface="Aptos"/>
                <a:ea typeface="Aptos"/>
                <a:cs typeface="Aptos"/>
              </a:defRPr>
            </a:pPr>
            <a:r>
              <a:rPr sz="900" b="0">
                <a:solidFill>
                  <a:srgbClr val="5E7180"/>
                </a:solidFill>
                <a:latin typeface="Aptos"/>
                <a:ea typeface="Aptos"/>
                <a:cs typeface="Aptos"/>
              </a:rPr>
              <a:t>NOEMA  /  Factored AI &amp; Data Hackathon 2026</a:t>
            </a:r>
          </a:p>
        </p:txBody>
      </p:sp>
      <p:sp>
        <p:nvSpPr>
          <p:cNvPr id="5" name="">
            <a:extLst xmlns:a="http://schemas.openxmlformats.org/drawingml/2006/main">
              <a:ext uri="{FF2B5EF4-FFF2-40B4-BE49-F238E27FC236}">
                <a16:creationId xmlns:a16="http://schemas.microsoft.com/office/drawing/2014/main" id="{098508E1-95F7-476A-8303-2F2E2E36D81F}"/>
              </a:ext>
            </a:extLst>
          </p:cNvPr>
          <p:cNvSpPr>
            <a:spLocks xmlns:a="http://schemas.openxmlformats.org/drawingml/2006/main" noGrp="1"/>
          </p:cNvSpPr>
          <p:nvPr/>
        </p:nvSpPr>
        <p:spPr>
          <a:xfrm xmlns:a="http://schemas.openxmlformats.org/drawingml/2006/main">
            <a:off x="11096625" y="64008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5E7180"/>
                </a:solidFill>
                <a:latin typeface="Aptos"/>
                <a:ea typeface="Aptos"/>
                <a:cs typeface="Aptos"/>
              </a:defRPr>
            </a:pPr>
            <a:r>
              <a:rPr sz="900" b="1">
                <a:solidFill>
                  <a:srgbClr val="5E7180"/>
                </a:solidFill>
                <a:latin typeface="Aptos"/>
                <a:ea typeface="Aptos"/>
                <a:cs typeface="Aptos"/>
              </a:rPr>
              <a:t>04</a:t>
            </a:r>
          </a:p>
        </p:txBody>
      </p:sp>
      <p:graphicFrame>
        <p:nvGraphicFramePr>
          <p:cNvPr id="13" name=""/>
          <p:cNvGraphicFramePr/>
          <p:nvPr/>
        </p:nvGraphicFramePr>
        <p:xfrm>
          <a:off xmlns:a="http://schemas.openxmlformats.org/drawingml/2006/main" x="685800" y="1714500"/>
          <a:ext xmlns:a="http://schemas.openxmlformats.org/drawingml/2006/main" cx="10820400" cy="3505200"/>
        </p:xfrm>
        <a:graphic xmlns:a="http://schemas.openxmlformats.org/drawingml/2006/main">
          <a:graphicData uri="http://schemas.openxmlformats.org/drawingml/2006/table">
            <a:tbl>
              <a:tblPr firstRow="1" bandRow="0"/>
              <a:tblGrid>
                <a:gridCol w="2438400"/>
                <a:gridCol w="4438650"/>
                <a:gridCol w="3943350"/>
              </a:tblGrid>
              <a:tr h="701040">
                <a:tc>
                  <a:txBody>
                    <a:bodyPr>
                      <a:noAutofit/>
                    </a:bodyPr>
                    <a:lstStyle/>
                    <a:p>
                      <a:r>
                        <a:rPr sz="1350" b="1">
                          <a:solidFill>
                            <a:srgbClr val="FFFFFF"/>
                          </a:solidFill>
                          <a:latin typeface="Aptos"/>
                          <a:ea typeface="Aptos"/>
                          <a:cs typeface="Aptos"/>
                        </a:rPr>
                        <a:t>Adjustment</a:t>
                      </a:r>
                    </a:p>
                  </a:txBody>
                  <a:tcPr marL="91440" marR="91440" marT="45720" marB="45720">
                    <a:solidFill>
                      <a:srgbClr val="071826"/>
                    </a:solidFill>
                  </a:tcPr>
                </a:tc>
                <a:tc>
                  <a:txBody>
                    <a:bodyPr>
                      <a:noAutofit/>
                    </a:bodyPr>
                    <a:lstStyle/>
                    <a:p>
                      <a:r>
                        <a:rPr sz="1350" b="1">
                          <a:solidFill>
                            <a:srgbClr val="FFFFFF"/>
                          </a:solidFill>
                          <a:latin typeface="Aptos"/>
                          <a:ea typeface="Aptos"/>
                          <a:cs typeface="Aptos"/>
                        </a:rPr>
                        <a:t>Implementation</a:t>
                      </a:r>
                    </a:p>
                  </a:txBody>
                  <a:tcPr marL="91440" marR="91440" marT="45720" marB="45720">
                    <a:solidFill>
                      <a:srgbClr val="071826"/>
                    </a:solidFill>
                  </a:tcPr>
                </a:tc>
                <a:tc>
                  <a:txBody>
                    <a:bodyPr>
                      <a:noAutofit/>
                    </a:bodyPr>
                    <a:lstStyle/>
                    <a:p>
                      <a:r>
                        <a:rPr sz="1350" b="1">
                          <a:solidFill>
                            <a:srgbClr val="FFFFFF"/>
                          </a:solidFill>
                          <a:latin typeface="Aptos"/>
                          <a:ea typeface="Aptos"/>
                          <a:cs typeface="Aptos"/>
                        </a:rPr>
                        <a:t>Evidence / outcome</a:t>
                      </a:r>
                    </a:p>
                  </a:txBody>
                  <a:tcPr marL="91440" marR="91440" marT="45720" marB="45720">
                    <a:solidFill>
                      <a:srgbClr val="071826"/>
                    </a:solidFill>
                  </a:tcPr>
                </a:tc>
              </a:tr>
              <a:tr h="701040">
                <a:tc>
                  <a:txBody>
                    <a:bodyPr>
                      <a:noAutofit/>
                    </a:bodyPr>
                    <a:lstStyle/>
                    <a:p>
                      <a:r>
                        <a:rPr sz="1350" b="1">
                          <a:solidFill>
                            <a:srgbClr val="132433"/>
                          </a:solidFill>
                          <a:latin typeface="Aptos"/>
                          <a:ea typeface="Aptos"/>
                          <a:cs typeface="Aptos"/>
                        </a:rPr>
                        <a:t>Leakage control</a:t>
                      </a:r>
                    </a:p>
                  </a:txBody>
                  <a:tcPr marL="91440" marR="91440" marT="45720" marB="45720">
                    <a:solidFill>
                      <a:srgbClr val="FFFFFF"/>
                    </a:solidFill>
                  </a:tcPr>
                </a:tc>
                <a:tc>
                  <a:txBody>
                    <a:bodyPr>
                      <a:noAutofit/>
                    </a:bodyPr>
                    <a:lstStyle/>
                    <a:p>
                      <a:r>
                        <a:rPr sz="1350" b="0">
                          <a:solidFill>
                            <a:srgbClr val="132433"/>
                          </a:solidFill>
                          <a:latin typeface="Aptos"/>
                          <a:ea typeface="Aptos"/>
                          <a:cs typeface="Aptos"/>
                        </a:rPr>
                        <a:t>30-day label maturity and temporal gaps.</a:t>
                      </a:r>
                    </a:p>
                    <a:p>
                      <a:r>
                        <a:rPr sz="1350" b="0">
                          <a:solidFill>
                            <a:srgbClr val="132433"/>
                          </a:solidFill>
                          <a:latin typeface="Aptos"/>
                          <a:ea typeface="Aptos"/>
                          <a:cs typeface="Aptos"/>
                        </a:rPr>
                        <a:t>Only information available before each send.</a:t>
                      </a:r>
                    </a:p>
                  </a:txBody>
                  <a:tcPr marL="91440" marR="91440" marT="45720" marB="45720">
                    <a:solidFill>
                      <a:srgbClr val="FFFFFF"/>
                    </a:solidFill>
                  </a:tcPr>
                </a:tc>
                <a:tc>
                  <a:txBody>
                    <a:bodyPr>
                      <a:noAutofit/>
                    </a:bodyPr>
                    <a:lstStyle/>
                    <a:p>
                      <a:r>
                        <a:rPr sz="1350" b="0">
                          <a:solidFill>
                            <a:srgbClr val="132433"/>
                          </a:solidFill>
                          <a:latin typeface="Aptos"/>
                          <a:ea typeface="Aptos"/>
                          <a:cs typeface="Aptos"/>
                        </a:rPr>
                        <a:t>557,603 train / 99,158 validation.</a:t>
                      </a:r>
                    </a:p>
                    <a:p>
                      <a:r>
                        <a:rPr sz="1350" b="0">
                          <a:solidFill>
                            <a:srgbClr val="132433"/>
                          </a:solidFill>
                          <a:latin typeface="Aptos"/>
                          <a:ea typeface="Aptos"/>
                          <a:cs typeface="Aptos"/>
                        </a:rPr>
                        <a:t>248,875 test exposures.</a:t>
                      </a:r>
                    </a:p>
                  </a:txBody>
                  <a:tcPr marL="91440" marR="91440" marT="45720" marB="45720">
                    <a:solidFill>
                      <a:srgbClr val="FFFFFF"/>
                    </a:solidFill>
                  </a:tcPr>
                </a:tc>
              </a:tr>
              <a:tr h="701040">
                <a:tc>
                  <a:txBody>
                    <a:bodyPr>
                      <a:noAutofit/>
                    </a:bodyPr>
                    <a:lstStyle/>
                    <a:p>
                      <a:r>
                        <a:rPr sz="1350" b="1">
                          <a:solidFill>
                            <a:srgbClr val="132433"/>
                          </a:solidFill>
                          <a:latin typeface="Aptos"/>
                          <a:ea typeface="Aptos"/>
                          <a:cs typeface="Aptos"/>
                        </a:rPr>
                        <a:t>Preprocessing</a:t>
                      </a:r>
                    </a:p>
                  </a:txBody>
                  <a:tcPr marL="91440" marR="91440" marT="45720" marB="45720">
                    <a:solidFill>
                      <a:srgbClr val="EDF3F4"/>
                    </a:solidFill>
                  </a:tcPr>
                </a:tc>
                <a:tc>
                  <a:txBody>
                    <a:bodyPr>
                      <a:noAutofit/>
                    </a:bodyPr>
                    <a:lstStyle/>
                    <a:p>
                      <a:r>
                        <a:rPr sz="1350" b="0">
                          <a:solidFill>
                            <a:srgbClr val="132433"/>
                          </a:solidFill>
                          <a:latin typeface="Aptos"/>
                          <a:ea typeface="Aptos"/>
                          <a:cs typeface="Aptos"/>
                        </a:rPr>
                        <a:t>One-hot categories, numeric imputation,</a:t>
                      </a:r>
                    </a:p>
                    <a:p>
                      <a:r>
                        <a:rPr sz="1350" b="0">
                          <a:solidFill>
                            <a:srgbClr val="132433"/>
                          </a:solidFill>
                          <a:latin typeface="Aptos"/>
                          <a:ea typeface="Aptos"/>
                          <a:cs typeface="Aptos"/>
                        </a:rPr>
                        <a:t>standardization. Logistic C = 1.0.</a:t>
                      </a:r>
                    </a:p>
                  </a:txBody>
                  <a:tcPr marL="91440" marR="91440" marT="45720" marB="45720">
                    <a:solidFill>
                      <a:srgbClr val="EDF3F4"/>
                    </a:solidFill>
                  </a:tcPr>
                </a:tc>
                <a:tc>
                  <a:txBody>
                    <a:bodyPr>
                      <a:noAutofit/>
                    </a:bodyPr>
                    <a:lstStyle/>
                    <a:p>
                      <a:r>
                        <a:rPr sz="1350" b="0">
                          <a:solidFill>
                            <a:srgbClr val="132433"/>
                          </a:solidFill>
                          <a:latin typeface="Aptos"/>
                          <a:ea typeface="Aptos"/>
                          <a:cs typeface="Aptos"/>
                        </a:rPr>
                        <a:t>Logistic test AUC 0.6767</a:t>
                      </a:r>
                    </a:p>
                    <a:p>
                      <a:r>
                        <a:rPr sz="1350" b="0">
                          <a:solidFill>
                            <a:srgbClr val="132433"/>
                          </a:solidFill>
                          <a:latin typeface="Aptos"/>
                          <a:ea typeface="Aptos"/>
                          <a:cs typeface="Aptos"/>
                        </a:rPr>
                        <a:t>versus prior 0.5000.</a:t>
                      </a:r>
                    </a:p>
                  </a:txBody>
                  <a:tcPr marL="91440" marR="91440" marT="45720" marB="45720">
                    <a:solidFill>
                      <a:srgbClr val="EDF3F4"/>
                    </a:solidFill>
                  </a:tcPr>
                </a:tc>
              </a:tr>
              <a:tr h="701040">
                <a:tc>
                  <a:txBody>
                    <a:bodyPr>
                      <a:noAutofit/>
                    </a:bodyPr>
                    <a:lstStyle/>
                    <a:p>
                      <a:r>
                        <a:rPr sz="1350" b="1">
                          <a:solidFill>
                            <a:srgbClr val="132433"/>
                          </a:solidFill>
                          <a:latin typeface="Aptos"/>
                          <a:ea typeface="Aptos"/>
                          <a:cs typeface="Aptos"/>
                        </a:rPr>
                        <a:t>Neural regularization</a:t>
                      </a:r>
                    </a:p>
                  </a:txBody>
                  <a:tcPr marL="91440" marR="91440" marT="45720" marB="45720">
                    <a:solidFill>
                      <a:srgbClr val="FFFFFF"/>
                    </a:solidFill>
                  </a:tcPr>
                </a:tc>
                <a:tc>
                  <a:txBody>
                    <a:bodyPr>
                      <a:noAutofit/>
                    </a:bodyPr>
                    <a:lstStyle/>
                    <a:p>
                      <a:r>
                        <a:rPr sz="1350" b="0">
                          <a:solidFill>
                            <a:srgbClr val="132433"/>
                          </a:solidFill>
                          <a:latin typeface="Aptos"/>
                          <a:ea typeface="Aptos"/>
                          <a:cs typeface="Aptos"/>
                        </a:rPr>
                        <a:t>Adam, L2 = 0.01, learning rate 0.001.</a:t>
                      </a:r>
                    </a:p>
                    <a:p>
                      <a:r>
                        <a:rPr sz="1350" b="0">
                          <a:solidFill>
                            <a:srgbClr val="132433"/>
                          </a:solidFill>
                          <a:latin typeface="Aptos"/>
                          <a:ea typeface="Aptos"/>
                          <a:cs typeface="Aptos"/>
                        </a:rPr>
                        <a:t>Early stopping with patience 4.</a:t>
                      </a:r>
                    </a:p>
                  </a:txBody>
                  <a:tcPr marL="91440" marR="91440" marT="45720" marB="45720">
                    <a:solidFill>
                      <a:srgbClr val="FFFFFF"/>
                    </a:solidFill>
                  </a:tcPr>
                </a:tc>
                <a:tc>
                  <a:txBody>
                    <a:bodyPr>
                      <a:noAutofit/>
                    </a:bodyPr>
                    <a:lstStyle/>
                    <a:p>
                      <a:r>
                        <a:rPr sz="1350" b="0">
                          <a:solidFill>
                            <a:srgbClr val="132433"/>
                          </a:solidFill>
                          <a:latin typeface="Aptos"/>
                          <a:ea typeface="Aptos"/>
                          <a:cs typeface="Aptos"/>
                        </a:rPr>
                        <a:t>Initial MLP selected epoch 14.</a:t>
                      </a:r>
                    </a:p>
                    <a:p>
                      <a:r>
                        <a:rPr sz="1350" b="0">
                          <a:solidFill>
                            <a:srgbClr val="132433"/>
                          </a:solidFill>
                          <a:latin typeface="Aptos"/>
                          <a:ea typeface="Aptos"/>
                          <a:cs typeface="Aptos"/>
                        </a:rPr>
                        <a:t>Validation log loss still favors logistic.</a:t>
                      </a:r>
                    </a:p>
                  </a:txBody>
                  <a:tcPr marL="91440" marR="91440" marT="45720" marB="45720">
                    <a:solidFill>
                      <a:srgbClr val="FFFFFF"/>
                    </a:solidFill>
                  </a:tcPr>
                </a:tc>
              </a:tr>
              <a:tr h="701040">
                <a:tc>
                  <a:txBody>
                    <a:bodyPr>
                      <a:noAutofit/>
                    </a:bodyPr>
                    <a:lstStyle/>
                    <a:p>
                      <a:r>
                        <a:rPr sz="1350" b="1">
                          <a:solidFill>
                            <a:srgbClr val="132433"/>
                          </a:solidFill>
                          <a:latin typeface="Aptos"/>
                          <a:ea typeface="Aptos"/>
                          <a:cs typeface="Aptos"/>
                        </a:rPr>
                        <a:t>Depth experiment</a:t>
                      </a:r>
                    </a:p>
                  </a:txBody>
                  <a:tcPr marL="91440" marR="91440" marT="45720" marB="45720">
                    <a:solidFill>
                      <a:srgbClr val="EDF3F4"/>
                    </a:solidFill>
                  </a:tcPr>
                </a:tc>
                <a:tc>
                  <a:txBody>
                    <a:bodyPr>
                      <a:noAutofit/>
                    </a:bodyPr>
                    <a:lstStyle/>
                    <a:p>
                      <a:r>
                        <a:rPr sz="1350" b="0">
                          <a:solidFill>
                            <a:srgbClr val="132433"/>
                          </a:solidFill>
                          <a:latin typeface="Aptos"/>
                          <a:ea typeface="Aptos"/>
                          <a:cs typeface="Aptos"/>
                        </a:rPr>
                        <a:t>3 versus 6 hidden layers, 3 seeds,</a:t>
                      </a:r>
                    </a:p>
                    <a:p>
                      <a:r>
                        <a:rPr sz="1350" b="0">
                          <a:solidFill>
                            <a:srgbClr val="132433"/>
                          </a:solidFill>
                          <a:latin typeface="Aptos"/>
                          <a:ea typeface="Aptos"/>
                          <a:cs typeface="Aptos"/>
                        </a:rPr>
                        <a:t>30-epoch limit, separate selection set.</a:t>
                      </a:r>
                    </a:p>
                  </a:txBody>
                  <a:tcPr marL="91440" marR="91440" marT="45720" marB="45720">
                    <a:solidFill>
                      <a:srgbClr val="EDF3F4"/>
                    </a:solidFill>
                  </a:tcPr>
                </a:tc>
                <a:tc>
                  <a:txBody>
                    <a:bodyPr>
                      <a:noAutofit/>
                    </a:bodyPr>
                    <a:lstStyle/>
                    <a:p>
                      <a:r>
                        <a:rPr sz="1350" b="0">
                          <a:solidFill>
                            <a:srgbClr val="132433"/>
                          </a:solidFill>
                          <a:latin typeface="Aptos"/>
                          <a:ea typeface="Aptos"/>
                          <a:cs typeface="Aptos"/>
                        </a:rPr>
                        <a:t>Selection mean log loss: 0.03256</a:t>
                      </a:r>
                    </a:p>
                    <a:p>
                      <a:r>
                        <a:rPr sz="1350" b="0">
                          <a:solidFill>
                            <a:srgbClr val="132433"/>
                          </a:solidFill>
                          <a:latin typeface="Aptos"/>
                          <a:ea typeface="Aptos"/>
                          <a:cs typeface="Aptos"/>
                        </a:rPr>
                        <a:t>vs 0.03258. Logistic: 0.03235.</a:t>
                      </a:r>
                    </a:p>
                  </a:txBody>
                  <a:tcPr marL="91440" marR="91440" marT="45720" marB="45720">
                    <a:solidFill>
                      <a:srgbClr val="EDF3F4"/>
                    </a:solidFill>
                  </a:tcPr>
                </a:tc>
              </a:tr>
            </a:tbl>
          </a:graphicData>
        </a:graphic>
      </p:graphicFrame>
      <p:sp>
        <p:nvSpPr>
          <p:cNvPr id="7" name="">
            <a:extLst xmlns:a="http://schemas.openxmlformats.org/drawingml/2006/main">
              <a:ext uri="{FF2B5EF4-FFF2-40B4-BE49-F238E27FC236}">
                <a16:creationId xmlns:a16="http://schemas.microsoft.com/office/drawing/2014/main" id="{8D46D6A4-1920-4990-9F7F-A0CB0C36C30D}"/>
              </a:ext>
            </a:extLst>
          </p:cNvPr>
          <p:cNvSpPr>
            <a:spLocks xmlns:a="http://schemas.openxmlformats.org/drawingml/2006/main" noGrp="1"/>
          </p:cNvSpPr>
          <p:nvPr/>
        </p:nvSpPr>
        <p:spPr>
          <a:xfrm xmlns:a="http://schemas.openxmlformats.org/drawingml/2006/main">
            <a:off x="704850" y="5514975"/>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E7180"/>
                </a:solidFill>
                <a:latin typeface="Aptos"/>
                <a:ea typeface="Aptos"/>
                <a:cs typeface="Aptos"/>
              </a:defRPr>
            </a:pPr>
            <a:r>
              <a:rPr sz="1275" b="0">
                <a:solidFill>
                  <a:srgbClr val="5E7180"/>
                </a:solidFill>
                <a:latin typeface="Aptos"/>
                <a:ea typeface="Aptos"/>
                <a:cs typeface="Aptos"/>
              </a:rPr>
              <a:t>Measured gains belong to the complete pipelines. Per-adjustment gains were not isolated in ablation studies.</a:t>
            </a:r>
          </a:p>
        </p:txBody>
      </p:sp>
    </p:spTree>
    <p:extLst>
      <p:ext uri="{BB962C8B-B14F-4D97-AF65-F5344CB8AC3E}">
        <p14:creationId xmlns:p14="http://schemas.microsoft.com/office/powerpoint/2010/main" val="104668543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938CE96-3282-4C39-9F2D-C2AEE0C49FC9}"/>
              </a:ext>
            </a:extLst>
          </p:cNvPr>
          <p:cNvSpPr>
            <a:spLocks xmlns:a="http://schemas.openxmlformats.org/drawingml/2006/main" noGrp="1"/>
          </p:cNvSpPr>
          <p:nvPr/>
        </p:nvSpPr>
        <p:spPr>
          <a:xfrm xmlns:a="http://schemas.openxmlformats.org/drawingml/2006/main">
            <a:off x="666750" y="4000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32433"/>
                </a:solidFill>
                <a:latin typeface="Aptos"/>
                <a:ea typeface="Aptos"/>
                <a:cs typeface="Aptos"/>
              </a:defRPr>
            </a:pPr>
            <a:r>
              <a:rPr sz="2550" b="1">
                <a:solidFill>
                  <a:srgbClr val="132433"/>
                </a:solidFill>
                <a:latin typeface="Aptos"/>
                <a:ea typeface="Aptos"/>
                <a:cs typeface="Aptos"/>
              </a:rPr>
              <a:t>Repayment capacity: conservative cash-flow proxy</a:t>
            </a:r>
          </a:p>
        </p:txBody>
      </p:sp>
      <p:sp>
        <p:nvSpPr>
          <p:cNvPr id="2" name="">
            <a:extLst xmlns:a="http://schemas.openxmlformats.org/drawingml/2006/main">
              <a:ext uri="{FF2B5EF4-FFF2-40B4-BE49-F238E27FC236}">
                <a16:creationId xmlns:a16="http://schemas.microsoft.com/office/drawing/2014/main" id="{0FA05D83-62B7-45D4-8433-5A842528B782}"/>
              </a:ext>
            </a:extLst>
          </p:cNvPr>
          <p:cNvSpPr>
            <a:spLocks xmlns:a="http://schemas.openxmlformats.org/drawingml/2006/main" noGrp="1"/>
          </p:cNvSpPr>
          <p:nvPr/>
        </p:nvSpPr>
        <p:spPr>
          <a:xfrm xmlns:a="http://schemas.openxmlformats.org/drawingml/2006/main">
            <a:off x="685800" y="9715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E7180"/>
                </a:solidFill>
                <a:latin typeface="Aptos"/>
                <a:ea typeface="Aptos"/>
                <a:cs typeface="Aptos"/>
              </a:defRPr>
            </a:pPr>
            <a:r>
              <a:rPr sz="1350" b="0">
                <a:solidFill>
                  <a:srgbClr val="5E7180"/>
                </a:solidFill>
                <a:latin typeface="Aptos"/>
                <a:ea typeface="Aptos"/>
                <a:cs typeface="Aptos"/>
              </a:rPr>
              <a:t>150,000 training examples. 14,820 temporal validation examples from October-November 2025.</a:t>
            </a:r>
          </a:p>
        </p:txBody>
      </p:sp>
      <p:sp>
        <p:nvSpPr>
          <p:cNvPr id="3" name="">
            <a:extLst xmlns:a="http://schemas.openxmlformats.org/drawingml/2006/main">
              <a:ext uri="{FF2B5EF4-FFF2-40B4-BE49-F238E27FC236}">
                <a16:creationId xmlns:a16="http://schemas.microsoft.com/office/drawing/2014/main" id="{561C3643-7C0B-4FBF-A390-CD5DAE16AE51}"/>
              </a:ext>
            </a:extLst>
          </p:cNvPr>
          <p:cNvSpPr>
            <a:spLocks xmlns:a="http://schemas.openxmlformats.org/drawingml/2006/main" noGrp="1"/>
          </p:cNvSpPr>
          <p:nvPr/>
        </p:nvSpPr>
        <p:spPr>
          <a:xfrm xmlns:a="http://schemas.openxmlformats.org/drawingml/2006/main">
            <a:off x="666750" y="1409700"/>
            <a:ext cx="876300" cy="38100"/>
          </a:xfrm>
          <a:prstGeom xmlns:a="http://schemas.openxmlformats.org/drawingml/2006/main" prst="rect">
            <a:avLst/>
          </a:prstGeom>
          <a:solidFill xmlns:a="http://schemas.openxmlformats.org/drawingml/2006/main">
            <a:srgbClr val="1FB6A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53C5254-D1E6-4D35-A9EA-86EFF1E1D8D2}"/>
              </a:ext>
            </a:extLst>
          </p:cNvPr>
          <p:cNvSpPr>
            <a:spLocks xmlns:a="http://schemas.openxmlformats.org/drawingml/2006/main" noGrp="1"/>
          </p:cNvSpPr>
          <p:nvPr/>
        </p:nvSpPr>
        <p:spPr>
          <a:xfrm xmlns:a="http://schemas.openxmlformats.org/drawingml/2006/main">
            <a:off x="685800" y="64008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E7180"/>
                </a:solidFill>
                <a:latin typeface="Aptos"/>
                <a:ea typeface="Aptos"/>
                <a:cs typeface="Aptos"/>
              </a:defRPr>
            </a:pPr>
            <a:r>
              <a:rPr sz="900" b="0">
                <a:solidFill>
                  <a:srgbClr val="5E7180"/>
                </a:solidFill>
                <a:latin typeface="Aptos"/>
                <a:ea typeface="Aptos"/>
                <a:cs typeface="Aptos"/>
              </a:rPr>
              <a:t>NOEMA  /  Factored AI &amp; Data Hackathon 2026</a:t>
            </a:r>
          </a:p>
        </p:txBody>
      </p:sp>
      <p:sp>
        <p:nvSpPr>
          <p:cNvPr id="5" name="">
            <a:extLst xmlns:a="http://schemas.openxmlformats.org/drawingml/2006/main">
              <a:ext uri="{FF2B5EF4-FFF2-40B4-BE49-F238E27FC236}">
                <a16:creationId xmlns:a16="http://schemas.microsoft.com/office/drawing/2014/main" id="{A090919D-D245-4559-9A69-FF9B52F6D254}"/>
              </a:ext>
            </a:extLst>
          </p:cNvPr>
          <p:cNvSpPr>
            <a:spLocks xmlns:a="http://schemas.openxmlformats.org/drawingml/2006/main" noGrp="1"/>
          </p:cNvSpPr>
          <p:nvPr/>
        </p:nvSpPr>
        <p:spPr>
          <a:xfrm xmlns:a="http://schemas.openxmlformats.org/drawingml/2006/main">
            <a:off x="11096625" y="64008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5E7180"/>
                </a:solidFill>
                <a:latin typeface="Aptos"/>
                <a:ea typeface="Aptos"/>
                <a:cs typeface="Aptos"/>
              </a:defRPr>
            </a:pPr>
            <a:r>
              <a:rPr sz="900" b="1">
                <a:solidFill>
                  <a:srgbClr val="5E7180"/>
                </a:solidFill>
                <a:latin typeface="Aptos"/>
                <a:ea typeface="Aptos"/>
                <a:cs typeface="Aptos"/>
              </a:rPr>
              <a:t>05</a:t>
            </a:r>
          </a:p>
        </p:txBody>
      </p:sp>
      <p:graphicFrame>
        <p:nvGraphicFramePr>
          <p:cNvPr id="17" name=""/>
          <p:cNvGraphicFramePr/>
          <p:nvPr/>
        </p:nvGraphicFramePr>
        <p:xfrm>
          <a:off xmlns:a="http://schemas.openxmlformats.org/drawingml/2006/main" x="685800" y="1724025"/>
          <a:ext xmlns:a="http://schemas.openxmlformats.org/drawingml/2006/main" cx="10820400" cy="2362200"/>
        </p:xfrm>
        <a:graphic xmlns:a="http://schemas.openxmlformats.org/drawingml/2006/main">
          <a:graphicData uri="http://schemas.openxmlformats.org/drawingml/2006/table">
            <a:tbl>
              <a:tblPr firstRow="1" bandRow="0"/>
              <a:tblGrid>
                <a:gridCol w="2190750"/>
                <a:gridCol w="2952750"/>
                <a:gridCol w="2952750"/>
                <a:gridCol w="2724150"/>
              </a:tblGrid>
              <a:tr h="590550">
                <a:tc>
                  <a:txBody>
                    <a:bodyPr>
                      <a:noAutofit/>
                    </a:bodyPr>
                    <a:lstStyle/>
                    <a:p>
                      <a:r>
                        <a:rPr sz="1575" b="1">
                          <a:solidFill>
                            <a:srgbClr val="FFFFFF"/>
                          </a:solidFill>
                          <a:latin typeface="Aptos"/>
                          <a:ea typeface="Aptos"/>
                          <a:cs typeface="Aptos"/>
                        </a:rPr>
                        <a:t>Currency</a:t>
                      </a:r>
                    </a:p>
                  </a:txBody>
                  <a:tcPr marL="91440" marR="91440" marT="45720" marB="45720">
                    <a:solidFill>
                      <a:srgbClr val="071826"/>
                    </a:solidFill>
                  </a:tcPr>
                </a:tc>
                <a:tc>
                  <a:txBody>
                    <a:bodyPr>
                      <a:noAutofit/>
                    </a:bodyPr>
                    <a:lstStyle/>
                    <a:p>
                      <a:r>
                        <a:rPr sz="1575" b="1">
                          <a:solidFill>
                            <a:srgbClr val="FFFFFF"/>
                          </a:solidFill>
                          <a:latin typeface="Aptos"/>
                          <a:ea typeface="Aptos"/>
                          <a:cs typeface="Aptos"/>
                        </a:rPr>
                        <a:t>Baseline MAE</a:t>
                      </a:r>
                    </a:p>
                  </a:txBody>
                  <a:tcPr marL="91440" marR="91440" marT="45720" marB="45720">
                    <a:solidFill>
                      <a:srgbClr val="071826"/>
                    </a:solidFill>
                  </a:tcPr>
                </a:tc>
                <a:tc>
                  <a:txBody>
                    <a:bodyPr>
                      <a:noAutofit/>
                    </a:bodyPr>
                    <a:lstStyle/>
                    <a:p>
                      <a:r>
                        <a:rPr sz="1575" b="1">
                          <a:solidFill>
                            <a:srgbClr val="FFFFFF"/>
                          </a:solidFill>
                          <a:latin typeface="Aptos"/>
                          <a:ea typeface="Aptos"/>
                          <a:cs typeface="Aptos"/>
                        </a:rPr>
                        <a:t>Model MAE</a:t>
                      </a:r>
                    </a:p>
                  </a:txBody>
                  <a:tcPr marL="91440" marR="91440" marT="45720" marB="45720">
                    <a:solidFill>
                      <a:srgbClr val="071826"/>
                    </a:solidFill>
                  </a:tcPr>
                </a:tc>
                <a:tc>
                  <a:txBody>
                    <a:bodyPr>
                      <a:noAutofit/>
                    </a:bodyPr>
                    <a:lstStyle/>
                    <a:p>
                      <a:r>
                        <a:rPr sz="1575" b="1">
                          <a:solidFill>
                            <a:srgbClr val="FFFFFF"/>
                          </a:solidFill>
                          <a:latin typeface="Aptos"/>
                          <a:ea typeface="Aptos"/>
                          <a:cs typeface="Aptos"/>
                        </a:rPr>
                        <a:t>Reduction</a:t>
                      </a:r>
                    </a:p>
                  </a:txBody>
                  <a:tcPr marL="91440" marR="91440" marT="45720" marB="45720">
                    <a:solidFill>
                      <a:srgbClr val="071826"/>
                    </a:solidFill>
                  </a:tcPr>
                </a:tc>
              </a:tr>
              <a:tr h="590550">
                <a:tc>
                  <a:txBody>
                    <a:bodyPr>
                      <a:noAutofit/>
                    </a:bodyPr>
                    <a:lstStyle/>
                    <a:p>
                      <a:r>
                        <a:rPr sz="1575" b="1">
                          <a:solidFill>
                            <a:srgbClr val="132433"/>
                          </a:solidFill>
                          <a:latin typeface="Aptos"/>
                          <a:ea typeface="Aptos"/>
                          <a:cs typeface="Aptos"/>
                        </a:rPr>
                        <a:t>ARS</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29,387.48</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28,725.90</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2.25%</a:t>
                      </a:r>
                    </a:p>
                  </a:txBody>
                  <a:tcPr marL="91440" marR="91440" marT="45720" marB="45720">
                    <a:solidFill>
                      <a:srgbClr val="FFFFFF"/>
                    </a:solidFill>
                  </a:tcPr>
                </a:tc>
              </a:tr>
              <a:tr h="590550">
                <a:tc>
                  <a:txBody>
                    <a:bodyPr>
                      <a:noAutofit/>
                    </a:bodyPr>
                    <a:lstStyle/>
                    <a:p>
                      <a:r>
                        <a:rPr sz="1575" b="1">
                          <a:solidFill>
                            <a:srgbClr val="132433"/>
                          </a:solidFill>
                          <a:latin typeface="Aptos"/>
                          <a:ea typeface="Aptos"/>
                          <a:cs typeface="Aptos"/>
                        </a:rPr>
                        <a:t>COP</a:t>
                      </a:r>
                    </a:p>
                  </a:txBody>
                  <a:tcPr marL="91440" marR="91440" marT="45720" marB="45720">
                    <a:solidFill>
                      <a:srgbClr val="EDF3F4"/>
                    </a:solidFill>
                  </a:tcPr>
                </a:tc>
                <a:tc>
                  <a:txBody>
                    <a:bodyPr>
                      <a:noAutofit/>
                    </a:bodyPr>
                    <a:lstStyle/>
                    <a:p>
                      <a:r>
                        <a:rPr sz="1575" b="0">
                          <a:solidFill>
                            <a:srgbClr val="132433"/>
                          </a:solidFill>
                          <a:latin typeface="Aptos"/>
                          <a:ea typeface="Aptos"/>
                          <a:cs typeface="Aptos"/>
                        </a:rPr>
                        <a:t>344,184.99</a:t>
                      </a:r>
                    </a:p>
                  </a:txBody>
                  <a:tcPr marL="91440" marR="91440" marT="45720" marB="45720">
                    <a:solidFill>
                      <a:srgbClr val="EDF3F4"/>
                    </a:solidFill>
                  </a:tcPr>
                </a:tc>
                <a:tc>
                  <a:txBody>
                    <a:bodyPr>
                      <a:noAutofit/>
                    </a:bodyPr>
                    <a:lstStyle/>
                    <a:p>
                      <a:r>
                        <a:rPr sz="1575" b="0">
                          <a:solidFill>
                            <a:srgbClr val="132433"/>
                          </a:solidFill>
                          <a:latin typeface="Aptos"/>
                          <a:ea typeface="Aptos"/>
                          <a:cs typeface="Aptos"/>
                        </a:rPr>
                        <a:t>343,242.66</a:t>
                      </a:r>
                    </a:p>
                  </a:txBody>
                  <a:tcPr marL="91440" marR="91440" marT="45720" marB="45720">
                    <a:solidFill>
                      <a:srgbClr val="EDF3F4"/>
                    </a:solidFill>
                  </a:tcPr>
                </a:tc>
                <a:tc>
                  <a:txBody>
                    <a:bodyPr>
                      <a:noAutofit/>
                    </a:bodyPr>
                    <a:lstStyle/>
                    <a:p>
                      <a:r>
                        <a:rPr sz="1575" b="0">
                          <a:solidFill>
                            <a:srgbClr val="132433"/>
                          </a:solidFill>
                          <a:latin typeface="Aptos"/>
                          <a:ea typeface="Aptos"/>
                          <a:cs typeface="Aptos"/>
                        </a:rPr>
                        <a:t>0.27%</a:t>
                      </a:r>
                    </a:p>
                  </a:txBody>
                  <a:tcPr marL="91440" marR="91440" marT="45720" marB="45720">
                    <a:solidFill>
                      <a:srgbClr val="EDF3F4"/>
                    </a:solidFill>
                  </a:tcPr>
                </a:tc>
              </a:tr>
              <a:tr h="590550">
                <a:tc>
                  <a:txBody>
                    <a:bodyPr>
                      <a:noAutofit/>
                    </a:bodyPr>
                    <a:lstStyle/>
                    <a:p>
                      <a:r>
                        <a:rPr sz="1575" b="1">
                          <a:solidFill>
                            <a:srgbClr val="132433"/>
                          </a:solidFill>
                          <a:latin typeface="Aptos"/>
                          <a:ea typeface="Aptos"/>
                          <a:cs typeface="Aptos"/>
                        </a:rPr>
                        <a:t>USD</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84.15</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84.15</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0.00%</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AE88EEFC-7B14-42FC-86FE-414F792CE47F}"/>
              </a:ext>
            </a:extLst>
          </p:cNvPr>
          <p:cNvSpPr>
            <a:spLocks xmlns:a="http://schemas.openxmlformats.org/drawingml/2006/main" noGrp="1"/>
          </p:cNvSpPr>
          <p:nvPr/>
        </p:nvSpPr>
        <p:spPr>
          <a:xfrm xmlns:a="http://schemas.openxmlformats.org/drawingml/2006/main">
            <a:off x="723900" y="4391025"/>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2433"/>
                </a:solidFill>
                <a:latin typeface="Aptos"/>
                <a:ea typeface="Aptos"/>
                <a:cs typeface="Aptos"/>
              </a:defRPr>
            </a:pPr>
            <a:r>
              <a:rPr sz="1725" b="1">
                <a:solidFill>
                  <a:srgbClr val="132433"/>
                </a:solidFill>
                <a:latin typeface="Aptos"/>
                <a:ea typeface="Aptos"/>
                <a:cs typeface="Aptos"/>
              </a:rPr>
              <a:t>Bounded estimate</a:t>
            </a:r>
          </a:p>
        </p:txBody>
      </p:sp>
      <p:sp>
        <p:nvSpPr>
          <p:cNvPr id="8" name="">
            <a:extLst xmlns:a="http://schemas.openxmlformats.org/drawingml/2006/main">
              <a:ext uri="{FF2B5EF4-FFF2-40B4-BE49-F238E27FC236}">
                <a16:creationId xmlns:a16="http://schemas.microsoft.com/office/drawing/2014/main" id="{1BC3CD86-60A0-4B40-BAE4-626EEAD55DD8}"/>
              </a:ext>
            </a:extLst>
          </p:cNvPr>
          <p:cNvSpPr>
            <a:spLocks xmlns:a="http://schemas.openxmlformats.org/drawingml/2006/main" noGrp="1"/>
          </p:cNvSpPr>
          <p:nvPr/>
        </p:nvSpPr>
        <p:spPr>
          <a:xfrm xmlns:a="http://schemas.openxmlformats.org/drawingml/2006/main">
            <a:off x="723900" y="4752975"/>
            <a:ext cx="514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Positive linear regression, capped by the</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three-month cash-flow baseline.</a:t>
            </a:r>
          </a:p>
        </p:txBody>
      </p:sp>
      <p:sp>
        <p:nvSpPr>
          <p:cNvPr id="9" name="">
            <a:extLst xmlns:a="http://schemas.openxmlformats.org/drawingml/2006/main">
              <a:ext uri="{FF2B5EF4-FFF2-40B4-BE49-F238E27FC236}">
                <a16:creationId xmlns:a16="http://schemas.microsoft.com/office/drawing/2014/main" id="{A2F36CD8-A3B0-419E-9AB8-285C44862D02}"/>
              </a:ext>
            </a:extLst>
          </p:cNvPr>
          <p:cNvSpPr>
            <a:spLocks xmlns:a="http://schemas.openxmlformats.org/drawingml/2006/main" noGrp="1"/>
          </p:cNvSpPr>
          <p:nvPr/>
        </p:nvSpPr>
        <p:spPr>
          <a:xfrm xmlns:a="http://schemas.openxmlformats.org/drawingml/2006/main">
            <a:off x="6362700" y="4391025"/>
            <a:ext cx="5105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2433"/>
                </a:solidFill>
                <a:latin typeface="Aptos"/>
                <a:ea typeface="Aptos"/>
                <a:cs typeface="Aptos"/>
              </a:defRPr>
            </a:pPr>
            <a:r>
              <a:rPr sz="1725" b="1">
                <a:solidFill>
                  <a:srgbClr val="132433"/>
                </a:solidFill>
                <a:latin typeface="Aptos"/>
                <a:ea typeface="Aptos"/>
                <a:cs typeface="Aptos"/>
              </a:rPr>
              <a:t>Evidence coverage: 5.57%</a:t>
            </a:r>
          </a:p>
        </p:txBody>
      </p:sp>
      <p:sp>
        <p:nvSpPr>
          <p:cNvPr id="10" name="">
            <a:extLst xmlns:a="http://schemas.openxmlformats.org/drawingml/2006/main">
              <a:ext uri="{FF2B5EF4-FFF2-40B4-BE49-F238E27FC236}">
                <a16:creationId xmlns:a16="http://schemas.microsoft.com/office/drawing/2014/main" id="{C6EA99D4-FDAB-4C3B-AD98-2E180243DAF9}"/>
              </a:ext>
            </a:extLst>
          </p:cNvPr>
          <p:cNvSpPr>
            <a:spLocks xmlns:a="http://schemas.openxmlformats.org/drawingml/2006/main" noGrp="1"/>
          </p:cNvSpPr>
          <p:nvPr/>
        </p:nvSpPr>
        <p:spPr>
          <a:xfrm xmlns:a="http://schemas.openxmlformats.org/drawingml/2006/main">
            <a:off x="6362700" y="4752975"/>
            <a:ext cx="5105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825 / 14,820 rows meet the history rules.</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Missing or ambiguous history causes abstention.</a:t>
            </a:r>
          </a:p>
        </p:txBody>
      </p:sp>
      <p:sp>
        <p:nvSpPr>
          <p:cNvPr id="11" name="">
            <a:extLst xmlns:a="http://schemas.openxmlformats.org/drawingml/2006/main">
              <a:ext uri="{FF2B5EF4-FFF2-40B4-BE49-F238E27FC236}">
                <a16:creationId xmlns:a16="http://schemas.microsoft.com/office/drawing/2014/main" id="{6B097308-51DA-4D9C-A410-58C3402AE953}"/>
              </a:ext>
            </a:extLst>
          </p:cNvPr>
          <p:cNvSpPr>
            <a:spLocks xmlns:a="http://schemas.openxmlformats.org/drawingml/2006/main" noGrp="1"/>
          </p:cNvSpPr>
          <p:nvPr/>
        </p:nvSpPr>
        <p:spPr>
          <a:xfrm xmlns:a="http://schemas.openxmlformats.org/drawingml/2006/main">
            <a:off x="704850" y="575310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E7180"/>
                </a:solidFill>
                <a:latin typeface="Aptos"/>
                <a:ea typeface="Aptos"/>
                <a:cs typeface="Aptos"/>
              </a:defRPr>
            </a:pPr>
            <a:r>
              <a:rPr sz="1275" b="0">
                <a:solidFill>
                  <a:srgbClr val="5E7180"/>
                </a:solidFill>
                <a:latin typeface="Aptos"/>
                <a:ea typeface="Aptos"/>
                <a:cs typeface="Aptos"/>
              </a:rPr>
              <a:t>MAE is in each currency's native units. Coverage describes usable evidence, not an approval rate. Gains are modest.</a:t>
            </a:r>
          </a:p>
        </p:txBody>
      </p:sp>
    </p:spTree>
    <p:extLst>
      <p:ext uri="{BB962C8B-B14F-4D97-AF65-F5344CB8AC3E}">
        <p14:creationId xmlns:p14="http://schemas.microsoft.com/office/powerpoint/2010/main" val="1714875053"/>
      </p:ext>
    </p:extLst>
  </p:cSld>
</p:sld>
</file>

<file path=ppt/slides/slide6.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F00A669-B11A-43DC-985B-A88CF390E3B3}"/>
              </a:ext>
            </a:extLst>
          </p:cNvPr>
          <p:cNvSpPr>
            <a:spLocks xmlns:a="http://schemas.openxmlformats.org/drawingml/2006/main" noGrp="1"/>
          </p:cNvSpPr>
          <p:nvPr/>
        </p:nvSpPr>
        <p:spPr>
          <a:xfrm xmlns:a="http://schemas.openxmlformats.org/drawingml/2006/main">
            <a:off x="666750" y="4000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32433"/>
                </a:solidFill>
                <a:latin typeface="Aptos"/>
                <a:ea typeface="Aptos"/>
                <a:cs typeface="Aptos"/>
              </a:defRPr>
            </a:pPr>
            <a:r>
              <a:rPr sz="2550" b="1">
                <a:solidFill>
                  <a:srgbClr val="132433"/>
                </a:solidFill>
                <a:latin typeface="Aptos"/>
                <a:ea typeface="Aptos"/>
                <a:cs typeface="Aptos"/>
              </a:rPr>
              <a:t>Eligibility and financial offer policy</a:t>
            </a:r>
          </a:p>
        </p:txBody>
      </p:sp>
      <p:sp>
        <p:nvSpPr>
          <p:cNvPr id="2" name="">
            <a:extLst xmlns:a="http://schemas.openxmlformats.org/drawingml/2006/main">
              <a:ext uri="{FF2B5EF4-FFF2-40B4-BE49-F238E27FC236}">
                <a16:creationId xmlns:a16="http://schemas.microsoft.com/office/drawing/2014/main" id="{5E849B52-CE45-4F1A-8C6F-035CAA4F8328}"/>
              </a:ext>
            </a:extLst>
          </p:cNvPr>
          <p:cNvSpPr>
            <a:spLocks xmlns:a="http://schemas.openxmlformats.org/drawingml/2006/main" noGrp="1"/>
          </p:cNvSpPr>
          <p:nvPr/>
        </p:nvSpPr>
        <p:spPr>
          <a:xfrm xmlns:a="http://schemas.openxmlformats.org/drawingml/2006/main">
            <a:off x="685800" y="9715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E7180"/>
                </a:solidFill>
                <a:latin typeface="Aptos"/>
                <a:ea typeface="Aptos"/>
                <a:cs typeface="Aptos"/>
              </a:defRPr>
            </a:pPr>
            <a:r>
              <a:rPr sz="1350" b="0">
                <a:solidFill>
                  <a:srgbClr val="5E7180"/>
                </a:solidFill>
                <a:latin typeface="Aptos"/>
                <a:ea typeface="Aptos"/>
                <a:cs typeface="Aptos"/>
              </a:rPr>
              <a:t>Policy version 3 applies explicit prototype business assumptions to verified customer facts.</a:t>
            </a:r>
          </a:p>
        </p:txBody>
      </p:sp>
      <p:sp>
        <p:nvSpPr>
          <p:cNvPr id="3" name="">
            <a:extLst xmlns:a="http://schemas.openxmlformats.org/drawingml/2006/main">
              <a:ext uri="{FF2B5EF4-FFF2-40B4-BE49-F238E27FC236}">
                <a16:creationId xmlns:a16="http://schemas.microsoft.com/office/drawing/2014/main" id="{917822A3-D780-470E-BB1D-524D2EA5E311}"/>
              </a:ext>
            </a:extLst>
          </p:cNvPr>
          <p:cNvSpPr>
            <a:spLocks xmlns:a="http://schemas.openxmlformats.org/drawingml/2006/main" noGrp="1"/>
          </p:cNvSpPr>
          <p:nvPr/>
        </p:nvSpPr>
        <p:spPr>
          <a:xfrm xmlns:a="http://schemas.openxmlformats.org/drawingml/2006/main">
            <a:off x="666750" y="1409700"/>
            <a:ext cx="876300" cy="38100"/>
          </a:xfrm>
          <a:prstGeom xmlns:a="http://schemas.openxmlformats.org/drawingml/2006/main" prst="rect">
            <a:avLst/>
          </a:prstGeom>
          <a:solidFill xmlns:a="http://schemas.openxmlformats.org/drawingml/2006/main">
            <a:srgbClr val="1FB6A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35F5C8A-C538-42DC-A38B-C9F7B4098217}"/>
              </a:ext>
            </a:extLst>
          </p:cNvPr>
          <p:cNvSpPr>
            <a:spLocks xmlns:a="http://schemas.openxmlformats.org/drawingml/2006/main" noGrp="1"/>
          </p:cNvSpPr>
          <p:nvPr/>
        </p:nvSpPr>
        <p:spPr>
          <a:xfrm xmlns:a="http://schemas.openxmlformats.org/drawingml/2006/main">
            <a:off x="685800" y="64008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E7180"/>
                </a:solidFill>
                <a:latin typeface="Aptos"/>
                <a:ea typeface="Aptos"/>
                <a:cs typeface="Aptos"/>
              </a:defRPr>
            </a:pPr>
            <a:r>
              <a:rPr sz="900" b="0">
                <a:solidFill>
                  <a:srgbClr val="5E7180"/>
                </a:solidFill>
                <a:latin typeface="Aptos"/>
                <a:ea typeface="Aptos"/>
                <a:cs typeface="Aptos"/>
              </a:rPr>
              <a:t>NOEMA  /  Factored AI &amp; Data Hackathon 2026</a:t>
            </a:r>
          </a:p>
        </p:txBody>
      </p:sp>
      <p:sp>
        <p:nvSpPr>
          <p:cNvPr id="5" name="">
            <a:extLst xmlns:a="http://schemas.openxmlformats.org/drawingml/2006/main">
              <a:ext uri="{FF2B5EF4-FFF2-40B4-BE49-F238E27FC236}">
                <a16:creationId xmlns:a16="http://schemas.microsoft.com/office/drawing/2014/main" id="{F42DA6B1-E4CD-45A3-A080-91B8AE7EBA66}"/>
              </a:ext>
            </a:extLst>
          </p:cNvPr>
          <p:cNvSpPr>
            <a:spLocks xmlns:a="http://schemas.openxmlformats.org/drawingml/2006/main" noGrp="1"/>
          </p:cNvSpPr>
          <p:nvPr/>
        </p:nvSpPr>
        <p:spPr>
          <a:xfrm xmlns:a="http://schemas.openxmlformats.org/drawingml/2006/main">
            <a:off x="11096625" y="64008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5E7180"/>
                </a:solidFill>
                <a:latin typeface="Aptos"/>
                <a:ea typeface="Aptos"/>
                <a:cs typeface="Aptos"/>
              </a:defRPr>
            </a:pPr>
            <a:r>
              <a:rPr sz="900" b="1">
                <a:solidFill>
                  <a:srgbClr val="5E7180"/>
                </a:solidFill>
                <a:latin typeface="Aptos"/>
                <a:ea typeface="Aptos"/>
                <a:cs typeface="Aptos"/>
              </a:rPr>
              <a:t>06</a:t>
            </a:r>
          </a:p>
        </p:txBody>
      </p:sp>
      <p:sp>
        <p:nvSpPr>
          <p:cNvPr id="6" name="">
            <a:extLst xmlns:a="http://schemas.openxmlformats.org/drawingml/2006/main">
              <a:ext uri="{FF2B5EF4-FFF2-40B4-BE49-F238E27FC236}">
                <a16:creationId xmlns:a16="http://schemas.microsoft.com/office/drawing/2014/main" id="{97C31A47-DD69-44A2-9303-FC13D80EE005}"/>
              </a:ext>
            </a:extLst>
          </p:cNvPr>
          <p:cNvSpPr>
            <a:spLocks xmlns:a="http://schemas.openxmlformats.org/drawingml/2006/main" noGrp="1"/>
          </p:cNvSpPr>
          <p:nvPr/>
        </p:nvSpPr>
        <p:spPr>
          <a:xfrm xmlns:a="http://schemas.openxmlformats.org/drawingml/2006/main">
            <a:off x="723900" y="17526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2433"/>
                </a:solidFill>
                <a:latin typeface="Aptos"/>
                <a:ea typeface="Aptos"/>
                <a:cs typeface="Aptos"/>
              </a:defRPr>
            </a:pPr>
            <a:r>
              <a:rPr sz="1725" b="1">
                <a:solidFill>
                  <a:srgbClr val="132433"/>
                </a:solidFill>
                <a:latin typeface="Aptos"/>
                <a:ea typeface="Aptos"/>
                <a:cs typeface="Aptos"/>
              </a:rPr>
              <a:t>1. Check evidence and current debt</a:t>
            </a:r>
          </a:p>
        </p:txBody>
      </p:sp>
      <p:sp>
        <p:nvSpPr>
          <p:cNvPr id="7" name="">
            <a:extLst xmlns:a="http://schemas.openxmlformats.org/drawingml/2006/main">
              <a:ext uri="{FF2B5EF4-FFF2-40B4-BE49-F238E27FC236}">
                <a16:creationId xmlns:a16="http://schemas.microsoft.com/office/drawing/2014/main" id="{F0EF8153-DF3F-424F-8E01-E93366781E86}"/>
              </a:ext>
            </a:extLst>
          </p:cNvPr>
          <p:cNvSpPr>
            <a:spLocks xmlns:a="http://schemas.openxmlformats.org/drawingml/2006/main" noGrp="1"/>
          </p:cNvSpPr>
          <p:nvPr/>
        </p:nvSpPr>
        <p:spPr>
          <a:xfrm xmlns:a="http://schemas.openxmlformats.org/drawingml/2006/main">
            <a:off x="723900" y="2114550"/>
            <a:ext cx="5143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Positive income and complete obligation terms.</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6-month tenure for an additional product.</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Fewer than 4 existing credit products.</a:t>
            </a:r>
          </a:p>
        </p:txBody>
      </p:sp>
      <p:sp>
        <p:nvSpPr>
          <p:cNvPr id="8" name="">
            <a:extLst xmlns:a="http://schemas.openxmlformats.org/drawingml/2006/main">
              <a:ext uri="{FF2B5EF4-FFF2-40B4-BE49-F238E27FC236}">
                <a16:creationId xmlns:a16="http://schemas.microsoft.com/office/drawing/2014/main" id="{97FAD892-44AE-4658-ADA0-069E207CE530}"/>
              </a:ext>
            </a:extLst>
          </p:cNvPr>
          <p:cNvSpPr>
            <a:spLocks xmlns:a="http://schemas.openxmlformats.org/drawingml/2006/main" noGrp="1"/>
          </p:cNvSpPr>
          <p:nvPr/>
        </p:nvSpPr>
        <p:spPr>
          <a:xfrm xmlns:a="http://schemas.openxmlformats.org/drawingml/2006/main">
            <a:off x="6362700" y="1752600"/>
            <a:ext cx="5105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2433"/>
                </a:solidFill>
                <a:latin typeface="Aptos"/>
                <a:ea typeface="Aptos"/>
                <a:cs typeface="Aptos"/>
              </a:defRPr>
            </a:pPr>
            <a:r>
              <a:rPr sz="1725" b="1">
                <a:solidFill>
                  <a:srgbClr val="132433"/>
                </a:solidFill>
                <a:latin typeface="Aptos"/>
                <a:ea typeface="Aptos"/>
                <a:cs typeface="Aptos"/>
              </a:rPr>
              <a:t>2. Calculate the payment budget</a:t>
            </a:r>
          </a:p>
        </p:txBody>
      </p:sp>
      <p:sp>
        <p:nvSpPr>
          <p:cNvPr id="9" name="">
            <a:extLst xmlns:a="http://schemas.openxmlformats.org/drawingml/2006/main">
              <a:ext uri="{FF2B5EF4-FFF2-40B4-BE49-F238E27FC236}">
                <a16:creationId xmlns:a16="http://schemas.microsoft.com/office/drawing/2014/main" id="{A1195DFC-A2FA-4281-9B57-7C3C343EB118}"/>
              </a:ext>
            </a:extLst>
          </p:cNvPr>
          <p:cNvSpPr>
            <a:spLocks xmlns:a="http://schemas.openxmlformats.org/drawingml/2006/main" noGrp="1"/>
          </p:cNvSpPr>
          <p:nvPr/>
        </p:nvSpPr>
        <p:spPr>
          <a:xfrm xmlns:a="http://schemas.openxmlformats.org/drawingml/2006/main">
            <a:off x="6362700" y="2114550"/>
            <a:ext cx="51054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Debt-to-income (DTI) budget: 40%. Hard stop: 60%.</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45% if reserves cover 6 current-payment months.</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Existing exposure capped at 3x annual income.</a:t>
            </a:r>
          </a:p>
        </p:txBody>
      </p:sp>
      <p:sp>
        <p:nvSpPr>
          <p:cNvPr id="10" name="">
            <a:extLst xmlns:a="http://schemas.openxmlformats.org/drawingml/2006/main">
              <a:ext uri="{FF2B5EF4-FFF2-40B4-BE49-F238E27FC236}">
                <a16:creationId xmlns:a16="http://schemas.microsoft.com/office/drawing/2014/main" id="{DC4F1CDA-406F-4AA5-8624-ADC39704F03F}"/>
              </a:ext>
            </a:extLst>
          </p:cNvPr>
          <p:cNvSpPr>
            <a:spLocks xmlns:a="http://schemas.openxmlformats.org/drawingml/2006/main" noGrp="1"/>
          </p:cNvSpPr>
          <p:nvPr/>
        </p:nvSpPr>
        <p:spPr>
          <a:xfrm xmlns:a="http://schemas.openxmlformats.org/drawingml/2006/main">
            <a:off x="723900" y="36576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2433"/>
                </a:solidFill>
                <a:latin typeface="Aptos"/>
                <a:ea typeface="Aptos"/>
                <a:cs typeface="Aptos"/>
              </a:defRPr>
            </a:pPr>
            <a:r>
              <a:rPr sz="1725" b="1">
                <a:solidFill>
                  <a:srgbClr val="132433"/>
                </a:solidFill>
                <a:latin typeface="Aptos"/>
                <a:ea typeface="Aptos"/>
                <a:cs typeface="Aptos"/>
              </a:rPr>
              <a:t>3. Apply the capacity restriction</a:t>
            </a:r>
          </a:p>
        </p:txBody>
      </p:sp>
      <p:sp>
        <p:nvSpPr>
          <p:cNvPr id="11" name="">
            <a:extLst xmlns:a="http://schemas.openxmlformats.org/drawingml/2006/main">
              <a:ext uri="{FF2B5EF4-FFF2-40B4-BE49-F238E27FC236}">
                <a16:creationId xmlns:a16="http://schemas.microsoft.com/office/drawing/2014/main" id="{D56C641B-B197-45EE-8DEE-A2CDDF088145}"/>
              </a:ext>
            </a:extLst>
          </p:cNvPr>
          <p:cNvSpPr>
            <a:spLocks xmlns:a="http://schemas.openxmlformats.org/drawingml/2006/main" noGrp="1"/>
          </p:cNvSpPr>
          <p:nvPr/>
        </p:nvSpPr>
        <p:spPr>
          <a:xfrm xmlns:a="http://schemas.openxmlformats.org/drawingml/2006/main">
            <a:off x="723900" y="4019550"/>
            <a:ext cx="5143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Use the lower of policy margin and ML capacity.</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Without a capacity estimate: 20% margin cut</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and no mortgage offer.</a:t>
            </a:r>
          </a:p>
        </p:txBody>
      </p:sp>
      <p:sp>
        <p:nvSpPr>
          <p:cNvPr id="12" name="">
            <a:extLst xmlns:a="http://schemas.openxmlformats.org/drawingml/2006/main">
              <a:ext uri="{FF2B5EF4-FFF2-40B4-BE49-F238E27FC236}">
                <a16:creationId xmlns:a16="http://schemas.microsoft.com/office/drawing/2014/main" id="{350E53A0-9565-413A-9C11-2679169B1F8D}"/>
              </a:ext>
            </a:extLst>
          </p:cNvPr>
          <p:cNvSpPr>
            <a:spLocks xmlns:a="http://schemas.openxmlformats.org/drawingml/2006/main" noGrp="1"/>
          </p:cNvSpPr>
          <p:nvPr/>
        </p:nvSpPr>
        <p:spPr>
          <a:xfrm xmlns:a="http://schemas.openxmlformats.org/drawingml/2006/main">
            <a:off x="6362700" y="3657600"/>
            <a:ext cx="5105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2433"/>
                </a:solidFill>
                <a:latin typeface="Aptos"/>
                <a:ea typeface="Aptos"/>
                <a:cs typeface="Aptos"/>
              </a:defRPr>
            </a:pPr>
            <a:r>
              <a:rPr sz="1725" b="1">
                <a:solidFill>
                  <a:srgbClr val="132433"/>
                </a:solidFill>
                <a:latin typeface="Aptos"/>
                <a:ea typeface="Aptos"/>
                <a:cs typeface="Aptos"/>
              </a:rPr>
              <a:t>4. Validate and record the offer</a:t>
            </a:r>
          </a:p>
        </p:txBody>
      </p:sp>
      <p:sp>
        <p:nvSpPr>
          <p:cNvPr id="13" name="">
            <a:extLst xmlns:a="http://schemas.openxmlformats.org/drawingml/2006/main">
              <a:ext uri="{FF2B5EF4-FFF2-40B4-BE49-F238E27FC236}">
                <a16:creationId xmlns:a16="http://schemas.microsoft.com/office/drawing/2014/main" id="{12353706-50C3-490D-980A-155BDAA94C82}"/>
              </a:ext>
            </a:extLst>
          </p:cNvPr>
          <p:cNvSpPr>
            <a:spLocks xmlns:a="http://schemas.openxmlformats.org/drawingml/2006/main" noGrp="1"/>
          </p:cNvSpPr>
          <p:nvPr/>
        </p:nvSpPr>
        <p:spPr>
          <a:xfrm xmlns:a="http://schemas.openxmlformats.org/drawingml/2006/main">
            <a:off x="6362700" y="4019550"/>
            <a:ext cx="51054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Check segment, amount, term and reserves.</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Publish payment, effective rate and total interest.</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Record quote, read it back, or escalate.</a:t>
            </a:r>
          </a:p>
        </p:txBody>
      </p:sp>
      <p:sp>
        <p:nvSpPr>
          <p:cNvPr id="14" name="">
            <a:extLst xmlns:a="http://schemas.openxmlformats.org/drawingml/2006/main">
              <a:ext uri="{FF2B5EF4-FFF2-40B4-BE49-F238E27FC236}">
                <a16:creationId xmlns:a16="http://schemas.microsoft.com/office/drawing/2014/main" id="{8CC44C87-DED7-4B0E-9033-7FE97AD9E2A1}"/>
              </a:ext>
            </a:extLst>
          </p:cNvPr>
          <p:cNvSpPr>
            <a:spLocks xmlns:a="http://schemas.openxmlformats.org/drawingml/2006/main" noGrp="1"/>
          </p:cNvSpPr>
          <p:nvPr/>
        </p:nvSpPr>
        <p:spPr>
          <a:xfrm xmlns:a="http://schemas.openxmlformats.org/drawingml/2006/main">
            <a:off x="704850" y="575310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E7180"/>
                </a:solidFill>
                <a:latin typeface="Aptos"/>
                <a:ea typeface="Aptos"/>
                <a:cs typeface="Aptos"/>
              </a:defRPr>
            </a:pPr>
            <a:r>
              <a:rPr sz="1275" b="0">
                <a:solidFill>
                  <a:srgbClr val="5E7180"/>
                </a:solidFill>
                <a:latin typeface="Aptos"/>
                <a:ea typeface="Aptos"/>
                <a:cs typeface="Aptos"/>
              </a:rPr>
              <a:t>The policy determines eligibility. Commercial scores cannot override it. Recorded quotes do not constitute disbursement.</a:t>
            </a:r>
          </a:p>
        </p:txBody>
      </p:sp>
    </p:spTree>
    <p:extLst>
      <p:ext uri="{BB962C8B-B14F-4D97-AF65-F5344CB8AC3E}">
        <p14:creationId xmlns:p14="http://schemas.microsoft.com/office/powerpoint/2010/main" val="167424600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481F9F3-2B95-459B-9063-520840203D91}"/>
              </a:ext>
            </a:extLst>
          </p:cNvPr>
          <p:cNvSpPr>
            <a:spLocks xmlns:a="http://schemas.openxmlformats.org/drawingml/2006/main" noGrp="1"/>
          </p:cNvSpPr>
          <p:nvPr/>
        </p:nvSpPr>
        <p:spPr>
          <a:xfrm xmlns:a="http://schemas.openxmlformats.org/drawingml/2006/main">
            <a:off x="666750" y="4000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32433"/>
                </a:solidFill>
                <a:latin typeface="Aptos"/>
                <a:ea typeface="Aptos"/>
                <a:cs typeface="Aptos"/>
              </a:defRPr>
            </a:pPr>
            <a:r>
              <a:rPr sz="2550" b="1">
                <a:solidFill>
                  <a:srgbClr val="132433"/>
                </a:solidFill>
                <a:latin typeface="Aptos"/>
                <a:ea typeface="Aptos"/>
                <a:cs typeface="Aptos"/>
              </a:rPr>
              <a:t>Product-interest model: data and validation</a:t>
            </a:r>
          </a:p>
        </p:txBody>
      </p:sp>
      <p:sp>
        <p:nvSpPr>
          <p:cNvPr id="2" name="">
            <a:extLst xmlns:a="http://schemas.openxmlformats.org/drawingml/2006/main">
              <a:ext uri="{FF2B5EF4-FFF2-40B4-BE49-F238E27FC236}">
                <a16:creationId xmlns:a16="http://schemas.microsoft.com/office/drawing/2014/main" id="{48AED174-B707-4AA6-B258-884AB9E62265}"/>
              </a:ext>
            </a:extLst>
          </p:cNvPr>
          <p:cNvSpPr>
            <a:spLocks xmlns:a="http://schemas.openxmlformats.org/drawingml/2006/main" noGrp="1"/>
          </p:cNvSpPr>
          <p:nvPr/>
        </p:nvSpPr>
        <p:spPr>
          <a:xfrm xmlns:a="http://schemas.openxmlformats.org/drawingml/2006/main">
            <a:off x="685800" y="9715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E7180"/>
                </a:solidFill>
                <a:latin typeface="Aptos"/>
                <a:ea typeface="Aptos"/>
                <a:cs typeface="Aptos"/>
              </a:defRPr>
            </a:pPr>
            <a:r>
              <a:rPr sz="1350" b="0">
                <a:solidFill>
                  <a:srgbClr val="5E7180"/>
                </a:solidFill>
                <a:latin typeface="Aptos"/>
                <a:ea typeface="Aptos"/>
                <a:cs typeface="Aptos"/>
              </a:rPr>
              <a:t>Target: conversion within 30 days of a campaign send. The model ranks observed campaign opportunities.</a:t>
            </a:r>
          </a:p>
        </p:txBody>
      </p:sp>
      <p:sp>
        <p:nvSpPr>
          <p:cNvPr id="3" name="">
            <a:extLst xmlns:a="http://schemas.openxmlformats.org/drawingml/2006/main">
              <a:ext uri="{FF2B5EF4-FFF2-40B4-BE49-F238E27FC236}">
                <a16:creationId xmlns:a16="http://schemas.microsoft.com/office/drawing/2014/main" id="{73156392-803D-4096-A8F9-E40CF6631A32}"/>
              </a:ext>
            </a:extLst>
          </p:cNvPr>
          <p:cNvSpPr>
            <a:spLocks xmlns:a="http://schemas.openxmlformats.org/drawingml/2006/main" noGrp="1"/>
          </p:cNvSpPr>
          <p:nvPr/>
        </p:nvSpPr>
        <p:spPr>
          <a:xfrm xmlns:a="http://schemas.openxmlformats.org/drawingml/2006/main">
            <a:off x="666750" y="1409700"/>
            <a:ext cx="876300" cy="38100"/>
          </a:xfrm>
          <a:prstGeom xmlns:a="http://schemas.openxmlformats.org/drawingml/2006/main" prst="rect">
            <a:avLst/>
          </a:prstGeom>
          <a:solidFill xmlns:a="http://schemas.openxmlformats.org/drawingml/2006/main">
            <a:srgbClr val="1FB6A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4AE8DF8-D555-4757-82EB-688113756CDC}"/>
              </a:ext>
            </a:extLst>
          </p:cNvPr>
          <p:cNvSpPr>
            <a:spLocks xmlns:a="http://schemas.openxmlformats.org/drawingml/2006/main" noGrp="1"/>
          </p:cNvSpPr>
          <p:nvPr/>
        </p:nvSpPr>
        <p:spPr>
          <a:xfrm xmlns:a="http://schemas.openxmlformats.org/drawingml/2006/main">
            <a:off x="685800" y="64008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E7180"/>
                </a:solidFill>
                <a:latin typeface="Aptos"/>
                <a:ea typeface="Aptos"/>
                <a:cs typeface="Aptos"/>
              </a:defRPr>
            </a:pPr>
            <a:r>
              <a:rPr sz="900" b="0">
                <a:solidFill>
                  <a:srgbClr val="5E7180"/>
                </a:solidFill>
                <a:latin typeface="Aptos"/>
                <a:ea typeface="Aptos"/>
                <a:cs typeface="Aptos"/>
              </a:rPr>
              <a:t>NOEMA  /  Factored AI &amp; Data Hackathon 2026</a:t>
            </a:r>
          </a:p>
        </p:txBody>
      </p:sp>
      <p:sp>
        <p:nvSpPr>
          <p:cNvPr id="5" name="">
            <a:extLst xmlns:a="http://schemas.openxmlformats.org/drawingml/2006/main">
              <a:ext uri="{FF2B5EF4-FFF2-40B4-BE49-F238E27FC236}">
                <a16:creationId xmlns:a16="http://schemas.microsoft.com/office/drawing/2014/main" id="{C5502B5F-A50E-4894-B462-61E9EB247335}"/>
              </a:ext>
            </a:extLst>
          </p:cNvPr>
          <p:cNvSpPr>
            <a:spLocks xmlns:a="http://schemas.openxmlformats.org/drawingml/2006/main" noGrp="1"/>
          </p:cNvSpPr>
          <p:nvPr/>
        </p:nvSpPr>
        <p:spPr>
          <a:xfrm xmlns:a="http://schemas.openxmlformats.org/drawingml/2006/main">
            <a:off x="11096625" y="64008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5E7180"/>
                </a:solidFill>
                <a:latin typeface="Aptos"/>
                <a:ea typeface="Aptos"/>
                <a:cs typeface="Aptos"/>
              </a:defRPr>
            </a:pPr>
            <a:r>
              <a:rPr sz="900" b="1">
                <a:solidFill>
                  <a:srgbClr val="5E7180"/>
                </a:solidFill>
                <a:latin typeface="Aptos"/>
                <a:ea typeface="Aptos"/>
                <a:cs typeface="Aptos"/>
              </a:rPr>
              <a:t>07</a:t>
            </a:r>
          </a:p>
        </p:txBody>
      </p:sp>
      <p:graphicFrame>
        <p:nvGraphicFramePr>
          <p:cNvPr id="17" name=""/>
          <p:cNvGraphicFramePr/>
          <p:nvPr/>
        </p:nvGraphicFramePr>
        <p:xfrm>
          <a:off xmlns:a="http://schemas.openxmlformats.org/drawingml/2006/main" x="685800" y="1714500"/>
          <a:ext xmlns:a="http://schemas.openxmlformats.org/drawingml/2006/main" cx="10820400" cy="2400300"/>
        </p:xfrm>
        <a:graphic xmlns:a="http://schemas.openxmlformats.org/drawingml/2006/main">
          <a:graphicData uri="http://schemas.openxmlformats.org/drawingml/2006/table">
            <a:tbl>
              <a:tblPr firstRow="1" bandRow="0"/>
              <a:tblGrid>
                <a:gridCol w="2286000"/>
                <a:gridCol w="3962400"/>
                <a:gridCol w="2286000"/>
                <a:gridCol w="2286000"/>
              </a:tblGrid>
              <a:tr h="600075">
                <a:tc>
                  <a:txBody>
                    <a:bodyPr>
                      <a:noAutofit/>
                    </a:bodyPr>
                    <a:lstStyle/>
                    <a:p>
                      <a:r>
                        <a:rPr sz="1575" b="1">
                          <a:solidFill>
                            <a:srgbClr val="FFFFFF"/>
                          </a:solidFill>
                          <a:latin typeface="Aptos"/>
                          <a:ea typeface="Aptos"/>
                          <a:cs typeface="Aptos"/>
                        </a:rPr>
                        <a:t>Split</a:t>
                      </a:r>
                    </a:p>
                  </a:txBody>
                  <a:tcPr marL="91440" marR="91440" marT="45720" marB="45720">
                    <a:solidFill>
                      <a:srgbClr val="071826"/>
                    </a:solidFill>
                  </a:tcPr>
                </a:tc>
                <a:tc>
                  <a:txBody>
                    <a:bodyPr>
                      <a:noAutofit/>
                    </a:bodyPr>
                    <a:lstStyle/>
                    <a:p>
                      <a:r>
                        <a:rPr sz="1575" b="1">
                          <a:solidFill>
                            <a:srgbClr val="FFFFFF"/>
                          </a:solidFill>
                          <a:latin typeface="Aptos"/>
                          <a:ea typeface="Aptos"/>
                          <a:cs typeface="Aptos"/>
                        </a:rPr>
                        <a:t>Period</a:t>
                      </a:r>
                    </a:p>
                  </a:txBody>
                  <a:tcPr marL="91440" marR="91440" marT="45720" marB="45720">
                    <a:solidFill>
                      <a:srgbClr val="071826"/>
                    </a:solidFill>
                  </a:tcPr>
                </a:tc>
                <a:tc>
                  <a:txBody>
                    <a:bodyPr>
                      <a:noAutofit/>
                    </a:bodyPr>
                    <a:lstStyle/>
                    <a:p>
                      <a:r>
                        <a:rPr sz="1575" b="1">
                          <a:solidFill>
                            <a:srgbClr val="FFFFFF"/>
                          </a:solidFill>
                          <a:latin typeface="Aptos"/>
                          <a:ea typeface="Aptos"/>
                          <a:cs typeface="Aptos"/>
                        </a:rPr>
                        <a:t>Exposures</a:t>
                      </a:r>
                    </a:p>
                  </a:txBody>
                  <a:tcPr marL="91440" marR="91440" marT="45720" marB="45720">
                    <a:solidFill>
                      <a:srgbClr val="071826"/>
                    </a:solidFill>
                  </a:tcPr>
                </a:tc>
                <a:tc>
                  <a:txBody>
                    <a:bodyPr>
                      <a:noAutofit/>
                    </a:bodyPr>
                    <a:lstStyle/>
                    <a:p>
                      <a:r>
                        <a:rPr sz="1575" b="1">
                          <a:solidFill>
                            <a:srgbClr val="FFFFFF"/>
                          </a:solidFill>
                          <a:latin typeface="Aptos"/>
                          <a:ea typeface="Aptos"/>
                          <a:cs typeface="Aptos"/>
                        </a:rPr>
                        <a:t>Conversions</a:t>
                      </a:r>
                    </a:p>
                  </a:txBody>
                  <a:tcPr marL="91440" marR="91440" marT="45720" marB="45720">
                    <a:solidFill>
                      <a:srgbClr val="071826"/>
                    </a:solidFill>
                  </a:tcPr>
                </a:tc>
              </a:tr>
              <a:tr h="600075">
                <a:tc>
                  <a:txBody>
                    <a:bodyPr>
                      <a:noAutofit/>
                    </a:bodyPr>
                    <a:lstStyle/>
                    <a:p>
                      <a:r>
                        <a:rPr sz="1575" b="1">
                          <a:solidFill>
                            <a:srgbClr val="132433"/>
                          </a:solidFill>
                          <a:latin typeface="Aptos"/>
                          <a:ea typeface="Aptos"/>
                          <a:cs typeface="Aptos"/>
                        </a:rPr>
                        <a:t>Training</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Jul 2023-Nov 2024</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557,603</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3,183</a:t>
                      </a:r>
                    </a:p>
                  </a:txBody>
                  <a:tcPr marL="91440" marR="91440" marT="45720" marB="45720">
                    <a:solidFill>
                      <a:srgbClr val="FFFFFF"/>
                    </a:solidFill>
                  </a:tcPr>
                </a:tc>
              </a:tr>
              <a:tr h="600075">
                <a:tc>
                  <a:txBody>
                    <a:bodyPr>
                      <a:noAutofit/>
                    </a:bodyPr>
                    <a:lstStyle/>
                    <a:p>
                      <a:r>
                        <a:rPr sz="1575" b="1">
                          <a:solidFill>
                            <a:srgbClr val="132433"/>
                          </a:solidFill>
                          <a:latin typeface="Aptos"/>
                          <a:ea typeface="Aptos"/>
                          <a:cs typeface="Aptos"/>
                        </a:rPr>
                        <a:t>Validation</a:t>
                      </a:r>
                    </a:p>
                  </a:txBody>
                  <a:tcPr marL="91440" marR="91440" marT="45720" marB="45720">
                    <a:solidFill>
                      <a:srgbClr val="EDF3F4"/>
                    </a:solidFill>
                  </a:tcPr>
                </a:tc>
                <a:tc>
                  <a:txBody>
                    <a:bodyPr>
                      <a:noAutofit/>
                    </a:bodyPr>
                    <a:lstStyle/>
                    <a:p>
                      <a:r>
                        <a:rPr sz="1575" b="0">
                          <a:solidFill>
                            <a:srgbClr val="132433"/>
                          </a:solidFill>
                          <a:latin typeface="Aptos"/>
                          <a:ea typeface="Aptos"/>
                          <a:cs typeface="Aptos"/>
                        </a:rPr>
                        <a:t>Jan-Mar 2025</a:t>
                      </a:r>
                    </a:p>
                  </a:txBody>
                  <a:tcPr marL="91440" marR="91440" marT="45720" marB="45720">
                    <a:solidFill>
                      <a:srgbClr val="EDF3F4"/>
                    </a:solidFill>
                  </a:tcPr>
                </a:tc>
                <a:tc>
                  <a:txBody>
                    <a:bodyPr>
                      <a:noAutofit/>
                    </a:bodyPr>
                    <a:lstStyle/>
                    <a:p>
                      <a:r>
                        <a:rPr sz="1575" b="0">
                          <a:solidFill>
                            <a:srgbClr val="132433"/>
                          </a:solidFill>
                          <a:latin typeface="Aptos"/>
                          <a:ea typeface="Aptos"/>
                          <a:cs typeface="Aptos"/>
                        </a:rPr>
                        <a:t>99,158</a:t>
                      </a:r>
                    </a:p>
                  </a:txBody>
                  <a:tcPr marL="91440" marR="91440" marT="45720" marB="45720">
                    <a:solidFill>
                      <a:srgbClr val="EDF3F4"/>
                    </a:solidFill>
                  </a:tcPr>
                </a:tc>
                <a:tc>
                  <a:txBody>
                    <a:bodyPr>
                      <a:noAutofit/>
                    </a:bodyPr>
                    <a:lstStyle/>
                    <a:p>
                      <a:r>
                        <a:rPr sz="1575" b="0">
                          <a:solidFill>
                            <a:srgbClr val="132433"/>
                          </a:solidFill>
                          <a:latin typeface="Aptos"/>
                          <a:ea typeface="Aptos"/>
                          <a:cs typeface="Aptos"/>
                        </a:rPr>
                        <a:t>431</a:t>
                      </a:r>
                    </a:p>
                  </a:txBody>
                  <a:tcPr marL="91440" marR="91440" marT="45720" marB="45720">
                    <a:solidFill>
                      <a:srgbClr val="EDF3F4"/>
                    </a:solidFill>
                  </a:tcPr>
                </a:tc>
              </a:tr>
              <a:tr h="600075">
                <a:tc>
                  <a:txBody>
                    <a:bodyPr>
                      <a:noAutofit/>
                    </a:bodyPr>
                    <a:lstStyle/>
                    <a:p>
                      <a:r>
                        <a:rPr sz="1575" b="1">
                          <a:solidFill>
                            <a:srgbClr val="132433"/>
                          </a:solidFill>
                          <a:latin typeface="Aptos"/>
                          <a:ea typeface="Aptos"/>
                          <a:cs typeface="Aptos"/>
                        </a:rPr>
                        <a:t>Test</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May-Nov 2025</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248,875</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1,216</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16B44DA5-925F-404B-A913-D8F748D472E5}"/>
              </a:ext>
            </a:extLst>
          </p:cNvPr>
          <p:cNvSpPr>
            <a:spLocks xmlns:a="http://schemas.openxmlformats.org/drawingml/2006/main" noGrp="1"/>
          </p:cNvSpPr>
          <p:nvPr/>
        </p:nvSpPr>
        <p:spPr>
          <a:xfrm xmlns:a="http://schemas.openxmlformats.org/drawingml/2006/main">
            <a:off x="723900" y="44577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2433"/>
                </a:solidFill>
                <a:latin typeface="Aptos"/>
                <a:ea typeface="Aptos"/>
                <a:cs typeface="Aptos"/>
              </a:defRPr>
            </a:pPr>
            <a:r>
              <a:rPr sz="1725" b="1">
                <a:solidFill>
                  <a:srgbClr val="132433"/>
                </a:solidFill>
                <a:latin typeface="Aptos"/>
                <a:ea typeface="Aptos"/>
                <a:cs typeface="Aptos"/>
              </a:rPr>
              <a:t>Inputs known before the send</a:t>
            </a:r>
          </a:p>
        </p:txBody>
      </p:sp>
      <p:sp>
        <p:nvSpPr>
          <p:cNvPr id="8" name="">
            <a:extLst xmlns:a="http://schemas.openxmlformats.org/drawingml/2006/main">
              <a:ext uri="{FF2B5EF4-FFF2-40B4-BE49-F238E27FC236}">
                <a16:creationId xmlns:a16="http://schemas.microsoft.com/office/drawing/2014/main" id="{CB0FE7EF-CE07-48B5-8A00-1242E7D916CA}"/>
              </a:ext>
            </a:extLst>
          </p:cNvPr>
          <p:cNvSpPr>
            <a:spLocks xmlns:a="http://schemas.openxmlformats.org/drawingml/2006/main" noGrp="1"/>
          </p:cNvSpPr>
          <p:nvPr/>
        </p:nvSpPr>
        <p:spPr>
          <a:xfrm xmlns:a="http://schemas.openxmlformats.org/drawingml/2006/main">
            <a:off x="723900" y="4819650"/>
            <a:ext cx="5143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Promoted product, channel, prior send count</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and send month. Target opens/clicks excluded.</a:t>
            </a:r>
          </a:p>
        </p:txBody>
      </p:sp>
      <p:sp>
        <p:nvSpPr>
          <p:cNvPr id="9" name="">
            <a:extLst xmlns:a="http://schemas.openxmlformats.org/drawingml/2006/main">
              <a:ext uri="{FF2B5EF4-FFF2-40B4-BE49-F238E27FC236}">
                <a16:creationId xmlns:a16="http://schemas.microsoft.com/office/drawing/2014/main" id="{FA52B5CC-FB49-46FB-B45C-49D2C2FF4605}"/>
              </a:ext>
            </a:extLst>
          </p:cNvPr>
          <p:cNvSpPr>
            <a:spLocks xmlns:a="http://schemas.openxmlformats.org/drawingml/2006/main" noGrp="1"/>
          </p:cNvSpPr>
          <p:nvPr/>
        </p:nvSpPr>
        <p:spPr>
          <a:xfrm xmlns:a="http://schemas.openxmlformats.org/drawingml/2006/main">
            <a:off x="6362700" y="4457700"/>
            <a:ext cx="5105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2433"/>
                </a:solidFill>
                <a:latin typeface="Aptos"/>
                <a:ea typeface="Aptos"/>
                <a:cs typeface="Aptos"/>
              </a:defRPr>
            </a:pPr>
            <a:r>
              <a:rPr sz="1725" b="1">
                <a:solidFill>
                  <a:srgbClr val="132433"/>
                </a:solidFill>
                <a:latin typeface="Aptos"/>
                <a:ea typeface="Aptos"/>
                <a:cs typeface="Aptos"/>
              </a:rPr>
              <a:t>Uncertainty and generalization</a:t>
            </a:r>
          </a:p>
        </p:txBody>
      </p:sp>
      <p:sp>
        <p:nvSpPr>
          <p:cNvPr id="10" name="">
            <a:extLst xmlns:a="http://schemas.openxmlformats.org/drawingml/2006/main">
              <a:ext uri="{FF2B5EF4-FFF2-40B4-BE49-F238E27FC236}">
                <a16:creationId xmlns:a16="http://schemas.microsoft.com/office/drawing/2014/main" id="{AED1670C-BA26-4261-8E40-9919448970F7}"/>
              </a:ext>
            </a:extLst>
          </p:cNvPr>
          <p:cNvSpPr>
            <a:spLocks xmlns:a="http://schemas.openxmlformats.org/drawingml/2006/main" noGrp="1"/>
          </p:cNvSpPr>
          <p:nvPr/>
        </p:nvSpPr>
        <p:spPr>
          <a:xfrm xmlns:a="http://schemas.openxmlformats.org/drawingml/2006/main">
            <a:off x="6362700" y="4819650"/>
            <a:ext cx="5105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Test ROC-AUC 95% interval: 0.6675-0.6889.</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Repeated customers limit new-customer claims.</a:t>
            </a:r>
          </a:p>
        </p:txBody>
      </p:sp>
      <p:sp>
        <p:nvSpPr>
          <p:cNvPr id="11" name="">
            <a:extLst xmlns:a="http://schemas.openxmlformats.org/drawingml/2006/main">
              <a:ext uri="{FF2B5EF4-FFF2-40B4-BE49-F238E27FC236}">
                <a16:creationId xmlns:a16="http://schemas.microsoft.com/office/drawing/2014/main" id="{63EB046F-3D21-4219-A273-1746E70FDA77}"/>
              </a:ext>
            </a:extLst>
          </p:cNvPr>
          <p:cNvSpPr>
            <a:spLocks xmlns:a="http://schemas.openxmlformats.org/drawingml/2006/main" noGrp="1"/>
          </p:cNvSpPr>
          <p:nvPr/>
        </p:nvSpPr>
        <p:spPr>
          <a:xfrm xmlns:a="http://schemas.openxmlformats.org/drawingml/2006/main">
            <a:off x="704850" y="575310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E7180"/>
                </a:solidFill>
                <a:latin typeface="Aptos"/>
                <a:ea typeface="Aptos"/>
                <a:cs typeface="Aptos"/>
              </a:defRPr>
            </a:pPr>
            <a:r>
              <a:rPr sz="1275" b="0">
                <a:solidFill>
                  <a:srgbClr val="5E7180"/>
                </a:solidFill>
                <a:latin typeface="Aptos"/>
                <a:ea typeface="Aptos"/>
                <a:cs typeface="Aptos"/>
              </a:rPr>
              <a:t>Validation uses a 30-day maturation gap. Bootstrap intervals reflect customer clustering within the test period.</a:t>
            </a:r>
          </a:p>
        </p:txBody>
      </p:sp>
    </p:spTree>
    <p:extLst>
      <p:ext uri="{BB962C8B-B14F-4D97-AF65-F5344CB8AC3E}">
        <p14:creationId xmlns:p14="http://schemas.microsoft.com/office/powerpoint/2010/main" val="1412134307"/>
      </p:ext>
    </p:extLst>
  </p:cSld>
</p:sld>
</file>

<file path=ppt/slides/slide8.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2524F00-3B05-4D6D-B60A-25C0A22A8B89}"/>
              </a:ext>
            </a:extLst>
          </p:cNvPr>
          <p:cNvSpPr>
            <a:spLocks xmlns:a="http://schemas.openxmlformats.org/drawingml/2006/main" noGrp="1"/>
          </p:cNvSpPr>
          <p:nvPr/>
        </p:nvSpPr>
        <p:spPr>
          <a:xfrm xmlns:a="http://schemas.openxmlformats.org/drawingml/2006/main">
            <a:off x="666750" y="4000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32433"/>
                </a:solidFill>
                <a:latin typeface="Aptos"/>
                <a:ea typeface="Aptos"/>
                <a:cs typeface="Aptos"/>
              </a:defRPr>
            </a:pPr>
            <a:r>
              <a:rPr sz="2550" b="1">
                <a:solidFill>
                  <a:srgbClr val="132433"/>
                </a:solidFill>
                <a:latin typeface="Aptos"/>
                <a:ea typeface="Aptos"/>
                <a:cs typeface="Aptos"/>
              </a:rPr>
              <a:t>Neural depth experiment and selection</a:t>
            </a:r>
          </a:p>
        </p:txBody>
      </p:sp>
      <p:sp>
        <p:nvSpPr>
          <p:cNvPr id="2" name="">
            <a:extLst xmlns:a="http://schemas.openxmlformats.org/drawingml/2006/main">
              <a:ext uri="{FF2B5EF4-FFF2-40B4-BE49-F238E27FC236}">
                <a16:creationId xmlns:a16="http://schemas.microsoft.com/office/drawing/2014/main" id="{21926900-1E65-4A35-9915-9F085291B24C}"/>
              </a:ext>
            </a:extLst>
          </p:cNvPr>
          <p:cNvSpPr>
            <a:spLocks xmlns:a="http://schemas.openxmlformats.org/drawingml/2006/main" noGrp="1"/>
          </p:cNvSpPr>
          <p:nvPr/>
        </p:nvSpPr>
        <p:spPr>
          <a:xfrm xmlns:a="http://schemas.openxmlformats.org/drawingml/2006/main">
            <a:off x="685800" y="9715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E7180"/>
                </a:solidFill>
                <a:latin typeface="Aptos"/>
                <a:ea typeface="Aptos"/>
                <a:cs typeface="Aptos"/>
              </a:defRPr>
            </a:pPr>
            <a:r>
              <a:rPr sz="1350" b="0">
                <a:solidFill>
                  <a:srgbClr val="5E7180"/>
                </a:solidFill>
                <a:latin typeface="Aptos"/>
                <a:ea typeface="Aptos"/>
                <a:cs typeface="Aptos"/>
              </a:rPr>
              <a:t>Separate stopping and selection windows. Three seeds: 42, 43 and 44. Maximum 30 epochs.</a:t>
            </a:r>
          </a:p>
        </p:txBody>
      </p:sp>
      <p:sp>
        <p:nvSpPr>
          <p:cNvPr id="3" name="">
            <a:extLst xmlns:a="http://schemas.openxmlformats.org/drawingml/2006/main">
              <a:ext uri="{FF2B5EF4-FFF2-40B4-BE49-F238E27FC236}">
                <a16:creationId xmlns:a16="http://schemas.microsoft.com/office/drawing/2014/main" id="{2293AE6C-3CD1-4F40-967A-A3356B7DB688}"/>
              </a:ext>
            </a:extLst>
          </p:cNvPr>
          <p:cNvSpPr>
            <a:spLocks xmlns:a="http://schemas.openxmlformats.org/drawingml/2006/main" noGrp="1"/>
          </p:cNvSpPr>
          <p:nvPr/>
        </p:nvSpPr>
        <p:spPr>
          <a:xfrm xmlns:a="http://schemas.openxmlformats.org/drawingml/2006/main">
            <a:off x="666750" y="1409700"/>
            <a:ext cx="876300" cy="38100"/>
          </a:xfrm>
          <a:prstGeom xmlns:a="http://schemas.openxmlformats.org/drawingml/2006/main" prst="rect">
            <a:avLst/>
          </a:prstGeom>
          <a:solidFill xmlns:a="http://schemas.openxmlformats.org/drawingml/2006/main">
            <a:srgbClr val="1FB6A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8D983FE-9C38-411E-B749-F860C07AFAFA}"/>
              </a:ext>
            </a:extLst>
          </p:cNvPr>
          <p:cNvSpPr>
            <a:spLocks xmlns:a="http://schemas.openxmlformats.org/drawingml/2006/main" noGrp="1"/>
          </p:cNvSpPr>
          <p:nvPr/>
        </p:nvSpPr>
        <p:spPr>
          <a:xfrm xmlns:a="http://schemas.openxmlformats.org/drawingml/2006/main">
            <a:off x="685800" y="64008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E7180"/>
                </a:solidFill>
                <a:latin typeface="Aptos"/>
                <a:ea typeface="Aptos"/>
                <a:cs typeface="Aptos"/>
              </a:defRPr>
            </a:pPr>
            <a:r>
              <a:rPr sz="900" b="0">
                <a:solidFill>
                  <a:srgbClr val="5E7180"/>
                </a:solidFill>
                <a:latin typeface="Aptos"/>
                <a:ea typeface="Aptos"/>
                <a:cs typeface="Aptos"/>
              </a:rPr>
              <a:t>NOEMA  /  Factored AI &amp; Data Hackathon 2026</a:t>
            </a:r>
          </a:p>
        </p:txBody>
      </p:sp>
      <p:sp>
        <p:nvSpPr>
          <p:cNvPr id="5" name="">
            <a:extLst xmlns:a="http://schemas.openxmlformats.org/drawingml/2006/main">
              <a:ext uri="{FF2B5EF4-FFF2-40B4-BE49-F238E27FC236}">
                <a16:creationId xmlns:a16="http://schemas.microsoft.com/office/drawing/2014/main" id="{9D1D3DCE-AACA-4DF9-894F-775D6E8ECEE6}"/>
              </a:ext>
            </a:extLst>
          </p:cNvPr>
          <p:cNvSpPr>
            <a:spLocks xmlns:a="http://schemas.openxmlformats.org/drawingml/2006/main" noGrp="1"/>
          </p:cNvSpPr>
          <p:nvPr/>
        </p:nvSpPr>
        <p:spPr>
          <a:xfrm xmlns:a="http://schemas.openxmlformats.org/drawingml/2006/main">
            <a:off x="11096625" y="64008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5E7180"/>
                </a:solidFill>
                <a:latin typeface="Aptos"/>
                <a:ea typeface="Aptos"/>
                <a:cs typeface="Aptos"/>
              </a:defRPr>
            </a:pPr>
            <a:r>
              <a:rPr sz="900" b="1">
                <a:solidFill>
                  <a:srgbClr val="5E7180"/>
                </a:solidFill>
                <a:latin typeface="Aptos"/>
                <a:ea typeface="Aptos"/>
                <a:cs typeface="Aptos"/>
              </a:rPr>
              <a:t>08</a:t>
            </a:r>
          </a:p>
        </p:txBody>
      </p:sp>
      <p:graphicFrame>
        <p:nvGraphicFramePr>
          <p:cNvPr id="17" name=""/>
          <p:cNvGraphicFramePr/>
          <p:nvPr/>
        </p:nvGraphicFramePr>
        <p:xfrm>
          <a:off xmlns:a="http://schemas.openxmlformats.org/drawingml/2006/main" x="685800" y="1733550"/>
          <a:ext xmlns:a="http://schemas.openxmlformats.org/drawingml/2006/main" cx="10820400" cy="2457450"/>
        </p:xfrm>
        <a:graphic xmlns:a="http://schemas.openxmlformats.org/drawingml/2006/main">
          <a:graphicData uri="http://schemas.openxmlformats.org/drawingml/2006/table">
            <a:tbl>
              <a:tblPr firstRow="1" bandRow="0"/>
              <a:tblGrid>
                <a:gridCol w="2552700"/>
                <a:gridCol w="1905000"/>
                <a:gridCol w="2152650"/>
                <a:gridCol w="2057400"/>
                <a:gridCol w="2152650"/>
              </a:tblGrid>
              <a:tr h="614363">
                <a:tc>
                  <a:txBody>
                    <a:bodyPr>
                      <a:noAutofit/>
                    </a:bodyPr>
                    <a:lstStyle/>
                    <a:p>
                      <a:r>
                        <a:rPr sz="1425" b="1">
                          <a:solidFill>
                            <a:srgbClr val="FFFFFF"/>
                          </a:solidFill>
                          <a:latin typeface="Aptos"/>
                          <a:ea typeface="Aptos"/>
                          <a:cs typeface="Aptos"/>
                        </a:rPr>
                        <a:t>Candidate</a:t>
                      </a:r>
                    </a:p>
                  </a:txBody>
                  <a:tcPr marL="91440" marR="91440" marT="45720" marB="45720">
                    <a:solidFill>
                      <a:srgbClr val="071826"/>
                    </a:solidFill>
                  </a:tcPr>
                </a:tc>
                <a:tc>
                  <a:txBody>
                    <a:bodyPr>
                      <a:noAutofit/>
                    </a:bodyPr>
                    <a:lstStyle/>
                    <a:p>
                      <a:r>
                        <a:rPr sz="1425" b="1">
                          <a:solidFill>
                            <a:srgbClr val="FFFFFF"/>
                          </a:solidFill>
                          <a:latin typeface="Aptos"/>
                          <a:ea typeface="Aptos"/>
                          <a:cs typeface="Aptos"/>
                        </a:rPr>
                        <a:t>Parameters</a:t>
                      </a:r>
                    </a:p>
                  </a:txBody>
                  <a:tcPr marL="91440" marR="91440" marT="45720" marB="45720">
                    <a:solidFill>
                      <a:srgbClr val="071826"/>
                    </a:solidFill>
                  </a:tcPr>
                </a:tc>
                <a:tc>
                  <a:txBody>
                    <a:bodyPr>
                      <a:noAutofit/>
                    </a:bodyPr>
                    <a:lstStyle/>
                    <a:p>
                      <a:r>
                        <a:rPr sz="1425" b="1">
                          <a:solidFill>
                            <a:srgbClr val="FFFFFF"/>
                          </a:solidFill>
                          <a:latin typeface="Aptos"/>
                          <a:ea typeface="Aptos"/>
                          <a:cs typeface="Aptos"/>
                        </a:rPr>
                        <a:t>Selection AUC</a:t>
                      </a:r>
                    </a:p>
                  </a:txBody>
                  <a:tcPr marL="91440" marR="91440" marT="45720" marB="45720">
                    <a:solidFill>
                      <a:srgbClr val="071826"/>
                    </a:solidFill>
                  </a:tcPr>
                </a:tc>
                <a:tc>
                  <a:txBody>
                    <a:bodyPr>
                      <a:noAutofit/>
                    </a:bodyPr>
                    <a:lstStyle/>
                    <a:p>
                      <a:r>
                        <a:rPr sz="1425" b="1">
                          <a:solidFill>
                            <a:srgbClr val="FFFFFF"/>
                          </a:solidFill>
                          <a:latin typeface="Aptos"/>
                          <a:ea typeface="Aptos"/>
                          <a:cs typeface="Aptos"/>
                        </a:rPr>
                        <a:t>Selection AP</a:t>
                      </a:r>
                    </a:p>
                  </a:txBody>
                  <a:tcPr marL="91440" marR="91440" marT="45720" marB="45720">
                    <a:solidFill>
                      <a:srgbClr val="071826"/>
                    </a:solidFill>
                  </a:tcPr>
                </a:tc>
                <a:tc>
                  <a:txBody>
                    <a:bodyPr>
                      <a:noAutofit/>
                    </a:bodyPr>
                    <a:lstStyle/>
                    <a:p>
                      <a:r>
                        <a:rPr sz="1425" b="1">
                          <a:solidFill>
                            <a:srgbClr val="FFFFFF"/>
                          </a:solidFill>
                          <a:latin typeface="Aptos"/>
                          <a:ea typeface="Aptos"/>
                          <a:cs typeface="Aptos"/>
                        </a:rPr>
                        <a:t>Selection loss</a:t>
                      </a:r>
                    </a:p>
                  </a:txBody>
                  <a:tcPr marL="91440" marR="91440" marT="45720" marB="45720">
                    <a:solidFill>
                      <a:srgbClr val="071826"/>
                    </a:solidFill>
                  </a:tcPr>
                </a:tc>
              </a:tr>
              <a:tr h="614363">
                <a:tc>
                  <a:txBody>
                    <a:bodyPr>
                      <a:noAutofit/>
                    </a:bodyPr>
                    <a:lstStyle/>
                    <a:p>
                      <a:r>
                        <a:rPr sz="1425" b="1">
                          <a:solidFill>
                            <a:srgbClr val="132433"/>
                          </a:solidFill>
                          <a:latin typeface="Aptos"/>
                          <a:ea typeface="Aptos"/>
                          <a:cs typeface="Aptos"/>
                        </a:rPr>
                        <a:t>Logistic</a:t>
                      </a:r>
                    </a:p>
                  </a:txBody>
                  <a:tcPr marL="91440" marR="91440" marT="45720" marB="45720">
                    <a:solidFill>
                      <a:srgbClr val="FFFFFF"/>
                    </a:solidFill>
                  </a:tcPr>
                </a:tc>
                <a:tc>
                  <a:txBody>
                    <a:bodyPr>
                      <a:noAutofit/>
                    </a:bodyPr>
                    <a:lstStyle/>
                    <a:p>
                      <a:r>
                        <a:rPr sz="1425" b="0">
                          <a:solidFill>
                            <a:srgbClr val="132433"/>
                          </a:solidFill>
                          <a:latin typeface="Aptos"/>
                          <a:ea typeface="Aptos"/>
                          <a:cs typeface="Aptos"/>
                        </a:rPr>
                        <a:t>Linear model</a:t>
                      </a:r>
                    </a:p>
                  </a:txBody>
                  <a:tcPr marL="91440" marR="91440" marT="45720" marB="45720">
                    <a:solidFill>
                      <a:srgbClr val="FFFFFF"/>
                    </a:solidFill>
                  </a:tcPr>
                </a:tc>
                <a:tc>
                  <a:txBody>
                    <a:bodyPr>
                      <a:noAutofit/>
                    </a:bodyPr>
                    <a:lstStyle/>
                    <a:p>
                      <a:r>
                        <a:rPr sz="1425" b="0">
                          <a:solidFill>
                            <a:srgbClr val="132433"/>
                          </a:solidFill>
                          <a:latin typeface="Aptos"/>
                          <a:ea typeface="Aptos"/>
                          <a:cs typeface="Aptos"/>
                        </a:rPr>
                        <a:t>0.6572</a:t>
                      </a:r>
                    </a:p>
                  </a:txBody>
                  <a:tcPr marL="91440" marR="91440" marT="45720" marB="45720">
                    <a:solidFill>
                      <a:srgbClr val="FFFFFF"/>
                    </a:solidFill>
                  </a:tcPr>
                </a:tc>
                <a:tc>
                  <a:txBody>
                    <a:bodyPr>
                      <a:noAutofit/>
                    </a:bodyPr>
                    <a:lstStyle/>
                    <a:p>
                      <a:r>
                        <a:rPr sz="1425" b="0">
                          <a:solidFill>
                            <a:srgbClr val="132433"/>
                          </a:solidFill>
                          <a:latin typeface="Aptos"/>
                          <a:ea typeface="Aptos"/>
                          <a:cs typeface="Aptos"/>
                        </a:rPr>
                        <a:t>0.00805</a:t>
                      </a:r>
                    </a:p>
                  </a:txBody>
                  <a:tcPr marL="91440" marR="91440" marT="45720" marB="45720">
                    <a:solidFill>
                      <a:srgbClr val="FFFFFF"/>
                    </a:solidFill>
                  </a:tcPr>
                </a:tc>
                <a:tc>
                  <a:txBody>
                    <a:bodyPr>
                      <a:noAutofit/>
                    </a:bodyPr>
                    <a:lstStyle/>
                    <a:p>
                      <a:r>
                        <a:rPr sz="1425" b="0">
                          <a:solidFill>
                            <a:srgbClr val="132433"/>
                          </a:solidFill>
                          <a:latin typeface="Aptos"/>
                          <a:ea typeface="Aptos"/>
                          <a:cs typeface="Aptos"/>
                        </a:rPr>
                        <a:t>0.03235</a:t>
                      </a:r>
                    </a:p>
                  </a:txBody>
                  <a:tcPr marL="91440" marR="91440" marT="45720" marB="45720">
                    <a:solidFill>
                      <a:srgbClr val="FFFFFF"/>
                    </a:solidFill>
                  </a:tcPr>
                </a:tc>
              </a:tr>
              <a:tr h="614363">
                <a:tc>
                  <a:txBody>
                    <a:bodyPr>
                      <a:noAutofit/>
                    </a:bodyPr>
                    <a:lstStyle/>
                    <a:p>
                      <a:r>
                        <a:rPr sz="1425" b="1">
                          <a:solidFill>
                            <a:srgbClr val="132433"/>
                          </a:solidFill>
                          <a:latin typeface="Aptos"/>
                          <a:ea typeface="Aptos"/>
                          <a:cs typeface="Aptos"/>
                        </a:rPr>
                        <a:t>3 hidden layers</a:t>
                      </a:r>
                    </a:p>
                  </a:txBody>
                  <a:tcPr marL="91440" marR="91440" marT="45720" marB="45720">
                    <a:solidFill>
                      <a:srgbClr val="EDF3F4"/>
                    </a:solidFill>
                  </a:tcPr>
                </a:tc>
                <a:tc>
                  <a:txBody>
                    <a:bodyPr>
                      <a:noAutofit/>
                    </a:bodyPr>
                    <a:lstStyle/>
                    <a:p>
                      <a:r>
                        <a:rPr sz="1425" b="0">
                          <a:solidFill>
                            <a:srgbClr val="132433"/>
                          </a:solidFill>
                          <a:latin typeface="Aptos"/>
                          <a:ea typeface="Aptos"/>
                          <a:cs typeface="Aptos"/>
                        </a:rPr>
                        <a:t>1,153</a:t>
                      </a:r>
                    </a:p>
                  </a:txBody>
                  <a:tcPr marL="91440" marR="91440" marT="45720" marB="45720">
                    <a:solidFill>
                      <a:srgbClr val="EDF3F4"/>
                    </a:solidFill>
                  </a:tcPr>
                </a:tc>
                <a:tc>
                  <a:txBody>
                    <a:bodyPr>
                      <a:noAutofit/>
                    </a:bodyPr>
                    <a:lstStyle/>
                    <a:p>
                      <a:r>
                        <a:rPr sz="1425" b="0">
                          <a:solidFill>
                            <a:srgbClr val="132433"/>
                          </a:solidFill>
                          <a:latin typeface="Aptos"/>
                          <a:ea typeface="Aptos"/>
                          <a:cs typeface="Aptos"/>
                        </a:rPr>
                        <a:t>0.6557</a:t>
                      </a:r>
                    </a:p>
                  </a:txBody>
                  <a:tcPr marL="91440" marR="91440" marT="45720" marB="45720">
                    <a:solidFill>
                      <a:srgbClr val="EDF3F4"/>
                    </a:solidFill>
                  </a:tcPr>
                </a:tc>
                <a:tc>
                  <a:txBody>
                    <a:bodyPr>
                      <a:noAutofit/>
                    </a:bodyPr>
                    <a:lstStyle/>
                    <a:p>
                      <a:r>
                        <a:rPr sz="1425" b="0">
                          <a:solidFill>
                            <a:srgbClr val="132433"/>
                          </a:solidFill>
                          <a:latin typeface="Aptos"/>
                          <a:ea typeface="Aptos"/>
                          <a:cs typeface="Aptos"/>
                        </a:rPr>
                        <a:t>0.00837</a:t>
                      </a:r>
                    </a:p>
                  </a:txBody>
                  <a:tcPr marL="91440" marR="91440" marT="45720" marB="45720">
                    <a:solidFill>
                      <a:srgbClr val="EDF3F4"/>
                    </a:solidFill>
                  </a:tcPr>
                </a:tc>
                <a:tc>
                  <a:txBody>
                    <a:bodyPr>
                      <a:noAutofit/>
                    </a:bodyPr>
                    <a:lstStyle/>
                    <a:p>
                      <a:r>
                        <a:rPr sz="1425" b="0">
                          <a:solidFill>
                            <a:srgbClr val="132433"/>
                          </a:solidFill>
                          <a:latin typeface="Aptos"/>
                          <a:ea typeface="Aptos"/>
                          <a:cs typeface="Aptos"/>
                        </a:rPr>
                        <a:t>0.03256</a:t>
                      </a:r>
                    </a:p>
                  </a:txBody>
                  <a:tcPr marL="91440" marR="91440" marT="45720" marB="45720">
                    <a:solidFill>
                      <a:srgbClr val="EDF3F4"/>
                    </a:solidFill>
                  </a:tcPr>
                </a:tc>
              </a:tr>
              <a:tr h="614363">
                <a:tc>
                  <a:txBody>
                    <a:bodyPr>
                      <a:noAutofit/>
                    </a:bodyPr>
                    <a:lstStyle/>
                    <a:p>
                      <a:r>
                        <a:rPr sz="1425" b="1">
                          <a:solidFill>
                            <a:srgbClr val="132433"/>
                          </a:solidFill>
                          <a:latin typeface="Aptos"/>
                          <a:ea typeface="Aptos"/>
                          <a:cs typeface="Aptos"/>
                        </a:rPr>
                        <a:t>6 hidden layers</a:t>
                      </a:r>
                    </a:p>
                  </a:txBody>
                  <a:tcPr marL="91440" marR="91440" marT="45720" marB="45720">
                    <a:solidFill>
                      <a:srgbClr val="FFFFFF"/>
                    </a:solidFill>
                  </a:tcPr>
                </a:tc>
                <a:tc>
                  <a:txBody>
                    <a:bodyPr>
                      <a:noAutofit/>
                    </a:bodyPr>
                    <a:lstStyle/>
                    <a:p>
                      <a:r>
                        <a:rPr sz="1425" b="0">
                          <a:solidFill>
                            <a:srgbClr val="132433"/>
                          </a:solidFill>
                          <a:latin typeface="Aptos"/>
                          <a:ea typeface="Aptos"/>
                          <a:cs typeface="Aptos"/>
                        </a:rPr>
                        <a:t>2,553</a:t>
                      </a:r>
                    </a:p>
                  </a:txBody>
                  <a:tcPr marL="91440" marR="91440" marT="45720" marB="45720">
                    <a:solidFill>
                      <a:srgbClr val="FFFFFF"/>
                    </a:solidFill>
                  </a:tcPr>
                </a:tc>
                <a:tc>
                  <a:txBody>
                    <a:bodyPr>
                      <a:noAutofit/>
                    </a:bodyPr>
                    <a:lstStyle/>
                    <a:p>
                      <a:r>
                        <a:rPr sz="1425" b="0">
                          <a:solidFill>
                            <a:srgbClr val="132433"/>
                          </a:solidFill>
                          <a:latin typeface="Aptos"/>
                          <a:ea typeface="Aptos"/>
                          <a:cs typeface="Aptos"/>
                        </a:rPr>
                        <a:t>0.6495</a:t>
                      </a:r>
                    </a:p>
                  </a:txBody>
                  <a:tcPr marL="91440" marR="91440" marT="45720" marB="45720">
                    <a:solidFill>
                      <a:srgbClr val="FFFFFF"/>
                    </a:solidFill>
                  </a:tcPr>
                </a:tc>
                <a:tc>
                  <a:txBody>
                    <a:bodyPr>
                      <a:noAutofit/>
                    </a:bodyPr>
                    <a:lstStyle/>
                    <a:p>
                      <a:r>
                        <a:rPr sz="1425" b="0">
                          <a:solidFill>
                            <a:srgbClr val="132433"/>
                          </a:solidFill>
                          <a:latin typeface="Aptos"/>
                          <a:ea typeface="Aptos"/>
                          <a:cs typeface="Aptos"/>
                        </a:rPr>
                        <a:t>0.00799</a:t>
                      </a:r>
                    </a:p>
                  </a:txBody>
                  <a:tcPr marL="91440" marR="91440" marT="45720" marB="45720">
                    <a:solidFill>
                      <a:srgbClr val="FFFFFF"/>
                    </a:solidFill>
                  </a:tcPr>
                </a:tc>
                <a:tc>
                  <a:txBody>
                    <a:bodyPr>
                      <a:noAutofit/>
                    </a:bodyPr>
                    <a:lstStyle/>
                    <a:p>
                      <a:r>
                        <a:rPr sz="1425" b="0">
                          <a:solidFill>
                            <a:srgbClr val="132433"/>
                          </a:solidFill>
                          <a:latin typeface="Aptos"/>
                          <a:ea typeface="Aptos"/>
                          <a:cs typeface="Aptos"/>
                        </a:rPr>
                        <a:t>0.03258</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3A078713-9B89-4129-81CB-7AE68A664DB7}"/>
              </a:ext>
            </a:extLst>
          </p:cNvPr>
          <p:cNvSpPr>
            <a:spLocks xmlns:a="http://schemas.openxmlformats.org/drawingml/2006/main" noGrp="1"/>
          </p:cNvSpPr>
          <p:nvPr/>
        </p:nvSpPr>
        <p:spPr>
          <a:xfrm xmlns:a="http://schemas.openxmlformats.org/drawingml/2006/main">
            <a:off x="723900" y="451485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2433"/>
                </a:solidFill>
                <a:latin typeface="Aptos"/>
                <a:ea typeface="Aptos"/>
                <a:cs typeface="Aptos"/>
              </a:defRPr>
            </a:pPr>
            <a:r>
              <a:rPr sz="1725" b="1">
                <a:solidFill>
                  <a:srgbClr val="132433"/>
                </a:solidFill>
                <a:latin typeface="Aptos"/>
                <a:ea typeface="Aptos"/>
                <a:cs typeface="Aptos"/>
              </a:rPr>
              <a:t>What changed</a:t>
            </a:r>
          </a:p>
        </p:txBody>
      </p:sp>
      <p:sp>
        <p:nvSpPr>
          <p:cNvPr id="8" name="">
            <a:extLst xmlns:a="http://schemas.openxmlformats.org/drawingml/2006/main">
              <a:ext uri="{FF2B5EF4-FFF2-40B4-BE49-F238E27FC236}">
                <a16:creationId xmlns:a16="http://schemas.microsoft.com/office/drawing/2014/main" id="{08580778-CAF9-41D1-8406-2F9258AAA098}"/>
              </a:ext>
            </a:extLst>
          </p:cNvPr>
          <p:cNvSpPr>
            <a:spLocks xmlns:a="http://schemas.openxmlformats.org/drawingml/2006/main" noGrp="1"/>
          </p:cNvSpPr>
          <p:nvPr/>
        </p:nvSpPr>
        <p:spPr>
          <a:xfrm xmlns:a="http://schemas.openxmlformats.org/drawingml/2006/main">
            <a:off x="723900" y="4876800"/>
            <a:ext cx="5143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Depth more than doubled the parameter count.</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Early stopping and L2 constrained overfitting.</a:t>
            </a:r>
          </a:p>
        </p:txBody>
      </p:sp>
      <p:sp>
        <p:nvSpPr>
          <p:cNvPr id="9" name="">
            <a:extLst xmlns:a="http://schemas.openxmlformats.org/drawingml/2006/main">
              <a:ext uri="{FF2B5EF4-FFF2-40B4-BE49-F238E27FC236}">
                <a16:creationId xmlns:a16="http://schemas.microsoft.com/office/drawing/2014/main" id="{598BEAAE-DC33-415E-AA26-F38CB3FE356C}"/>
              </a:ext>
            </a:extLst>
          </p:cNvPr>
          <p:cNvSpPr>
            <a:spLocks xmlns:a="http://schemas.openxmlformats.org/drawingml/2006/main" noGrp="1"/>
          </p:cNvSpPr>
          <p:nvPr/>
        </p:nvSpPr>
        <p:spPr>
          <a:xfrm xmlns:a="http://schemas.openxmlformats.org/drawingml/2006/main">
            <a:off x="6362700" y="4514850"/>
            <a:ext cx="5105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2433"/>
                </a:solidFill>
                <a:latin typeface="Aptos"/>
                <a:ea typeface="Aptos"/>
                <a:cs typeface="Aptos"/>
              </a:defRPr>
            </a:pPr>
            <a:r>
              <a:rPr sz="1725" b="1">
                <a:solidFill>
                  <a:srgbClr val="132433"/>
                </a:solidFill>
                <a:latin typeface="Aptos"/>
                <a:ea typeface="Aptos"/>
                <a:cs typeface="Aptos"/>
              </a:rPr>
              <a:t>What the comparison supports</a:t>
            </a:r>
          </a:p>
        </p:txBody>
      </p:sp>
      <p:sp>
        <p:nvSpPr>
          <p:cNvPr id="10" name="">
            <a:extLst xmlns:a="http://schemas.openxmlformats.org/drawingml/2006/main">
              <a:ext uri="{FF2B5EF4-FFF2-40B4-BE49-F238E27FC236}">
                <a16:creationId xmlns:a16="http://schemas.microsoft.com/office/drawing/2014/main" id="{5674F9ED-5AFE-4DF1-81A2-5A82301D1F99}"/>
              </a:ext>
            </a:extLst>
          </p:cNvPr>
          <p:cNvSpPr>
            <a:spLocks xmlns:a="http://schemas.openxmlformats.org/drawingml/2006/main" noGrp="1"/>
          </p:cNvSpPr>
          <p:nvPr/>
        </p:nvSpPr>
        <p:spPr>
          <a:xfrm xmlns:a="http://schemas.openxmlformats.org/drawingml/2006/main">
            <a:off x="6362700" y="4876800"/>
            <a:ext cx="5105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The shallower network had better mean results.</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Logistic retained the best selection log loss.</a:t>
            </a:r>
          </a:p>
        </p:txBody>
      </p:sp>
      <p:sp>
        <p:nvSpPr>
          <p:cNvPr id="11" name="">
            <a:extLst xmlns:a="http://schemas.openxmlformats.org/drawingml/2006/main">
              <a:ext uri="{FF2B5EF4-FFF2-40B4-BE49-F238E27FC236}">
                <a16:creationId xmlns:a16="http://schemas.microsoft.com/office/drawing/2014/main" id="{0D0A6FA3-FB19-4F81-8C18-4AFD1D73EA9B}"/>
              </a:ext>
            </a:extLst>
          </p:cNvPr>
          <p:cNvSpPr>
            <a:spLocks xmlns:a="http://schemas.openxmlformats.org/drawingml/2006/main" noGrp="1"/>
          </p:cNvSpPr>
          <p:nvPr/>
        </p:nvSpPr>
        <p:spPr>
          <a:xfrm xmlns:a="http://schemas.openxmlformats.org/drawingml/2006/main">
            <a:off x="704850" y="575310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E7180"/>
                </a:solidFill>
                <a:latin typeface="Aptos"/>
                <a:ea typeface="Aptos"/>
                <a:cs typeface="Aptos"/>
              </a:defRPr>
            </a:pPr>
            <a:r>
              <a:rPr sz="1275" b="0">
                <a:solidFill>
                  <a:srgbClr val="5E7180"/>
                </a:solidFill>
                <a:latin typeface="Aptos"/>
                <a:ea typeface="Aptos"/>
                <a:cs typeface="Aptos"/>
              </a:rPr>
              <a:t>Neural rows report means across seeds. The reused test is not an independent confirmation of model improvements.</a:t>
            </a:r>
          </a:p>
        </p:txBody>
      </p:sp>
    </p:spTree>
    <p:extLst>
      <p:ext uri="{BB962C8B-B14F-4D97-AF65-F5344CB8AC3E}">
        <p14:creationId xmlns:p14="http://schemas.microsoft.com/office/powerpoint/2010/main" val="53447227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5DB42BD-E2D4-4CF1-9596-53731FA1D155}"/>
              </a:ext>
            </a:extLst>
          </p:cNvPr>
          <p:cNvSpPr>
            <a:spLocks xmlns:a="http://schemas.openxmlformats.org/drawingml/2006/main" noGrp="1"/>
          </p:cNvSpPr>
          <p:nvPr/>
        </p:nvSpPr>
        <p:spPr>
          <a:xfrm xmlns:a="http://schemas.openxmlformats.org/drawingml/2006/main">
            <a:off x="666750" y="4000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32433"/>
                </a:solidFill>
                <a:latin typeface="Aptos"/>
                <a:ea typeface="Aptos"/>
                <a:cs typeface="Aptos"/>
              </a:defRPr>
            </a:pPr>
            <a:r>
              <a:rPr sz="2550" b="1">
                <a:solidFill>
                  <a:srgbClr val="132433"/>
                </a:solidFill>
                <a:latin typeface="Aptos"/>
                <a:ea typeface="Aptos"/>
                <a:cs typeface="Aptos"/>
              </a:rPr>
              <a:t>Other model experiments and evidence limits</a:t>
            </a:r>
          </a:p>
        </p:txBody>
      </p:sp>
      <p:sp>
        <p:nvSpPr>
          <p:cNvPr id="2" name="">
            <a:extLst xmlns:a="http://schemas.openxmlformats.org/drawingml/2006/main">
              <a:ext uri="{FF2B5EF4-FFF2-40B4-BE49-F238E27FC236}">
                <a16:creationId xmlns:a16="http://schemas.microsoft.com/office/drawing/2014/main" id="{5C5E6F45-3B95-433E-A5E1-E580201B469E}"/>
              </a:ext>
            </a:extLst>
          </p:cNvPr>
          <p:cNvSpPr>
            <a:spLocks xmlns:a="http://schemas.openxmlformats.org/drawingml/2006/main" noGrp="1"/>
          </p:cNvSpPr>
          <p:nvPr/>
        </p:nvSpPr>
        <p:spPr>
          <a:xfrm xmlns:a="http://schemas.openxmlformats.org/drawingml/2006/main">
            <a:off x="685800" y="9715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E7180"/>
                </a:solidFill>
                <a:latin typeface="Aptos"/>
                <a:ea typeface="Aptos"/>
                <a:cs typeface="Aptos"/>
              </a:defRPr>
            </a:pPr>
            <a:r>
              <a:rPr sz="1350" b="0">
                <a:solidFill>
                  <a:srgbClr val="5E7180"/>
                </a:solidFill>
                <a:latin typeface="Aptos"/>
                <a:ea typeface="Aptos"/>
                <a:cs typeface="Aptos"/>
              </a:rPr>
              <a:t>A trained artifact alone does not establish useful predictive performance.</a:t>
            </a:r>
          </a:p>
        </p:txBody>
      </p:sp>
      <p:sp>
        <p:nvSpPr>
          <p:cNvPr id="3" name="">
            <a:extLst xmlns:a="http://schemas.openxmlformats.org/drawingml/2006/main">
              <a:ext uri="{FF2B5EF4-FFF2-40B4-BE49-F238E27FC236}">
                <a16:creationId xmlns:a16="http://schemas.microsoft.com/office/drawing/2014/main" id="{5D30E6C6-92C8-40A7-BA10-6C50D8706024}"/>
              </a:ext>
            </a:extLst>
          </p:cNvPr>
          <p:cNvSpPr>
            <a:spLocks xmlns:a="http://schemas.openxmlformats.org/drawingml/2006/main" noGrp="1"/>
          </p:cNvSpPr>
          <p:nvPr/>
        </p:nvSpPr>
        <p:spPr>
          <a:xfrm xmlns:a="http://schemas.openxmlformats.org/drawingml/2006/main">
            <a:off x="666750" y="1409700"/>
            <a:ext cx="876300" cy="38100"/>
          </a:xfrm>
          <a:prstGeom xmlns:a="http://schemas.openxmlformats.org/drawingml/2006/main" prst="rect">
            <a:avLst/>
          </a:prstGeom>
          <a:solidFill xmlns:a="http://schemas.openxmlformats.org/drawingml/2006/main">
            <a:srgbClr val="1FB6A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10FD12C-5068-41D5-9E5E-B22059533FD7}"/>
              </a:ext>
            </a:extLst>
          </p:cNvPr>
          <p:cNvSpPr>
            <a:spLocks xmlns:a="http://schemas.openxmlformats.org/drawingml/2006/main" noGrp="1"/>
          </p:cNvSpPr>
          <p:nvPr/>
        </p:nvSpPr>
        <p:spPr>
          <a:xfrm xmlns:a="http://schemas.openxmlformats.org/drawingml/2006/main">
            <a:off x="685800" y="64008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E7180"/>
                </a:solidFill>
                <a:latin typeface="Aptos"/>
                <a:ea typeface="Aptos"/>
                <a:cs typeface="Aptos"/>
              </a:defRPr>
            </a:pPr>
            <a:r>
              <a:rPr sz="900" b="0">
                <a:solidFill>
                  <a:srgbClr val="5E7180"/>
                </a:solidFill>
                <a:latin typeface="Aptos"/>
                <a:ea typeface="Aptos"/>
                <a:cs typeface="Aptos"/>
              </a:rPr>
              <a:t>NOEMA  /  Factored AI &amp; Data Hackathon 2026</a:t>
            </a:r>
          </a:p>
        </p:txBody>
      </p:sp>
      <p:sp>
        <p:nvSpPr>
          <p:cNvPr id="5" name="">
            <a:extLst xmlns:a="http://schemas.openxmlformats.org/drawingml/2006/main">
              <a:ext uri="{FF2B5EF4-FFF2-40B4-BE49-F238E27FC236}">
                <a16:creationId xmlns:a16="http://schemas.microsoft.com/office/drawing/2014/main" id="{5476C63A-ACA3-40D6-BFAB-AF7E78A61DC6}"/>
              </a:ext>
            </a:extLst>
          </p:cNvPr>
          <p:cNvSpPr>
            <a:spLocks xmlns:a="http://schemas.openxmlformats.org/drawingml/2006/main" noGrp="1"/>
          </p:cNvSpPr>
          <p:nvPr/>
        </p:nvSpPr>
        <p:spPr>
          <a:xfrm xmlns:a="http://schemas.openxmlformats.org/drawingml/2006/main">
            <a:off x="11096625" y="64008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5E7180"/>
                </a:solidFill>
                <a:latin typeface="Aptos"/>
                <a:ea typeface="Aptos"/>
                <a:cs typeface="Aptos"/>
              </a:defRPr>
            </a:pPr>
            <a:r>
              <a:rPr sz="900" b="1">
                <a:solidFill>
                  <a:srgbClr val="5E7180"/>
                </a:solidFill>
                <a:latin typeface="Aptos"/>
                <a:ea typeface="Aptos"/>
                <a:cs typeface="Aptos"/>
              </a:rPr>
              <a:t>09</a:t>
            </a:r>
          </a:p>
        </p:txBody>
      </p:sp>
      <p:graphicFrame>
        <p:nvGraphicFramePr>
          <p:cNvPr id="13" name=""/>
          <p:cNvGraphicFramePr/>
          <p:nvPr/>
        </p:nvGraphicFramePr>
        <p:xfrm>
          <a:off xmlns:a="http://schemas.openxmlformats.org/drawingml/2006/main" x="685800" y="1724025"/>
          <a:ext xmlns:a="http://schemas.openxmlformats.org/drawingml/2006/main" cx="10820400" cy="3143250"/>
        </p:xfrm>
        <a:graphic xmlns:a="http://schemas.openxmlformats.org/drawingml/2006/main">
          <a:graphicData uri="http://schemas.openxmlformats.org/drawingml/2006/table">
            <a:tbl>
              <a:tblPr firstRow="1" bandRow="0"/>
              <a:tblGrid>
                <a:gridCol w="3000375"/>
                <a:gridCol w="3790950"/>
                <a:gridCol w="4029075"/>
              </a:tblGrid>
              <a:tr h="785813">
                <a:tc>
                  <a:txBody>
                    <a:bodyPr>
                      <a:noAutofit/>
                    </a:bodyPr>
                    <a:lstStyle/>
                    <a:p>
                      <a:r>
                        <a:rPr sz="1500" b="1">
                          <a:solidFill>
                            <a:srgbClr val="FFFFFF"/>
                          </a:solidFill>
                          <a:latin typeface="Aptos"/>
                          <a:ea typeface="Aptos"/>
                          <a:cs typeface="Aptos"/>
                        </a:rPr>
                        <a:t>Experiment</a:t>
                      </a:r>
                    </a:p>
                  </a:txBody>
                  <a:tcPr marL="91440" marR="91440" marT="45720" marB="45720">
                    <a:solidFill>
                      <a:srgbClr val="071826"/>
                    </a:solidFill>
                  </a:tcPr>
                </a:tc>
                <a:tc>
                  <a:txBody>
                    <a:bodyPr>
                      <a:noAutofit/>
                    </a:bodyPr>
                    <a:lstStyle/>
                    <a:p>
                      <a:r>
                        <a:rPr sz="1500" b="1">
                          <a:solidFill>
                            <a:srgbClr val="FFFFFF"/>
                          </a:solidFill>
                          <a:latin typeface="Aptos"/>
                          <a:ea typeface="Aptos"/>
                          <a:cs typeface="Aptos"/>
                        </a:rPr>
                        <a:t>Recorded result</a:t>
                      </a:r>
                    </a:p>
                  </a:txBody>
                  <a:tcPr marL="91440" marR="91440" marT="45720" marB="45720">
                    <a:solidFill>
                      <a:srgbClr val="071826"/>
                    </a:solidFill>
                  </a:tcPr>
                </a:tc>
                <a:tc>
                  <a:txBody>
                    <a:bodyPr>
                      <a:noAutofit/>
                    </a:bodyPr>
                    <a:lstStyle/>
                    <a:p>
                      <a:r>
                        <a:rPr sz="1500" b="1">
                          <a:solidFill>
                            <a:srgbClr val="FFFFFF"/>
                          </a:solidFill>
                          <a:latin typeface="Aptos"/>
                          <a:ea typeface="Aptos"/>
                          <a:cs typeface="Aptos"/>
                        </a:rPr>
                        <a:t>Decision / limitation</a:t>
                      </a:r>
                    </a:p>
                  </a:txBody>
                  <a:tcPr marL="91440" marR="91440" marT="45720" marB="45720">
                    <a:solidFill>
                      <a:srgbClr val="071826"/>
                    </a:solidFill>
                  </a:tcPr>
                </a:tc>
              </a:tr>
              <a:tr h="785813">
                <a:tc>
                  <a:txBody>
                    <a:bodyPr>
                      <a:noAutofit/>
                    </a:bodyPr>
                    <a:lstStyle/>
                    <a:p>
                      <a:r>
                        <a:rPr sz="1500" b="1">
                          <a:solidFill>
                            <a:srgbClr val="132433"/>
                          </a:solidFill>
                          <a:latin typeface="Aptos"/>
                          <a:ea typeface="Aptos"/>
                          <a:cs typeface="Aptos"/>
                        </a:rPr>
                        <a:t>Support escalation</a:t>
                      </a:r>
                    </a:p>
                    <a:p>
                      <a:r>
                        <a:rPr sz="1500" b="1">
                          <a:solidFill>
                            <a:srgbClr val="132433"/>
                          </a:solidFill>
                          <a:latin typeface="Aptos"/>
                          <a:ea typeface="Aptos"/>
                          <a:cs typeface="Aptos"/>
                        </a:rPr>
                        <a:t>Logistic regression</a:t>
                      </a:r>
                    </a:p>
                  </a:txBody>
                  <a:tcPr marL="91440" marR="91440" marT="45720" marB="45720">
                    <a:solidFill>
                      <a:srgbClr val="FFFFFF"/>
                    </a:solidFill>
                  </a:tcPr>
                </a:tc>
                <a:tc>
                  <a:txBody>
                    <a:bodyPr>
                      <a:noAutofit/>
                    </a:bodyPr>
                    <a:lstStyle/>
                    <a:p>
                      <a:r>
                        <a:rPr sz="1500" b="0">
                          <a:solidFill>
                            <a:srgbClr val="132433"/>
                          </a:solidFill>
                          <a:latin typeface="Aptos"/>
                          <a:ea typeface="Aptos"/>
                          <a:cs typeface="Aptos"/>
                        </a:rPr>
                        <a:t>Test AUC 0.4974 vs 0.5000.</a:t>
                      </a:r>
                    </a:p>
                    <a:p>
                      <a:r>
                        <a:rPr sz="1500" b="0">
                          <a:solidFill>
                            <a:srgbClr val="132433"/>
                          </a:solidFill>
                          <a:latin typeface="Aptos"/>
                          <a:ea typeface="Aptos"/>
                          <a:cs typeface="Aptos"/>
                        </a:rPr>
                        <a:t>AP 0.0980 vs 0.0993.</a:t>
                      </a:r>
                    </a:p>
                  </a:txBody>
                  <a:tcPr marL="91440" marR="91440" marT="45720" marB="45720">
                    <a:solidFill>
                      <a:srgbClr val="FFFFFF"/>
                    </a:solidFill>
                  </a:tcPr>
                </a:tc>
                <a:tc>
                  <a:txBody>
                    <a:bodyPr>
                      <a:noAutofit/>
                    </a:bodyPr>
                    <a:lstStyle/>
                    <a:p>
                      <a:r>
                        <a:rPr sz="1500" b="0">
                          <a:solidFill>
                            <a:srgbClr val="132433"/>
                          </a:solidFill>
                          <a:latin typeface="Aptos"/>
                          <a:ea typeface="Aptos"/>
                          <a:cs typeface="Aptos"/>
                        </a:rPr>
                        <a:t>Failed signal gate.</a:t>
                      </a:r>
                    </a:p>
                    <a:p>
                      <a:r>
                        <a:rPr sz="1500" b="0">
                          <a:solidFill>
                            <a:srgbClr val="132433"/>
                          </a:solidFill>
                          <a:latin typeface="Aptos"/>
                          <a:ea typeface="Aptos"/>
                          <a:cs typeface="Aptos"/>
                        </a:rPr>
                        <a:t>Keep rule-based escalation.</a:t>
                      </a:r>
                    </a:p>
                  </a:txBody>
                  <a:tcPr marL="91440" marR="91440" marT="45720" marB="45720">
                    <a:solidFill>
                      <a:srgbClr val="FFFFFF"/>
                    </a:solidFill>
                  </a:tcPr>
                </a:tc>
              </a:tr>
              <a:tr h="785813">
                <a:tc>
                  <a:txBody>
                    <a:bodyPr>
                      <a:noAutofit/>
                    </a:bodyPr>
                    <a:lstStyle/>
                    <a:p>
                      <a:r>
                        <a:rPr sz="1500" b="1">
                          <a:solidFill>
                            <a:srgbClr val="132433"/>
                          </a:solidFill>
                          <a:latin typeface="Aptos"/>
                          <a:ea typeface="Aptos"/>
                          <a:cs typeface="Aptos"/>
                        </a:rPr>
                        <a:t>Churn V2</a:t>
                      </a:r>
                    </a:p>
                    <a:p>
                      <a:r>
                        <a:rPr sz="1500" b="1">
                          <a:solidFill>
                            <a:srgbClr val="132433"/>
                          </a:solidFill>
                          <a:latin typeface="Aptos"/>
                          <a:ea typeface="Aptos"/>
                          <a:cs typeface="Aptos"/>
                        </a:rPr>
                        <a:t>Balanced random forest</a:t>
                      </a:r>
                    </a:p>
                  </a:txBody>
                  <a:tcPr marL="91440" marR="91440" marT="45720" marB="45720">
                    <a:solidFill>
                      <a:srgbClr val="EDF3F4"/>
                    </a:solidFill>
                  </a:tcPr>
                </a:tc>
                <a:tc>
                  <a:txBody>
                    <a:bodyPr>
                      <a:noAutofit/>
                    </a:bodyPr>
                    <a:lstStyle/>
                    <a:p>
                      <a:r>
                        <a:rPr sz="1500" b="0">
                          <a:solidFill>
                            <a:srgbClr val="132433"/>
                          </a:solidFill>
                          <a:latin typeface="Aptos"/>
                          <a:ea typeface="Aptos"/>
                          <a:cs typeface="Aptos"/>
                        </a:rPr>
                        <a:t>Accuracy 84.20%.</a:t>
                      </a:r>
                    </a:p>
                    <a:p>
                      <a:r>
                        <a:rPr sz="1500" b="0">
                          <a:solidFill>
                            <a:srgbClr val="132433"/>
                          </a:solidFill>
                          <a:latin typeface="Aptos"/>
                          <a:ea typeface="Aptos"/>
                          <a:cs typeface="Aptos"/>
                        </a:rPr>
                        <a:t>Recall 1.45%, F1 0.0265.</a:t>
                      </a:r>
                    </a:p>
                  </a:txBody>
                  <a:tcPr marL="91440" marR="91440" marT="45720" marB="45720">
                    <a:solidFill>
                      <a:srgbClr val="EDF3F4"/>
                    </a:solidFill>
                  </a:tcPr>
                </a:tc>
                <a:tc>
                  <a:txBody>
                    <a:bodyPr>
                      <a:noAutofit/>
                    </a:bodyPr>
                    <a:lstStyle/>
                    <a:p>
                      <a:r>
                        <a:rPr sz="1500" b="0">
                          <a:solidFill>
                            <a:srgbClr val="132433"/>
                          </a:solidFill>
                          <a:latin typeface="Aptos"/>
                          <a:ea typeface="Aptos"/>
                          <a:cs typeface="Aptos"/>
                        </a:rPr>
                        <a:t>Low recall. No baseline reported.</a:t>
                      </a:r>
                    </a:p>
                    <a:p>
                      <a:r>
                        <a:rPr sz="1500" b="0">
                          <a:solidFill>
                            <a:srgbClr val="132433"/>
                          </a:solidFill>
                          <a:latin typeface="Aptos"/>
                          <a:ea typeface="Aptos"/>
                          <a:cs typeface="Aptos"/>
                        </a:rPr>
                        <a:t>Cannot claim a verified uplift.</a:t>
                      </a:r>
                    </a:p>
                  </a:txBody>
                  <a:tcPr marL="91440" marR="91440" marT="45720" marB="45720">
                    <a:solidFill>
                      <a:srgbClr val="EDF3F4"/>
                    </a:solidFill>
                  </a:tcPr>
                </a:tc>
              </a:tr>
              <a:tr h="785813">
                <a:tc>
                  <a:txBody>
                    <a:bodyPr>
                      <a:noAutofit/>
                    </a:bodyPr>
                    <a:lstStyle/>
                    <a:p>
                      <a:r>
                        <a:rPr sz="1500" b="1">
                          <a:solidFill>
                            <a:srgbClr val="132433"/>
                          </a:solidFill>
                          <a:latin typeface="Aptos"/>
                          <a:ea typeface="Aptos"/>
                          <a:cs typeface="Aptos"/>
                        </a:rPr>
                        <a:t>Customer segmentation</a:t>
                      </a:r>
                    </a:p>
                    <a:p>
                      <a:r>
                        <a:rPr sz="1500" b="1">
                          <a:solidFill>
                            <a:srgbClr val="132433"/>
                          </a:solidFill>
                          <a:latin typeface="Aptos"/>
                          <a:ea typeface="Aptos"/>
                          <a:cs typeface="Aptos"/>
                        </a:rPr>
                        <a:t>Random forest prototype</a:t>
                      </a:r>
                    </a:p>
                  </a:txBody>
                  <a:tcPr marL="91440" marR="91440" marT="45720" marB="45720">
                    <a:solidFill>
                      <a:srgbClr val="FFFFFF"/>
                    </a:solidFill>
                  </a:tcPr>
                </a:tc>
                <a:tc>
                  <a:txBody>
                    <a:bodyPr>
                      <a:noAutofit/>
                    </a:bodyPr>
                    <a:lstStyle/>
                    <a:p>
                      <a:r>
                        <a:rPr sz="1500" b="0">
                          <a:solidFill>
                            <a:srgbClr val="132433"/>
                          </a:solidFill>
                          <a:latin typeface="Aptos"/>
                          <a:ea typeface="Aptos"/>
                          <a:cs typeface="Aptos"/>
                        </a:rPr>
                        <a:t>Training-set evaluation only</a:t>
                      </a:r>
                    </a:p>
                    <a:p>
                      <a:r>
                        <a:rPr sz="1500" b="0">
                          <a:solidFill>
                            <a:srgbClr val="132433"/>
                          </a:solidFill>
                          <a:latin typeface="Aptos"/>
                          <a:ea typeface="Aptos"/>
                          <a:cs typeface="Aptos"/>
                        </a:rPr>
                        <a:t>in the available script.</a:t>
                      </a:r>
                    </a:p>
                  </a:txBody>
                  <a:tcPr marL="91440" marR="91440" marT="45720" marB="45720">
                    <a:solidFill>
                      <a:srgbClr val="FFFFFF"/>
                    </a:solidFill>
                  </a:tcPr>
                </a:tc>
                <a:tc>
                  <a:txBody>
                    <a:bodyPr>
                      <a:noAutofit/>
                    </a:bodyPr>
                    <a:lstStyle/>
                    <a:p>
                      <a:r>
                        <a:rPr sz="1500" b="0">
                          <a:solidFill>
                            <a:srgbClr val="132433"/>
                          </a:solidFill>
                          <a:latin typeface="Aptos"/>
                          <a:ea typeface="Aptos"/>
                          <a:cs typeface="Aptos"/>
                        </a:rPr>
                        <a:t>No held-out evidence.</a:t>
                      </a:r>
                    </a:p>
                    <a:p>
                      <a:r>
                        <a:rPr sz="1500" b="0">
                          <a:solidFill>
                            <a:srgbClr val="132433"/>
                          </a:solidFill>
                          <a:latin typeface="Aptos"/>
                          <a:ea typeface="Aptos"/>
                          <a:cs typeface="Aptos"/>
                        </a:rPr>
                        <a:t>Exclude from performance claims.</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B36E8D56-73F4-43EA-A1A6-77E945459C34}"/>
              </a:ext>
            </a:extLst>
          </p:cNvPr>
          <p:cNvSpPr>
            <a:spLocks xmlns:a="http://schemas.openxmlformats.org/drawingml/2006/main" noGrp="1"/>
          </p:cNvSpPr>
          <p:nvPr/>
        </p:nvSpPr>
        <p:spPr>
          <a:xfrm xmlns:a="http://schemas.openxmlformats.org/drawingml/2006/main">
            <a:off x="704850" y="52768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E7180"/>
                </a:solidFill>
                <a:latin typeface="Aptos"/>
                <a:ea typeface="Aptos"/>
                <a:cs typeface="Aptos"/>
              </a:defRPr>
            </a:pPr>
            <a:r>
              <a:rPr sz="1275" b="0">
                <a:solidFill>
                  <a:srgbClr val="5E7180"/>
                </a:solidFill>
                <a:latin typeface="Aptos"/>
                <a:ea typeface="Aptos"/>
                <a:cs typeface="Aptos"/>
              </a:rPr>
              <a:t>These experiments are separate from the deterministic eligibility policy and cannot override its decision.</a:t>
            </a:r>
          </a:p>
        </p:txBody>
      </p:sp>
    </p:spTree>
    <p:extLst>
      <p:ext uri="{BB962C8B-B14F-4D97-AF65-F5344CB8AC3E}">
        <p14:creationId xmlns:p14="http://schemas.microsoft.com/office/powerpoint/2010/main" val="1355328565"/>
      </p:ext>
    </p:extLst>
  </p:cSld>
</p:sld>
</file>

<file path=ppt/slides/slide10.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8E45E9B-1CBC-4BFB-B03B-DA63B314F8D5}"/>
              </a:ext>
            </a:extLst>
          </p:cNvPr>
          <p:cNvSpPr>
            <a:spLocks xmlns:a="http://schemas.openxmlformats.org/drawingml/2006/main" noGrp="1"/>
          </p:cNvSpPr>
          <p:nvPr/>
        </p:nvSpPr>
        <p:spPr>
          <a:xfrm xmlns:a="http://schemas.openxmlformats.org/drawingml/2006/main">
            <a:off x="666750" y="4000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32433"/>
                </a:solidFill>
                <a:latin typeface="Aptos"/>
                <a:ea typeface="Aptos"/>
                <a:cs typeface="Aptos"/>
              </a:defRPr>
            </a:pPr>
            <a:r>
              <a:rPr sz="2550" b="1">
                <a:solidFill>
                  <a:srgbClr val="132433"/>
                </a:solidFill>
                <a:latin typeface="Aptos"/>
                <a:ea typeface="Aptos"/>
                <a:cs typeface="Aptos"/>
              </a:rPr>
              <a:t>Capacity model: target, ceiling and abstention</a:t>
            </a:r>
          </a:p>
        </p:txBody>
      </p:sp>
      <p:sp>
        <p:nvSpPr>
          <p:cNvPr id="2" name="">
            <a:extLst xmlns:a="http://schemas.openxmlformats.org/drawingml/2006/main">
              <a:ext uri="{FF2B5EF4-FFF2-40B4-BE49-F238E27FC236}">
                <a16:creationId xmlns:a16="http://schemas.microsoft.com/office/drawing/2014/main" id="{4BF495D7-7C81-4145-A338-9C011B906201}"/>
              </a:ext>
            </a:extLst>
          </p:cNvPr>
          <p:cNvSpPr>
            <a:spLocks xmlns:a="http://schemas.openxmlformats.org/drawingml/2006/main" noGrp="1"/>
          </p:cNvSpPr>
          <p:nvPr/>
        </p:nvSpPr>
        <p:spPr>
          <a:xfrm xmlns:a="http://schemas.openxmlformats.org/drawingml/2006/main">
            <a:off x="685800" y="9715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E7180"/>
                </a:solidFill>
                <a:latin typeface="Aptos"/>
                <a:ea typeface="Aptos"/>
                <a:cs typeface="Aptos"/>
              </a:defRPr>
            </a:pPr>
            <a:r>
              <a:rPr sz="1350" b="0">
                <a:solidFill>
                  <a:srgbClr val="5E7180"/>
                </a:solidFill>
                <a:latin typeface="Aptos"/>
                <a:ea typeface="Aptos"/>
                <a:cs typeface="Aptos"/>
              </a:rPr>
              <a:t>The learned output estimates a monthly cash-flow proxy. It can only restrict the policy budget.</a:t>
            </a:r>
          </a:p>
        </p:txBody>
      </p:sp>
      <p:sp>
        <p:nvSpPr>
          <p:cNvPr id="3" name="">
            <a:extLst xmlns:a="http://schemas.openxmlformats.org/drawingml/2006/main">
              <a:ext uri="{FF2B5EF4-FFF2-40B4-BE49-F238E27FC236}">
                <a16:creationId xmlns:a16="http://schemas.microsoft.com/office/drawing/2014/main" id="{5152A606-9E69-418F-BEEF-3B8503B03180}"/>
              </a:ext>
            </a:extLst>
          </p:cNvPr>
          <p:cNvSpPr>
            <a:spLocks xmlns:a="http://schemas.openxmlformats.org/drawingml/2006/main" noGrp="1"/>
          </p:cNvSpPr>
          <p:nvPr/>
        </p:nvSpPr>
        <p:spPr>
          <a:xfrm xmlns:a="http://schemas.openxmlformats.org/drawingml/2006/main">
            <a:off x="666750" y="1409700"/>
            <a:ext cx="876300" cy="38100"/>
          </a:xfrm>
          <a:prstGeom xmlns:a="http://schemas.openxmlformats.org/drawingml/2006/main" prst="rect">
            <a:avLst/>
          </a:prstGeom>
          <a:solidFill xmlns:a="http://schemas.openxmlformats.org/drawingml/2006/main">
            <a:srgbClr val="1FB6A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CB8512E-A2DE-41CF-837E-A8677CA45215}"/>
              </a:ext>
            </a:extLst>
          </p:cNvPr>
          <p:cNvSpPr>
            <a:spLocks xmlns:a="http://schemas.openxmlformats.org/drawingml/2006/main" noGrp="1"/>
          </p:cNvSpPr>
          <p:nvPr/>
        </p:nvSpPr>
        <p:spPr>
          <a:xfrm xmlns:a="http://schemas.openxmlformats.org/drawingml/2006/main">
            <a:off x="685800" y="64008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E7180"/>
                </a:solidFill>
                <a:latin typeface="Aptos"/>
                <a:ea typeface="Aptos"/>
                <a:cs typeface="Aptos"/>
              </a:defRPr>
            </a:pPr>
            <a:r>
              <a:rPr sz="900" b="0">
                <a:solidFill>
                  <a:srgbClr val="5E7180"/>
                </a:solidFill>
                <a:latin typeface="Aptos"/>
                <a:ea typeface="Aptos"/>
                <a:cs typeface="Aptos"/>
              </a:rPr>
              <a:t>NOEMA  /  Factored AI &amp; Data Hackathon 2026</a:t>
            </a:r>
          </a:p>
        </p:txBody>
      </p:sp>
      <p:sp>
        <p:nvSpPr>
          <p:cNvPr id="5" name="">
            <a:extLst xmlns:a="http://schemas.openxmlformats.org/drawingml/2006/main">
              <a:ext uri="{FF2B5EF4-FFF2-40B4-BE49-F238E27FC236}">
                <a16:creationId xmlns:a16="http://schemas.microsoft.com/office/drawing/2014/main" id="{1564CEB5-B5CF-4ADA-B383-ABC0622442A7}"/>
              </a:ext>
            </a:extLst>
          </p:cNvPr>
          <p:cNvSpPr>
            <a:spLocks xmlns:a="http://schemas.openxmlformats.org/drawingml/2006/main" noGrp="1"/>
          </p:cNvSpPr>
          <p:nvPr/>
        </p:nvSpPr>
        <p:spPr>
          <a:xfrm xmlns:a="http://schemas.openxmlformats.org/drawingml/2006/main">
            <a:off x="11096625" y="64008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5E7180"/>
                </a:solidFill>
                <a:latin typeface="Aptos"/>
                <a:ea typeface="Aptos"/>
                <a:cs typeface="Aptos"/>
              </a:defRPr>
            </a:pPr>
            <a:r>
              <a:rPr sz="900" b="1">
                <a:solidFill>
                  <a:srgbClr val="5E7180"/>
                </a:solidFill>
                <a:latin typeface="Aptos"/>
                <a:ea typeface="Aptos"/>
                <a:cs typeface="Aptos"/>
              </a:rPr>
              <a:t>10</a:t>
            </a:r>
          </a:p>
        </p:txBody>
      </p:sp>
      <p:sp>
        <p:nvSpPr>
          <p:cNvPr id="6" name="">
            <a:extLst xmlns:a="http://schemas.openxmlformats.org/drawingml/2006/main">
              <a:ext uri="{FF2B5EF4-FFF2-40B4-BE49-F238E27FC236}">
                <a16:creationId xmlns:a16="http://schemas.microsoft.com/office/drawing/2014/main" id="{D848726A-D34B-4E5D-872C-0C0F8CF34991}"/>
              </a:ext>
            </a:extLst>
          </p:cNvPr>
          <p:cNvSpPr>
            <a:spLocks xmlns:a="http://schemas.openxmlformats.org/drawingml/2006/main" noGrp="1"/>
          </p:cNvSpPr>
          <p:nvPr/>
        </p:nvSpPr>
        <p:spPr>
          <a:xfrm xmlns:a="http://schemas.openxmlformats.org/drawingml/2006/main">
            <a:off x="723900" y="1743075"/>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2433"/>
                </a:solidFill>
                <a:latin typeface="Aptos"/>
                <a:ea typeface="Aptos"/>
                <a:cs typeface="Aptos"/>
              </a:defRPr>
            </a:pPr>
            <a:r>
              <a:rPr sz="1725" b="1">
                <a:solidFill>
                  <a:srgbClr val="132433"/>
                </a:solidFill>
                <a:latin typeface="Aptos"/>
                <a:ea typeface="Aptos"/>
                <a:cs typeface="Aptos"/>
              </a:rPr>
              <a:t>Training target</a:t>
            </a:r>
          </a:p>
        </p:txBody>
      </p:sp>
      <p:sp>
        <p:nvSpPr>
          <p:cNvPr id="7" name="">
            <a:extLst xmlns:a="http://schemas.openxmlformats.org/drawingml/2006/main">
              <a:ext uri="{FF2B5EF4-FFF2-40B4-BE49-F238E27FC236}">
                <a16:creationId xmlns:a16="http://schemas.microsoft.com/office/drawing/2014/main" id="{DA87A8B6-FF40-4976-AEF0-660CF0A9AAB1}"/>
              </a:ext>
            </a:extLst>
          </p:cNvPr>
          <p:cNvSpPr>
            <a:spLocks xmlns:a="http://schemas.openxmlformats.org/drawingml/2006/main" noGrp="1"/>
          </p:cNvSpPr>
          <p:nvPr/>
        </p:nvSpPr>
        <p:spPr>
          <a:xfrm xmlns:a="http://schemas.openxmlformats.org/drawingml/2006/main">
            <a:off x="723900" y="2105025"/>
            <a:ext cx="5143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Monthly surplus = max(deposits - outflows, 0).</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Proxy = min(surplus, 30% of deposits).</a:t>
            </a:r>
          </a:p>
        </p:txBody>
      </p:sp>
      <p:sp>
        <p:nvSpPr>
          <p:cNvPr id="8" name="">
            <a:extLst xmlns:a="http://schemas.openxmlformats.org/drawingml/2006/main">
              <a:ext uri="{FF2B5EF4-FFF2-40B4-BE49-F238E27FC236}">
                <a16:creationId xmlns:a16="http://schemas.microsoft.com/office/drawing/2014/main" id="{9BB46052-2C50-4797-AFD9-63A9E03D8B97}"/>
              </a:ext>
            </a:extLst>
          </p:cNvPr>
          <p:cNvSpPr>
            <a:spLocks xmlns:a="http://schemas.openxmlformats.org/drawingml/2006/main" noGrp="1"/>
          </p:cNvSpPr>
          <p:nvPr/>
        </p:nvSpPr>
        <p:spPr>
          <a:xfrm xmlns:a="http://schemas.openxmlformats.org/drawingml/2006/main">
            <a:off x="6362700" y="1743075"/>
            <a:ext cx="5105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2433"/>
                </a:solidFill>
                <a:latin typeface="Aptos"/>
                <a:ea typeface="Aptos"/>
                <a:cs typeface="Aptos"/>
              </a:defRPr>
            </a:pPr>
            <a:r>
              <a:rPr sz="1725" b="1">
                <a:solidFill>
                  <a:srgbClr val="132433"/>
                </a:solidFill>
                <a:latin typeface="Aptos"/>
                <a:ea typeface="Aptos"/>
                <a:cs typeface="Aptos"/>
              </a:rPr>
              <a:t>Historical baseline</a:t>
            </a:r>
          </a:p>
        </p:txBody>
      </p:sp>
      <p:sp>
        <p:nvSpPr>
          <p:cNvPr id="9" name="">
            <a:extLst xmlns:a="http://schemas.openxmlformats.org/drawingml/2006/main">
              <a:ext uri="{FF2B5EF4-FFF2-40B4-BE49-F238E27FC236}">
                <a16:creationId xmlns:a16="http://schemas.microsoft.com/office/drawing/2014/main" id="{561DE1F1-DEED-434E-9872-EED0F7D110DF}"/>
              </a:ext>
            </a:extLst>
          </p:cNvPr>
          <p:cNvSpPr>
            <a:spLocks xmlns:a="http://schemas.openxmlformats.org/drawingml/2006/main" noGrp="1"/>
          </p:cNvSpPr>
          <p:nvPr/>
        </p:nvSpPr>
        <p:spPr>
          <a:xfrm xmlns:a="http://schemas.openxmlformats.org/drawingml/2006/main">
            <a:off x="6362700" y="2105025"/>
            <a:ext cx="5105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Ceiling = min(lowest prior 3-month surplus,</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30% of prior 3-month mean deposits).</a:t>
            </a:r>
          </a:p>
        </p:txBody>
      </p:sp>
      <p:sp>
        <p:nvSpPr>
          <p:cNvPr id="10" name="">
            <a:extLst xmlns:a="http://schemas.openxmlformats.org/drawingml/2006/main">
              <a:ext uri="{FF2B5EF4-FFF2-40B4-BE49-F238E27FC236}">
                <a16:creationId xmlns:a16="http://schemas.microsoft.com/office/drawing/2014/main" id="{6E175252-5E41-41C2-A2FF-3A7EC60CE67A}"/>
              </a:ext>
            </a:extLst>
          </p:cNvPr>
          <p:cNvSpPr>
            <a:spLocks xmlns:a="http://schemas.openxmlformats.org/drawingml/2006/main" noGrp="1"/>
          </p:cNvSpPr>
          <p:nvPr/>
        </p:nvSpPr>
        <p:spPr>
          <a:xfrm xmlns:a="http://schemas.openxmlformats.org/drawingml/2006/main">
            <a:off x="723900" y="352425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2433"/>
                </a:solidFill>
                <a:latin typeface="Aptos"/>
                <a:ea typeface="Aptos"/>
                <a:cs typeface="Aptos"/>
              </a:defRPr>
            </a:pPr>
            <a:r>
              <a:rPr sz="1725" b="1">
                <a:solidFill>
                  <a:srgbClr val="132433"/>
                </a:solidFill>
                <a:latin typeface="Aptos"/>
                <a:ea typeface="Aptos"/>
                <a:cs typeface="Aptos"/>
              </a:rPr>
              <a:t>Learned estimator</a:t>
            </a:r>
          </a:p>
        </p:txBody>
      </p:sp>
      <p:sp>
        <p:nvSpPr>
          <p:cNvPr id="11" name="">
            <a:extLst xmlns:a="http://schemas.openxmlformats.org/drawingml/2006/main">
              <a:ext uri="{FF2B5EF4-FFF2-40B4-BE49-F238E27FC236}">
                <a16:creationId xmlns:a16="http://schemas.microsoft.com/office/drawing/2014/main" id="{3B3F24C8-066D-458D-ABC5-CE6C3D5B7CBA}"/>
              </a:ext>
            </a:extLst>
          </p:cNvPr>
          <p:cNvSpPr>
            <a:spLocks xmlns:a="http://schemas.openxmlformats.org/drawingml/2006/main" noGrp="1"/>
          </p:cNvSpPr>
          <p:nvPr/>
        </p:nvSpPr>
        <p:spPr>
          <a:xfrm xmlns:a="http://schemas.openxmlformats.org/drawingml/2006/main">
            <a:off x="723900" y="3886200"/>
            <a:ext cx="51435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Nonnegative linear regression on mean deposits,</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mean outflows, minimum surplus, active months.</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Final estimate stays between zero and ceiling.</a:t>
            </a:r>
          </a:p>
        </p:txBody>
      </p:sp>
      <p:sp>
        <p:nvSpPr>
          <p:cNvPr id="12" name="">
            <a:extLst xmlns:a="http://schemas.openxmlformats.org/drawingml/2006/main">
              <a:ext uri="{FF2B5EF4-FFF2-40B4-BE49-F238E27FC236}">
                <a16:creationId xmlns:a16="http://schemas.microsoft.com/office/drawing/2014/main" id="{F34B8112-4D0E-4191-9083-BAEC0553BCCF}"/>
              </a:ext>
            </a:extLst>
          </p:cNvPr>
          <p:cNvSpPr>
            <a:spLocks xmlns:a="http://schemas.openxmlformats.org/drawingml/2006/main" noGrp="1"/>
          </p:cNvSpPr>
          <p:nvPr/>
        </p:nvSpPr>
        <p:spPr>
          <a:xfrm xmlns:a="http://schemas.openxmlformats.org/drawingml/2006/main">
            <a:off x="6362700" y="3524250"/>
            <a:ext cx="5105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2433"/>
                </a:solidFill>
                <a:latin typeface="Aptos"/>
                <a:ea typeface="Aptos"/>
                <a:cs typeface="Aptos"/>
              </a:defRPr>
            </a:pPr>
            <a:r>
              <a:rPr sz="1725" b="1">
                <a:solidFill>
                  <a:srgbClr val="132433"/>
                </a:solidFill>
                <a:latin typeface="Aptos"/>
                <a:ea typeface="Aptos"/>
                <a:cs typeface="Aptos"/>
              </a:rPr>
              <a:t>Abstention gate</a:t>
            </a:r>
          </a:p>
        </p:txBody>
      </p:sp>
      <p:sp>
        <p:nvSpPr>
          <p:cNvPr id="13" name="">
            <a:extLst xmlns:a="http://schemas.openxmlformats.org/drawingml/2006/main">
              <a:ext uri="{FF2B5EF4-FFF2-40B4-BE49-F238E27FC236}">
                <a16:creationId xmlns:a16="http://schemas.microsoft.com/office/drawing/2014/main" id="{6E727667-2E48-432C-9517-951D6AF7ECDC}"/>
              </a:ext>
            </a:extLst>
          </p:cNvPr>
          <p:cNvSpPr>
            <a:spLocks xmlns:a="http://schemas.openxmlformats.org/drawingml/2006/main" noGrp="1"/>
          </p:cNvSpPr>
          <p:nvPr/>
        </p:nvSpPr>
        <p:spPr>
          <a:xfrm xmlns:a="http://schemas.openxmlformats.org/drawingml/2006/main">
            <a:off x="6362700" y="3886200"/>
            <a:ext cx="51054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Require 3 active months in the requested currency.</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Transfers or adjustments make history ambiguous.</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No usable history means no capacity estimate.</a:t>
            </a:r>
          </a:p>
        </p:txBody>
      </p:sp>
      <p:sp>
        <p:nvSpPr>
          <p:cNvPr id="14" name="">
            <a:extLst xmlns:a="http://schemas.openxmlformats.org/drawingml/2006/main">
              <a:ext uri="{FF2B5EF4-FFF2-40B4-BE49-F238E27FC236}">
                <a16:creationId xmlns:a16="http://schemas.microsoft.com/office/drawing/2014/main" id="{602253FD-D8F7-4233-830B-465847F08E90}"/>
              </a:ext>
            </a:extLst>
          </p:cNvPr>
          <p:cNvSpPr>
            <a:spLocks xmlns:a="http://schemas.openxmlformats.org/drawingml/2006/main" noGrp="1"/>
          </p:cNvSpPr>
          <p:nvPr/>
        </p:nvSpPr>
        <p:spPr>
          <a:xfrm xmlns:a="http://schemas.openxmlformats.org/drawingml/2006/main">
            <a:off x="704850" y="575310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E7180"/>
                </a:solidFill>
                <a:latin typeface="Aptos"/>
                <a:ea typeface="Aptos"/>
                <a:cs typeface="Aptos"/>
              </a:defRPr>
            </a:pPr>
            <a:r>
              <a:rPr sz="1275" b="0">
                <a:solidFill>
                  <a:srgbClr val="5E7180"/>
                </a:solidFill>
                <a:latin typeface="Aptos"/>
                <a:ea typeface="Aptos"/>
                <a:cs typeface="Aptos"/>
              </a:rPr>
              <a:t>All-validation MAE and serving coverage use different populations. The proxy does not establish observed solvency.</a:t>
            </a:r>
          </a:p>
        </p:txBody>
      </p:sp>
    </p:spTree>
    <p:extLst>
      <p:ext uri="{BB962C8B-B14F-4D97-AF65-F5344CB8AC3E}">
        <p14:creationId xmlns:p14="http://schemas.microsoft.com/office/powerpoint/2010/main" val="60641378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A5E2F7B-F24E-4020-BEBE-6F44A2092AF0}"/>
              </a:ext>
            </a:extLst>
          </p:cNvPr>
          <p:cNvSpPr>
            <a:spLocks xmlns:a="http://schemas.openxmlformats.org/drawingml/2006/main" noGrp="1"/>
          </p:cNvSpPr>
          <p:nvPr/>
        </p:nvSpPr>
        <p:spPr>
          <a:xfrm xmlns:a="http://schemas.openxmlformats.org/drawingml/2006/main">
            <a:off x="666750" y="4000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32433"/>
                </a:solidFill>
                <a:latin typeface="Aptos"/>
                <a:ea typeface="Aptos"/>
                <a:cs typeface="Aptos"/>
              </a:defRPr>
            </a:pPr>
            <a:r>
              <a:rPr sz="2550" b="1">
                <a:solidFill>
                  <a:srgbClr val="132433"/>
                </a:solidFill>
                <a:latin typeface="Aptos"/>
                <a:ea typeface="Aptos"/>
                <a:cs typeface="Aptos"/>
              </a:rPr>
              <a:t>Eligibility rules and decision order</a:t>
            </a:r>
          </a:p>
        </p:txBody>
      </p:sp>
      <p:sp>
        <p:nvSpPr>
          <p:cNvPr id="2" name="">
            <a:extLst xmlns:a="http://schemas.openxmlformats.org/drawingml/2006/main">
              <a:ext uri="{FF2B5EF4-FFF2-40B4-BE49-F238E27FC236}">
                <a16:creationId xmlns:a16="http://schemas.microsoft.com/office/drawing/2014/main" id="{B3C7DD15-AA99-4E3B-96E3-829D13328B81}"/>
              </a:ext>
            </a:extLst>
          </p:cNvPr>
          <p:cNvSpPr>
            <a:spLocks xmlns:a="http://schemas.openxmlformats.org/drawingml/2006/main" noGrp="1"/>
          </p:cNvSpPr>
          <p:nvPr/>
        </p:nvSpPr>
        <p:spPr>
          <a:xfrm xmlns:a="http://schemas.openxmlformats.org/drawingml/2006/main">
            <a:off x="685800" y="9715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E7180"/>
                </a:solidFill>
                <a:latin typeface="Aptos"/>
                <a:ea typeface="Aptos"/>
                <a:cs typeface="Aptos"/>
              </a:defRPr>
            </a:pPr>
            <a:r>
              <a:rPr sz="1350" b="0">
                <a:solidFill>
                  <a:srgbClr val="5E7180"/>
                </a:solidFill>
                <a:latin typeface="Aptos"/>
                <a:ea typeface="Aptos"/>
                <a:cs typeface="Aptos"/>
              </a:rPr>
              <a:t>Incomplete evidence causes abstention. The first failed customer rule determines the rejection reason.</a:t>
            </a:r>
          </a:p>
        </p:txBody>
      </p:sp>
      <p:sp>
        <p:nvSpPr>
          <p:cNvPr id="3" name="">
            <a:extLst xmlns:a="http://schemas.openxmlformats.org/drawingml/2006/main">
              <a:ext uri="{FF2B5EF4-FFF2-40B4-BE49-F238E27FC236}">
                <a16:creationId xmlns:a16="http://schemas.microsoft.com/office/drawing/2014/main" id="{F8665F89-FE6F-4FEB-80B2-C94B3E4FC071}"/>
              </a:ext>
            </a:extLst>
          </p:cNvPr>
          <p:cNvSpPr>
            <a:spLocks xmlns:a="http://schemas.openxmlformats.org/drawingml/2006/main" noGrp="1"/>
          </p:cNvSpPr>
          <p:nvPr/>
        </p:nvSpPr>
        <p:spPr>
          <a:xfrm xmlns:a="http://schemas.openxmlformats.org/drawingml/2006/main">
            <a:off x="666750" y="1409700"/>
            <a:ext cx="876300" cy="38100"/>
          </a:xfrm>
          <a:prstGeom xmlns:a="http://schemas.openxmlformats.org/drawingml/2006/main" prst="rect">
            <a:avLst/>
          </a:prstGeom>
          <a:solidFill xmlns:a="http://schemas.openxmlformats.org/drawingml/2006/main">
            <a:srgbClr val="1FB6A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DF0F663-1A4A-4716-91EE-1C8D2CCE5E67}"/>
              </a:ext>
            </a:extLst>
          </p:cNvPr>
          <p:cNvSpPr>
            <a:spLocks xmlns:a="http://schemas.openxmlformats.org/drawingml/2006/main" noGrp="1"/>
          </p:cNvSpPr>
          <p:nvPr/>
        </p:nvSpPr>
        <p:spPr>
          <a:xfrm xmlns:a="http://schemas.openxmlformats.org/drawingml/2006/main">
            <a:off x="685800" y="64008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E7180"/>
                </a:solidFill>
                <a:latin typeface="Aptos"/>
                <a:ea typeface="Aptos"/>
                <a:cs typeface="Aptos"/>
              </a:defRPr>
            </a:pPr>
            <a:r>
              <a:rPr sz="900" b="0">
                <a:solidFill>
                  <a:srgbClr val="5E7180"/>
                </a:solidFill>
                <a:latin typeface="Aptos"/>
                <a:ea typeface="Aptos"/>
                <a:cs typeface="Aptos"/>
              </a:rPr>
              <a:t>NOEMA  /  Factored AI &amp; Data Hackathon 2026</a:t>
            </a:r>
          </a:p>
        </p:txBody>
      </p:sp>
      <p:sp>
        <p:nvSpPr>
          <p:cNvPr id="5" name="">
            <a:extLst xmlns:a="http://schemas.openxmlformats.org/drawingml/2006/main">
              <a:ext uri="{FF2B5EF4-FFF2-40B4-BE49-F238E27FC236}">
                <a16:creationId xmlns:a16="http://schemas.microsoft.com/office/drawing/2014/main" id="{B54FF898-FF0D-44CA-AB2E-6E4787AB06DB}"/>
              </a:ext>
            </a:extLst>
          </p:cNvPr>
          <p:cNvSpPr>
            <a:spLocks xmlns:a="http://schemas.openxmlformats.org/drawingml/2006/main" noGrp="1"/>
          </p:cNvSpPr>
          <p:nvPr/>
        </p:nvSpPr>
        <p:spPr>
          <a:xfrm xmlns:a="http://schemas.openxmlformats.org/drawingml/2006/main">
            <a:off x="11096625" y="64008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5E7180"/>
                </a:solidFill>
                <a:latin typeface="Aptos"/>
                <a:ea typeface="Aptos"/>
                <a:cs typeface="Aptos"/>
              </a:defRPr>
            </a:pPr>
            <a:r>
              <a:rPr sz="900" b="1">
                <a:solidFill>
                  <a:srgbClr val="5E7180"/>
                </a:solidFill>
                <a:latin typeface="Aptos"/>
                <a:ea typeface="Aptos"/>
                <a:cs typeface="Aptos"/>
              </a:rPr>
              <a:t>11</a:t>
            </a:r>
          </a:p>
        </p:txBody>
      </p:sp>
      <p:graphicFrame>
        <p:nvGraphicFramePr>
          <p:cNvPr id="13" name=""/>
          <p:cNvGraphicFramePr/>
          <p:nvPr/>
        </p:nvGraphicFramePr>
        <p:xfrm>
          <a:off xmlns:a="http://schemas.openxmlformats.org/drawingml/2006/main" x="685800" y="1685925"/>
          <a:ext xmlns:a="http://schemas.openxmlformats.org/drawingml/2006/main" cx="10820400" cy="3667125"/>
        </p:xfrm>
        <a:graphic xmlns:a="http://schemas.openxmlformats.org/drawingml/2006/main">
          <a:graphicData uri="http://schemas.openxmlformats.org/drawingml/2006/table">
            <a:tbl>
              <a:tblPr firstRow="1" bandRow="0"/>
              <a:tblGrid>
                <a:gridCol w="2428875"/>
                <a:gridCol w="5724525"/>
                <a:gridCol w="2667000"/>
              </a:tblGrid>
              <a:tr h="523875">
                <a:tc>
                  <a:txBody>
                    <a:bodyPr>
                      <a:noAutofit/>
                    </a:bodyPr>
                    <a:lstStyle/>
                    <a:p>
                      <a:r>
                        <a:rPr sz="1350" b="1">
                          <a:solidFill>
                            <a:srgbClr val="FFFFFF"/>
                          </a:solidFill>
                          <a:latin typeface="Aptos"/>
                          <a:ea typeface="Aptos"/>
                          <a:cs typeface="Aptos"/>
                        </a:rPr>
                        <a:t>Check</a:t>
                      </a:r>
                    </a:p>
                  </a:txBody>
                  <a:tcPr marL="91440" marR="91440" marT="45720" marB="45720">
                    <a:solidFill>
                      <a:srgbClr val="071826"/>
                    </a:solidFill>
                  </a:tcPr>
                </a:tc>
                <a:tc>
                  <a:txBody>
                    <a:bodyPr>
                      <a:noAutofit/>
                    </a:bodyPr>
                    <a:lstStyle/>
                    <a:p>
                      <a:r>
                        <a:rPr sz="1350" b="1">
                          <a:solidFill>
                            <a:srgbClr val="FFFFFF"/>
                          </a:solidFill>
                          <a:latin typeface="Aptos"/>
                          <a:ea typeface="Aptos"/>
                          <a:cs typeface="Aptos"/>
                        </a:rPr>
                        <a:t>Rule in policy version 3</a:t>
                      </a:r>
                    </a:p>
                  </a:txBody>
                  <a:tcPr marL="91440" marR="91440" marT="45720" marB="45720">
                    <a:solidFill>
                      <a:srgbClr val="071826"/>
                    </a:solidFill>
                  </a:tcPr>
                </a:tc>
                <a:tc>
                  <a:txBody>
                    <a:bodyPr>
                      <a:noAutofit/>
                    </a:bodyPr>
                    <a:lstStyle/>
                    <a:p>
                      <a:r>
                        <a:rPr sz="1350" b="1">
                          <a:solidFill>
                            <a:srgbClr val="FFFFFF"/>
                          </a:solidFill>
                          <a:latin typeface="Aptos"/>
                          <a:ea typeface="Aptos"/>
                          <a:cs typeface="Aptos"/>
                        </a:rPr>
                        <a:t>Outcome on failure</a:t>
                      </a:r>
                    </a:p>
                  </a:txBody>
                  <a:tcPr marL="91440" marR="91440" marT="45720" marB="45720">
                    <a:solidFill>
                      <a:srgbClr val="071826"/>
                    </a:solidFill>
                  </a:tcPr>
                </a:tc>
              </a:tr>
              <a:tr h="523875">
                <a:tc>
                  <a:txBody>
                    <a:bodyPr>
                      <a:noAutofit/>
                    </a:bodyPr>
                    <a:lstStyle/>
                    <a:p>
                      <a:r>
                        <a:rPr sz="1350" b="1">
                          <a:solidFill>
                            <a:srgbClr val="132433"/>
                          </a:solidFill>
                          <a:latin typeface="Aptos"/>
                          <a:ea typeface="Aptos"/>
                          <a:cs typeface="Aptos"/>
                        </a:rPr>
                        <a:t>Evidence</a:t>
                      </a:r>
                    </a:p>
                  </a:txBody>
                  <a:tcPr marL="91440" marR="91440" marT="45720" marB="45720">
                    <a:solidFill>
                      <a:srgbClr val="FFFFFF"/>
                    </a:solidFill>
                  </a:tcPr>
                </a:tc>
                <a:tc>
                  <a:txBody>
                    <a:bodyPr>
                      <a:noAutofit/>
                    </a:bodyPr>
                    <a:lstStyle/>
                    <a:p>
                      <a:r>
                        <a:rPr sz="1350" b="0">
                          <a:solidFill>
                            <a:srgbClr val="132433"/>
                          </a:solidFill>
                          <a:latin typeface="Aptos"/>
                          <a:ea typeface="Aptos"/>
                          <a:cs typeface="Aptos"/>
                        </a:rPr>
                        <a:t>Positive income. Complete existing limits and rates.</a:t>
                      </a:r>
                    </a:p>
                  </a:txBody>
                  <a:tcPr marL="91440" marR="91440" marT="45720" marB="45720">
                    <a:solidFill>
                      <a:srgbClr val="FFFFFF"/>
                    </a:solidFill>
                  </a:tcPr>
                </a:tc>
                <a:tc>
                  <a:txBody>
                    <a:bodyPr>
                      <a:noAutofit/>
                    </a:bodyPr>
                    <a:lstStyle/>
                    <a:p>
                      <a:r>
                        <a:rPr sz="1350" b="0">
                          <a:solidFill>
                            <a:srgbClr val="132433"/>
                          </a:solidFill>
                          <a:latin typeface="Aptos"/>
                          <a:ea typeface="Aptos"/>
                          <a:cs typeface="Aptos"/>
                        </a:rPr>
                        <a:t>Abstain and refer</a:t>
                      </a:r>
                    </a:p>
                  </a:txBody>
                  <a:tcPr marL="91440" marR="91440" marT="45720" marB="45720">
                    <a:solidFill>
                      <a:srgbClr val="FFFFFF"/>
                    </a:solidFill>
                  </a:tcPr>
                </a:tc>
              </a:tr>
              <a:tr h="523875">
                <a:tc>
                  <a:txBody>
                    <a:bodyPr>
                      <a:noAutofit/>
                    </a:bodyPr>
                    <a:lstStyle/>
                    <a:p>
                      <a:r>
                        <a:rPr sz="1350" b="1">
                          <a:solidFill>
                            <a:srgbClr val="132433"/>
                          </a:solidFill>
                          <a:latin typeface="Aptos"/>
                          <a:ea typeface="Aptos"/>
                          <a:cs typeface="Aptos"/>
                        </a:rPr>
                        <a:t>Relationship</a:t>
                      </a:r>
                    </a:p>
                  </a:txBody>
                  <a:tcPr marL="91440" marR="91440" marT="45720" marB="45720">
                    <a:solidFill>
                      <a:srgbClr val="EDF3F4"/>
                    </a:solidFill>
                  </a:tcPr>
                </a:tc>
                <a:tc>
                  <a:txBody>
                    <a:bodyPr>
                      <a:noAutofit/>
                    </a:bodyPr>
                    <a:lstStyle/>
                    <a:p>
                      <a:r>
                        <a:rPr sz="1350" b="0">
                          <a:solidFill>
                            <a:srgbClr val="132433"/>
                          </a:solidFill>
                          <a:latin typeface="Aptos"/>
                          <a:ea typeface="Aptos"/>
                          <a:cs typeface="Aptos"/>
                        </a:rPr>
                        <a:t>At least 6 months if credit already exists.</a:t>
                      </a:r>
                    </a:p>
                  </a:txBody>
                  <a:tcPr marL="91440" marR="91440" marT="45720" marB="45720">
                    <a:solidFill>
                      <a:srgbClr val="EDF3F4"/>
                    </a:solidFill>
                  </a:tcPr>
                </a:tc>
                <a:tc>
                  <a:txBody>
                    <a:bodyPr>
                      <a:noAutofit/>
                    </a:bodyPr>
                    <a:lstStyle/>
                    <a:p>
                      <a:r>
                        <a:rPr sz="1350" b="0">
                          <a:solidFill>
                            <a:srgbClr val="132433"/>
                          </a:solidFill>
                          <a:latin typeface="Aptos"/>
                          <a:ea typeface="Aptos"/>
                          <a:cs typeface="Aptos"/>
                        </a:rPr>
                        <a:t>Reject additional product</a:t>
                      </a:r>
                    </a:p>
                  </a:txBody>
                  <a:tcPr marL="91440" marR="91440" marT="45720" marB="45720">
                    <a:solidFill>
                      <a:srgbClr val="EDF3F4"/>
                    </a:solidFill>
                  </a:tcPr>
                </a:tc>
              </a:tr>
              <a:tr h="523875">
                <a:tc>
                  <a:txBody>
                    <a:bodyPr>
                      <a:noAutofit/>
                    </a:bodyPr>
                    <a:lstStyle/>
                    <a:p>
                      <a:r>
                        <a:rPr sz="1350" b="1">
                          <a:solidFill>
                            <a:srgbClr val="132433"/>
                          </a:solidFill>
                          <a:latin typeface="Aptos"/>
                          <a:ea typeface="Aptos"/>
                          <a:cs typeface="Aptos"/>
                        </a:rPr>
                        <a:t>Product count</a:t>
                      </a:r>
                    </a:p>
                  </a:txBody>
                  <a:tcPr marL="91440" marR="91440" marT="45720" marB="45720">
                    <a:solidFill>
                      <a:srgbClr val="FFFFFF"/>
                    </a:solidFill>
                  </a:tcPr>
                </a:tc>
                <a:tc>
                  <a:txBody>
                    <a:bodyPr>
                      <a:noAutofit/>
                    </a:bodyPr>
                    <a:lstStyle/>
                    <a:p>
                      <a:r>
                        <a:rPr sz="1350" b="0">
                          <a:solidFill>
                            <a:srgbClr val="132433"/>
                          </a:solidFill>
                          <a:latin typeface="Aptos"/>
                          <a:ea typeface="Aptos"/>
                          <a:cs typeface="Aptos"/>
                        </a:rPr>
                        <a:t>Fewer than 4 existing credit products.</a:t>
                      </a:r>
                    </a:p>
                  </a:txBody>
                  <a:tcPr marL="91440" marR="91440" marT="45720" marB="45720">
                    <a:solidFill>
                      <a:srgbClr val="FFFFFF"/>
                    </a:solidFill>
                  </a:tcPr>
                </a:tc>
                <a:tc>
                  <a:txBody>
                    <a:bodyPr>
                      <a:noAutofit/>
                    </a:bodyPr>
                    <a:lstStyle/>
                    <a:p>
                      <a:r>
                        <a:rPr sz="1350" b="0">
                          <a:solidFill>
                            <a:srgbClr val="132433"/>
                          </a:solidFill>
                          <a:latin typeface="Aptos"/>
                          <a:ea typeface="Aptos"/>
                          <a:cs typeface="Aptos"/>
                        </a:rPr>
                        <a:t>Reject</a:t>
                      </a:r>
                    </a:p>
                  </a:txBody>
                  <a:tcPr marL="91440" marR="91440" marT="45720" marB="45720">
                    <a:solidFill>
                      <a:srgbClr val="FFFFFF"/>
                    </a:solidFill>
                  </a:tcPr>
                </a:tc>
              </a:tr>
              <a:tr h="523875">
                <a:tc>
                  <a:txBody>
                    <a:bodyPr>
                      <a:noAutofit/>
                    </a:bodyPr>
                    <a:lstStyle/>
                    <a:p>
                      <a:r>
                        <a:rPr sz="1350" b="1">
                          <a:solidFill>
                            <a:srgbClr val="132433"/>
                          </a:solidFill>
                          <a:latin typeface="Aptos"/>
                          <a:ea typeface="Aptos"/>
                          <a:cs typeface="Aptos"/>
                        </a:rPr>
                        <a:t>Current DTI</a:t>
                      </a:r>
                    </a:p>
                  </a:txBody>
                  <a:tcPr marL="91440" marR="91440" marT="45720" marB="45720">
                    <a:solidFill>
                      <a:srgbClr val="EDF3F4"/>
                    </a:solidFill>
                  </a:tcPr>
                </a:tc>
                <a:tc>
                  <a:txBody>
                    <a:bodyPr>
                      <a:noAutofit/>
                    </a:bodyPr>
                    <a:lstStyle/>
                    <a:p>
                      <a:r>
                        <a:rPr sz="1350" b="0">
                          <a:solidFill>
                            <a:srgbClr val="132433"/>
                          </a:solidFill>
                          <a:latin typeface="Aptos"/>
                          <a:ea typeface="Aptos"/>
                          <a:cs typeface="Aptos"/>
                        </a:rPr>
                        <a:t>Current monthly obligations / income &lt; 60%.</a:t>
                      </a:r>
                    </a:p>
                  </a:txBody>
                  <a:tcPr marL="91440" marR="91440" marT="45720" marB="45720">
                    <a:solidFill>
                      <a:srgbClr val="EDF3F4"/>
                    </a:solidFill>
                  </a:tcPr>
                </a:tc>
                <a:tc>
                  <a:txBody>
                    <a:bodyPr>
                      <a:noAutofit/>
                    </a:bodyPr>
                    <a:lstStyle/>
                    <a:p>
                      <a:r>
                        <a:rPr sz="1350" b="0">
                          <a:solidFill>
                            <a:srgbClr val="132433"/>
                          </a:solidFill>
                          <a:latin typeface="Aptos"/>
                          <a:ea typeface="Aptos"/>
                          <a:cs typeface="Aptos"/>
                        </a:rPr>
                        <a:t>Reject</a:t>
                      </a:r>
                    </a:p>
                  </a:txBody>
                  <a:tcPr marL="91440" marR="91440" marT="45720" marB="45720">
                    <a:solidFill>
                      <a:srgbClr val="EDF3F4"/>
                    </a:solidFill>
                  </a:tcPr>
                </a:tc>
              </a:tr>
              <a:tr h="523875">
                <a:tc>
                  <a:txBody>
                    <a:bodyPr>
                      <a:noAutofit/>
                    </a:bodyPr>
                    <a:lstStyle/>
                    <a:p>
                      <a:r>
                        <a:rPr sz="1350" b="1">
                          <a:solidFill>
                            <a:srgbClr val="132433"/>
                          </a:solidFill>
                          <a:latin typeface="Aptos"/>
                          <a:ea typeface="Aptos"/>
                          <a:cs typeface="Aptos"/>
                        </a:rPr>
                        <a:t>Existing exposure</a:t>
                      </a:r>
                    </a:p>
                  </a:txBody>
                  <a:tcPr marL="91440" marR="91440" marT="45720" marB="45720">
                    <a:solidFill>
                      <a:srgbClr val="FFFFFF"/>
                    </a:solidFill>
                  </a:tcPr>
                </a:tc>
                <a:tc>
                  <a:txBody>
                    <a:bodyPr>
                      <a:noAutofit/>
                    </a:bodyPr>
                    <a:lstStyle/>
                    <a:p>
                      <a:r>
                        <a:rPr sz="1350" b="0">
                          <a:solidFill>
                            <a:srgbClr val="132433"/>
                          </a:solidFill>
                          <a:latin typeface="Aptos"/>
                          <a:ea typeface="Aptos"/>
                          <a:cs typeface="Aptos"/>
                        </a:rPr>
                        <a:t>Granted credit &lt;= 3 x annual income.</a:t>
                      </a:r>
                    </a:p>
                  </a:txBody>
                  <a:tcPr marL="91440" marR="91440" marT="45720" marB="45720">
                    <a:solidFill>
                      <a:srgbClr val="FFFFFF"/>
                    </a:solidFill>
                  </a:tcPr>
                </a:tc>
                <a:tc>
                  <a:txBody>
                    <a:bodyPr>
                      <a:noAutofit/>
                    </a:bodyPr>
                    <a:lstStyle/>
                    <a:p>
                      <a:r>
                        <a:rPr sz="1350" b="0">
                          <a:solidFill>
                            <a:srgbClr val="132433"/>
                          </a:solidFill>
                          <a:latin typeface="Aptos"/>
                          <a:ea typeface="Aptos"/>
                          <a:cs typeface="Aptos"/>
                        </a:rPr>
                        <a:t>Reject</a:t>
                      </a:r>
                    </a:p>
                  </a:txBody>
                  <a:tcPr marL="91440" marR="91440" marT="45720" marB="45720">
                    <a:solidFill>
                      <a:srgbClr val="FFFFFF"/>
                    </a:solidFill>
                  </a:tcPr>
                </a:tc>
              </a:tr>
              <a:tr h="523875">
                <a:tc>
                  <a:txBody>
                    <a:bodyPr>
                      <a:noAutofit/>
                    </a:bodyPr>
                    <a:lstStyle/>
                    <a:p>
                      <a:r>
                        <a:rPr sz="1350" b="1">
                          <a:solidFill>
                            <a:srgbClr val="132433"/>
                          </a:solidFill>
                          <a:latin typeface="Aptos"/>
                          <a:ea typeface="Aptos"/>
                          <a:cs typeface="Aptos"/>
                        </a:rPr>
                        <a:t>Available margin</a:t>
                      </a:r>
                    </a:p>
                  </a:txBody>
                  <a:tcPr marL="91440" marR="91440" marT="45720" marB="45720">
                    <a:solidFill>
                      <a:srgbClr val="EDF3F4"/>
                    </a:solidFill>
                  </a:tcPr>
                </a:tc>
                <a:tc>
                  <a:txBody>
                    <a:bodyPr>
                      <a:noAutofit/>
                    </a:bodyPr>
                    <a:lstStyle/>
                    <a:p>
                      <a:r>
                        <a:rPr sz="1350" b="0">
                          <a:solidFill>
                            <a:srgbClr val="132433"/>
                          </a:solidFill>
                          <a:latin typeface="Aptos"/>
                          <a:ea typeface="Aptos"/>
                          <a:cs typeface="Aptos"/>
                        </a:rPr>
                        <a:t>Positive margin after policy and capacity limits.</a:t>
                      </a:r>
                    </a:p>
                  </a:txBody>
                  <a:tcPr marL="91440" marR="91440" marT="45720" marB="45720">
                    <a:solidFill>
                      <a:srgbClr val="EDF3F4"/>
                    </a:solidFill>
                  </a:tcPr>
                </a:tc>
                <a:tc>
                  <a:txBody>
                    <a:bodyPr>
                      <a:noAutofit/>
                    </a:bodyPr>
                    <a:lstStyle/>
                    <a:p>
                      <a:r>
                        <a:rPr sz="1350" b="0">
                          <a:solidFill>
                            <a:srgbClr val="132433"/>
                          </a:solidFill>
                          <a:latin typeface="Aptos"/>
                          <a:ea typeface="Aptos"/>
                          <a:cs typeface="Aptos"/>
                        </a:rPr>
                        <a:t>Reject if no budget</a:t>
                      </a:r>
                    </a:p>
                  </a:txBody>
                  <a:tcPr marL="91440" marR="91440" marT="45720" marB="45720">
                    <a:solidFill>
                      <a:srgbClr val="EDF3F4"/>
                    </a:solidFill>
                  </a:tcPr>
                </a:tc>
              </a:tr>
            </a:tbl>
          </a:graphicData>
        </a:graphic>
      </p:graphicFrame>
      <p:sp>
        <p:nvSpPr>
          <p:cNvPr id="7" name="">
            <a:extLst xmlns:a="http://schemas.openxmlformats.org/drawingml/2006/main">
              <a:ext uri="{FF2B5EF4-FFF2-40B4-BE49-F238E27FC236}">
                <a16:creationId xmlns:a16="http://schemas.microsoft.com/office/drawing/2014/main" id="{B7E24C14-D379-4F07-8B5A-F3DB6E7EAE6B}"/>
              </a:ext>
            </a:extLst>
          </p:cNvPr>
          <p:cNvSpPr>
            <a:spLocks xmlns:a="http://schemas.openxmlformats.org/drawingml/2006/main" noGrp="1"/>
          </p:cNvSpPr>
          <p:nvPr/>
        </p:nvSpPr>
        <p:spPr>
          <a:xfrm xmlns:a="http://schemas.openxmlformats.org/drawingml/2006/main">
            <a:off x="704850" y="575310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E7180"/>
                </a:solidFill>
                <a:latin typeface="Aptos"/>
                <a:ea typeface="Aptos"/>
                <a:cs typeface="Aptos"/>
              </a:defRPr>
            </a:pPr>
            <a:r>
              <a:rPr sz="1275" b="0">
                <a:solidFill>
                  <a:srgbClr val="5E7180"/>
                </a:solidFill>
                <a:latin typeface="Aptos"/>
                <a:ea typeface="Aptos"/>
                <a:cs typeface="Aptos"/>
              </a:rPr>
              <a:t>Prototype assumptions, not legal requirements. Net worth and payment counts are descriptive facts, not approval rules.</a:t>
            </a:r>
          </a:p>
        </p:txBody>
      </p:sp>
    </p:spTree>
    <p:extLst>
      <p:ext uri="{BB962C8B-B14F-4D97-AF65-F5344CB8AC3E}">
        <p14:creationId xmlns:p14="http://schemas.microsoft.com/office/powerpoint/2010/main" val="1954292224"/>
      </p:ext>
    </p:extLst>
  </p:cSld>
</p:sld>
</file>

<file path=ppt/slides/slide12.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769552C-00A8-4C53-A394-9F7FA9A644B2}"/>
              </a:ext>
            </a:extLst>
          </p:cNvPr>
          <p:cNvSpPr>
            <a:spLocks xmlns:a="http://schemas.openxmlformats.org/drawingml/2006/main" noGrp="1"/>
          </p:cNvSpPr>
          <p:nvPr/>
        </p:nvSpPr>
        <p:spPr>
          <a:xfrm xmlns:a="http://schemas.openxmlformats.org/drawingml/2006/main">
            <a:off x="666750" y="4000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32433"/>
                </a:solidFill>
                <a:latin typeface="Aptos"/>
                <a:ea typeface="Aptos"/>
                <a:cs typeface="Aptos"/>
              </a:defRPr>
            </a:pPr>
            <a:r>
              <a:rPr sz="2550" b="1">
                <a:solidFill>
                  <a:srgbClr val="132433"/>
                </a:solidFill>
                <a:latin typeface="Aptos"/>
                <a:ea typeface="Aptos"/>
                <a:cs typeface="Aptos"/>
              </a:rPr>
              <a:t>Product catalog and offer constraints</a:t>
            </a:r>
          </a:p>
        </p:txBody>
      </p:sp>
      <p:sp>
        <p:nvSpPr>
          <p:cNvPr id="2" name="">
            <a:extLst xmlns:a="http://schemas.openxmlformats.org/drawingml/2006/main">
              <a:ext uri="{FF2B5EF4-FFF2-40B4-BE49-F238E27FC236}">
                <a16:creationId xmlns:a16="http://schemas.microsoft.com/office/drawing/2014/main" id="{E492CF7A-5CA3-45AD-84FB-86B266049A69}"/>
              </a:ext>
            </a:extLst>
          </p:cNvPr>
          <p:cNvSpPr>
            <a:spLocks xmlns:a="http://schemas.openxmlformats.org/drawingml/2006/main" noGrp="1"/>
          </p:cNvSpPr>
          <p:nvPr/>
        </p:nvSpPr>
        <p:spPr>
          <a:xfrm xmlns:a="http://schemas.openxmlformats.org/drawingml/2006/main">
            <a:off x="685800" y="9715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E7180"/>
                </a:solidFill>
                <a:latin typeface="Aptos"/>
                <a:ea typeface="Aptos"/>
                <a:cs typeface="Aptos"/>
              </a:defRPr>
            </a:pPr>
            <a:r>
              <a:rPr sz="1350" b="0">
                <a:solidFill>
                  <a:srgbClr val="5E7180"/>
                </a:solidFill>
                <a:latin typeface="Aptos"/>
                <a:ea typeface="Aptos"/>
                <a:cs typeface="Aptos"/>
              </a:rPr>
              <a:t>All catalog limits are in USD. Rates and terms come from the versioned prototype policy.</a:t>
            </a:r>
          </a:p>
        </p:txBody>
      </p:sp>
      <p:sp>
        <p:nvSpPr>
          <p:cNvPr id="3" name="">
            <a:extLst xmlns:a="http://schemas.openxmlformats.org/drawingml/2006/main">
              <a:ext uri="{FF2B5EF4-FFF2-40B4-BE49-F238E27FC236}">
                <a16:creationId xmlns:a16="http://schemas.microsoft.com/office/drawing/2014/main" id="{4FE80485-A94C-4CC9-BACF-B6E5D3BE2D86}"/>
              </a:ext>
            </a:extLst>
          </p:cNvPr>
          <p:cNvSpPr>
            <a:spLocks xmlns:a="http://schemas.openxmlformats.org/drawingml/2006/main" noGrp="1"/>
          </p:cNvSpPr>
          <p:nvPr/>
        </p:nvSpPr>
        <p:spPr>
          <a:xfrm xmlns:a="http://schemas.openxmlformats.org/drawingml/2006/main">
            <a:off x="666750" y="1409700"/>
            <a:ext cx="876300" cy="38100"/>
          </a:xfrm>
          <a:prstGeom xmlns:a="http://schemas.openxmlformats.org/drawingml/2006/main" prst="rect">
            <a:avLst/>
          </a:prstGeom>
          <a:solidFill xmlns:a="http://schemas.openxmlformats.org/drawingml/2006/main">
            <a:srgbClr val="1FB6A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6D18318-5971-4BD2-AD63-DC01175DFAE6}"/>
              </a:ext>
            </a:extLst>
          </p:cNvPr>
          <p:cNvSpPr>
            <a:spLocks xmlns:a="http://schemas.openxmlformats.org/drawingml/2006/main" noGrp="1"/>
          </p:cNvSpPr>
          <p:nvPr/>
        </p:nvSpPr>
        <p:spPr>
          <a:xfrm xmlns:a="http://schemas.openxmlformats.org/drawingml/2006/main">
            <a:off x="685800" y="64008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E7180"/>
                </a:solidFill>
                <a:latin typeface="Aptos"/>
                <a:ea typeface="Aptos"/>
                <a:cs typeface="Aptos"/>
              </a:defRPr>
            </a:pPr>
            <a:r>
              <a:rPr sz="900" b="0">
                <a:solidFill>
                  <a:srgbClr val="5E7180"/>
                </a:solidFill>
                <a:latin typeface="Aptos"/>
                <a:ea typeface="Aptos"/>
                <a:cs typeface="Aptos"/>
              </a:rPr>
              <a:t>NOEMA  /  Factored AI &amp; Data Hackathon 2026</a:t>
            </a:r>
          </a:p>
        </p:txBody>
      </p:sp>
      <p:sp>
        <p:nvSpPr>
          <p:cNvPr id="5" name="">
            <a:extLst xmlns:a="http://schemas.openxmlformats.org/drawingml/2006/main">
              <a:ext uri="{FF2B5EF4-FFF2-40B4-BE49-F238E27FC236}">
                <a16:creationId xmlns:a16="http://schemas.microsoft.com/office/drawing/2014/main" id="{521308AC-5445-4103-AF55-2AD138063E8A}"/>
              </a:ext>
            </a:extLst>
          </p:cNvPr>
          <p:cNvSpPr>
            <a:spLocks xmlns:a="http://schemas.openxmlformats.org/drawingml/2006/main" noGrp="1"/>
          </p:cNvSpPr>
          <p:nvPr/>
        </p:nvSpPr>
        <p:spPr>
          <a:xfrm xmlns:a="http://schemas.openxmlformats.org/drawingml/2006/main">
            <a:off x="11096625" y="64008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5E7180"/>
                </a:solidFill>
                <a:latin typeface="Aptos"/>
                <a:ea typeface="Aptos"/>
                <a:cs typeface="Aptos"/>
              </a:defRPr>
            </a:pPr>
            <a:r>
              <a:rPr sz="900" b="1">
                <a:solidFill>
                  <a:srgbClr val="5E7180"/>
                </a:solidFill>
                <a:latin typeface="Aptos"/>
                <a:ea typeface="Aptos"/>
                <a:cs typeface="Aptos"/>
              </a:rPr>
              <a:t>12</a:t>
            </a:r>
          </a:p>
        </p:txBody>
      </p:sp>
      <p:graphicFrame>
        <p:nvGraphicFramePr>
          <p:cNvPr id="17" name=""/>
          <p:cNvGraphicFramePr/>
          <p:nvPr/>
        </p:nvGraphicFramePr>
        <p:xfrm>
          <a:off xmlns:a="http://schemas.openxmlformats.org/drawingml/2006/main" x="685800" y="1714500"/>
          <a:ext xmlns:a="http://schemas.openxmlformats.org/drawingml/2006/main" cx="10820400" cy="2457450"/>
        </p:xfrm>
        <a:graphic xmlns:a="http://schemas.openxmlformats.org/drawingml/2006/main">
          <a:graphicData uri="http://schemas.openxmlformats.org/drawingml/2006/table">
            <a:tbl>
              <a:tblPr firstRow="1" bandRow="0"/>
              <a:tblGrid>
                <a:gridCol w="2190750"/>
                <a:gridCol w="2238375"/>
                <a:gridCol w="2533650"/>
                <a:gridCol w="2333625"/>
                <a:gridCol w="1524000"/>
              </a:tblGrid>
              <a:tr h="614363">
                <a:tc>
                  <a:txBody>
                    <a:bodyPr>
                      <a:noAutofit/>
                    </a:bodyPr>
                    <a:lstStyle/>
                    <a:p>
                      <a:r>
                        <a:rPr sz="1425" b="1">
                          <a:solidFill>
                            <a:srgbClr val="FFFFFF"/>
                          </a:solidFill>
                          <a:latin typeface="Aptos"/>
                          <a:ea typeface="Aptos"/>
                          <a:cs typeface="Aptos"/>
                        </a:rPr>
                        <a:t>Product</a:t>
                      </a:r>
                    </a:p>
                  </a:txBody>
                  <a:tcPr marL="91440" marR="91440" marT="45720" marB="45720">
                    <a:solidFill>
                      <a:srgbClr val="071826"/>
                    </a:solidFill>
                  </a:tcPr>
                </a:tc>
                <a:tc>
                  <a:txBody>
                    <a:bodyPr>
                      <a:noAutofit/>
                    </a:bodyPr>
                    <a:lstStyle/>
                    <a:p>
                      <a:r>
                        <a:rPr sz="1425" b="1">
                          <a:solidFill>
                            <a:srgbClr val="FFFFFF"/>
                          </a:solidFill>
                          <a:latin typeface="Aptos"/>
                          <a:ea typeface="Aptos"/>
                          <a:cs typeface="Aptos"/>
                        </a:rPr>
                        <a:t>USD range</a:t>
                      </a:r>
                    </a:p>
                  </a:txBody>
                  <a:tcPr marL="91440" marR="91440" marT="45720" marB="45720">
                    <a:solidFill>
                      <a:srgbClr val="071826"/>
                    </a:solidFill>
                  </a:tcPr>
                </a:tc>
                <a:tc>
                  <a:txBody>
                    <a:bodyPr>
                      <a:noAutofit/>
                    </a:bodyPr>
                    <a:lstStyle/>
                    <a:p>
                      <a:r>
                        <a:rPr sz="1425" b="1">
                          <a:solidFill>
                            <a:srgbClr val="FFFFFF"/>
                          </a:solidFill>
                          <a:latin typeface="Aptos"/>
                          <a:ea typeface="Aptos"/>
                          <a:cs typeface="Aptos"/>
                        </a:rPr>
                        <a:t>Nominal / effective</a:t>
                      </a:r>
                    </a:p>
                  </a:txBody>
                  <a:tcPr marL="91440" marR="91440" marT="45720" marB="45720">
                    <a:solidFill>
                      <a:srgbClr val="071826"/>
                    </a:solidFill>
                  </a:tcPr>
                </a:tc>
                <a:tc>
                  <a:txBody>
                    <a:bodyPr>
                      <a:noAutofit/>
                    </a:bodyPr>
                    <a:lstStyle/>
                    <a:p>
                      <a:r>
                        <a:rPr sz="1425" b="1">
                          <a:solidFill>
                            <a:srgbClr val="FFFFFF"/>
                          </a:solidFill>
                          <a:latin typeface="Aptos"/>
                          <a:ea typeface="Aptos"/>
                          <a:cs typeface="Aptos"/>
                        </a:rPr>
                        <a:t>Terms (months)</a:t>
                      </a:r>
                    </a:p>
                  </a:txBody>
                  <a:tcPr marL="91440" marR="91440" marT="45720" marB="45720">
                    <a:solidFill>
                      <a:srgbClr val="071826"/>
                    </a:solidFill>
                  </a:tcPr>
                </a:tc>
                <a:tc>
                  <a:txBody>
                    <a:bodyPr>
                      <a:noAutofit/>
                    </a:bodyPr>
                    <a:lstStyle/>
                    <a:p>
                      <a:r>
                        <a:rPr sz="1425" b="1">
                          <a:solidFill>
                            <a:srgbClr val="FFFFFF"/>
                          </a:solidFill>
                          <a:latin typeface="Aptos"/>
                          <a:ea typeface="Aptos"/>
                          <a:cs typeface="Aptos"/>
                        </a:rPr>
                        <a:t>Reserves</a:t>
                      </a:r>
                    </a:p>
                  </a:txBody>
                  <a:tcPr marL="91440" marR="91440" marT="45720" marB="45720">
                    <a:solidFill>
                      <a:srgbClr val="071826"/>
                    </a:solidFill>
                  </a:tcPr>
                </a:tc>
              </a:tr>
              <a:tr h="614363">
                <a:tc>
                  <a:txBody>
                    <a:bodyPr>
                      <a:noAutofit/>
                    </a:bodyPr>
                    <a:lstStyle/>
                    <a:p>
                      <a:r>
                        <a:rPr sz="1425" b="1">
                          <a:solidFill>
                            <a:srgbClr val="132433"/>
                          </a:solidFill>
                          <a:latin typeface="Aptos"/>
                          <a:ea typeface="Aptos"/>
                          <a:cs typeface="Aptos"/>
                        </a:rPr>
                        <a:t>Credit card</a:t>
                      </a:r>
                    </a:p>
                  </a:txBody>
                  <a:tcPr marL="91440" marR="91440" marT="45720" marB="45720">
                    <a:solidFill>
                      <a:srgbClr val="FFFFFF"/>
                    </a:solidFill>
                  </a:tcPr>
                </a:tc>
                <a:tc>
                  <a:txBody>
                    <a:bodyPr>
                      <a:noAutofit/>
                    </a:bodyPr>
                    <a:lstStyle/>
                    <a:p>
                      <a:r>
                        <a:rPr sz="1425" b="0">
                          <a:solidFill>
                            <a:srgbClr val="132433"/>
                          </a:solidFill>
                          <a:latin typeface="Aptos"/>
                          <a:ea typeface="Aptos"/>
                          <a:cs typeface="Aptos"/>
                        </a:rPr>
                        <a:t>500-100,000</a:t>
                      </a:r>
                    </a:p>
                  </a:txBody>
                  <a:tcPr marL="91440" marR="91440" marT="45720" marB="45720">
                    <a:solidFill>
                      <a:srgbClr val="FFFFFF"/>
                    </a:solidFill>
                  </a:tcPr>
                </a:tc>
                <a:tc>
                  <a:txBody>
                    <a:bodyPr>
                      <a:noAutofit/>
                    </a:bodyPr>
                    <a:lstStyle/>
                    <a:p>
                      <a:r>
                        <a:rPr sz="1425" b="0">
                          <a:solidFill>
                            <a:srgbClr val="132433"/>
                          </a:solidFill>
                          <a:latin typeface="Aptos"/>
                          <a:ea typeface="Aptos"/>
                          <a:cs typeface="Aptos"/>
                        </a:rPr>
                        <a:t>31.52% / 36.50%</a:t>
                      </a:r>
                    </a:p>
                  </a:txBody>
                  <a:tcPr marL="91440" marR="91440" marT="45720" marB="45720">
                    <a:solidFill>
                      <a:srgbClr val="FFFFFF"/>
                    </a:solidFill>
                  </a:tcPr>
                </a:tc>
                <a:tc>
                  <a:txBody>
                    <a:bodyPr>
                      <a:noAutofit/>
                    </a:bodyPr>
                    <a:lstStyle/>
                    <a:p>
                      <a:r>
                        <a:rPr sz="1425" b="0">
                          <a:solidFill>
                            <a:srgbClr val="132433"/>
                          </a:solidFill>
                          <a:latin typeface="Aptos"/>
                          <a:ea typeface="Aptos"/>
                          <a:cs typeface="Aptos"/>
                        </a:rPr>
                        <a:t>Revolving</a:t>
                      </a:r>
                    </a:p>
                  </a:txBody>
                  <a:tcPr marL="91440" marR="91440" marT="45720" marB="45720">
                    <a:solidFill>
                      <a:srgbClr val="FFFFFF"/>
                    </a:solidFill>
                  </a:tcPr>
                </a:tc>
                <a:tc>
                  <a:txBody>
                    <a:bodyPr>
                      <a:noAutofit/>
                    </a:bodyPr>
                    <a:lstStyle/>
                    <a:p>
                      <a:r>
                        <a:rPr sz="1425" b="0">
                          <a:solidFill>
                            <a:srgbClr val="132433"/>
                          </a:solidFill>
                          <a:latin typeface="Aptos"/>
                          <a:ea typeface="Aptos"/>
                          <a:cs typeface="Aptos"/>
                        </a:rPr>
                        <a:t>None</a:t>
                      </a:r>
                    </a:p>
                  </a:txBody>
                  <a:tcPr marL="91440" marR="91440" marT="45720" marB="45720">
                    <a:solidFill>
                      <a:srgbClr val="FFFFFF"/>
                    </a:solidFill>
                  </a:tcPr>
                </a:tc>
              </a:tr>
              <a:tr h="614363">
                <a:tc>
                  <a:txBody>
                    <a:bodyPr>
                      <a:noAutofit/>
                    </a:bodyPr>
                    <a:lstStyle/>
                    <a:p>
                      <a:r>
                        <a:rPr sz="1425" b="1">
                          <a:solidFill>
                            <a:srgbClr val="132433"/>
                          </a:solidFill>
                          <a:latin typeface="Aptos"/>
                          <a:ea typeface="Aptos"/>
                          <a:cs typeface="Aptos"/>
                        </a:rPr>
                        <a:t>Personal loan</a:t>
                      </a:r>
                    </a:p>
                  </a:txBody>
                  <a:tcPr marL="91440" marR="91440" marT="45720" marB="45720">
                    <a:solidFill>
                      <a:srgbClr val="EDF3F4"/>
                    </a:solidFill>
                  </a:tcPr>
                </a:tc>
                <a:tc>
                  <a:txBody>
                    <a:bodyPr>
                      <a:noAutofit/>
                    </a:bodyPr>
                    <a:lstStyle/>
                    <a:p>
                      <a:r>
                        <a:rPr sz="1425" b="0">
                          <a:solidFill>
                            <a:srgbClr val="132433"/>
                          </a:solidFill>
                          <a:latin typeface="Aptos"/>
                          <a:ea typeface="Aptos"/>
                          <a:cs typeface="Aptos"/>
                        </a:rPr>
                        <a:t>1,000-150,000</a:t>
                      </a:r>
                    </a:p>
                  </a:txBody>
                  <a:tcPr marL="91440" marR="91440" marT="45720" marB="45720">
                    <a:solidFill>
                      <a:srgbClr val="EDF3F4"/>
                    </a:solidFill>
                  </a:tcPr>
                </a:tc>
                <a:tc>
                  <a:txBody>
                    <a:bodyPr>
                      <a:noAutofit/>
                    </a:bodyPr>
                    <a:lstStyle/>
                    <a:p>
                      <a:r>
                        <a:rPr sz="1425" b="0">
                          <a:solidFill>
                            <a:srgbClr val="132433"/>
                          </a:solidFill>
                          <a:latin typeface="Aptos"/>
                          <a:ea typeface="Aptos"/>
                          <a:cs typeface="Aptos"/>
                        </a:rPr>
                        <a:t>20.10% / 22.06%</a:t>
                      </a:r>
                    </a:p>
                  </a:txBody>
                  <a:tcPr marL="91440" marR="91440" marT="45720" marB="45720">
                    <a:solidFill>
                      <a:srgbClr val="EDF3F4"/>
                    </a:solidFill>
                  </a:tcPr>
                </a:tc>
                <a:tc>
                  <a:txBody>
                    <a:bodyPr>
                      <a:noAutofit/>
                    </a:bodyPr>
                    <a:lstStyle/>
                    <a:p>
                      <a:r>
                        <a:rPr sz="1425" b="0">
                          <a:solidFill>
                            <a:srgbClr val="132433"/>
                          </a:solidFill>
                          <a:latin typeface="Aptos"/>
                          <a:ea typeface="Aptos"/>
                          <a:cs typeface="Aptos"/>
                        </a:rPr>
                        <a:t>24 / 48 / 72</a:t>
                      </a:r>
                    </a:p>
                  </a:txBody>
                  <a:tcPr marL="91440" marR="91440" marT="45720" marB="45720">
                    <a:solidFill>
                      <a:srgbClr val="EDF3F4"/>
                    </a:solidFill>
                  </a:tcPr>
                </a:tc>
                <a:tc>
                  <a:txBody>
                    <a:bodyPr>
                      <a:noAutofit/>
                    </a:bodyPr>
                    <a:lstStyle/>
                    <a:p>
                      <a:r>
                        <a:rPr sz="1425" b="0">
                          <a:solidFill>
                            <a:srgbClr val="132433"/>
                          </a:solidFill>
                          <a:latin typeface="Aptos"/>
                          <a:ea typeface="Aptos"/>
                          <a:cs typeface="Aptos"/>
                        </a:rPr>
                        <a:t>1 payment</a:t>
                      </a:r>
                    </a:p>
                  </a:txBody>
                  <a:tcPr marL="91440" marR="91440" marT="45720" marB="45720">
                    <a:solidFill>
                      <a:srgbClr val="EDF3F4"/>
                    </a:solidFill>
                  </a:tcPr>
                </a:tc>
              </a:tr>
              <a:tr h="614363">
                <a:tc>
                  <a:txBody>
                    <a:bodyPr>
                      <a:noAutofit/>
                    </a:bodyPr>
                    <a:lstStyle/>
                    <a:p>
                      <a:r>
                        <a:rPr sz="1425" b="1">
                          <a:solidFill>
                            <a:srgbClr val="132433"/>
                          </a:solidFill>
                          <a:latin typeface="Aptos"/>
                          <a:ea typeface="Aptos"/>
                          <a:cs typeface="Aptos"/>
                        </a:rPr>
                        <a:t>Mortgage</a:t>
                      </a:r>
                    </a:p>
                  </a:txBody>
                  <a:tcPr marL="91440" marR="91440" marT="45720" marB="45720">
                    <a:solidFill>
                      <a:srgbClr val="FFFFFF"/>
                    </a:solidFill>
                  </a:tcPr>
                </a:tc>
                <a:tc>
                  <a:txBody>
                    <a:bodyPr>
                      <a:noAutofit/>
                    </a:bodyPr>
                    <a:lstStyle/>
                    <a:p>
                      <a:r>
                        <a:rPr sz="1425" b="0">
                          <a:solidFill>
                            <a:srgbClr val="132433"/>
                          </a:solidFill>
                          <a:latin typeface="Aptos"/>
                          <a:ea typeface="Aptos"/>
                          <a:cs typeface="Aptos"/>
                        </a:rPr>
                        <a:t>20,000-500,000</a:t>
                      </a:r>
                    </a:p>
                  </a:txBody>
                  <a:tcPr marL="91440" marR="91440" marT="45720" marB="45720">
                    <a:solidFill>
                      <a:srgbClr val="FFFFFF"/>
                    </a:solidFill>
                  </a:tcPr>
                </a:tc>
                <a:tc>
                  <a:txBody>
                    <a:bodyPr>
                      <a:noAutofit/>
                    </a:bodyPr>
                    <a:lstStyle/>
                    <a:p>
                      <a:r>
                        <a:rPr sz="1425" b="0">
                          <a:solidFill>
                            <a:srgbClr val="132433"/>
                          </a:solidFill>
                          <a:latin typeface="Aptos"/>
                          <a:ea typeface="Aptos"/>
                          <a:cs typeface="Aptos"/>
                        </a:rPr>
                        <a:t>8.98% / 9.36%</a:t>
                      </a:r>
                    </a:p>
                  </a:txBody>
                  <a:tcPr marL="91440" marR="91440" marT="45720" marB="45720">
                    <a:solidFill>
                      <a:srgbClr val="FFFFFF"/>
                    </a:solidFill>
                  </a:tcPr>
                </a:tc>
                <a:tc>
                  <a:txBody>
                    <a:bodyPr>
                      <a:noAutofit/>
                    </a:bodyPr>
                    <a:lstStyle/>
                    <a:p>
                      <a:r>
                        <a:rPr sz="1425" b="0">
                          <a:solidFill>
                            <a:srgbClr val="132433"/>
                          </a:solidFill>
                          <a:latin typeface="Aptos"/>
                          <a:ea typeface="Aptos"/>
                          <a:cs typeface="Aptos"/>
                        </a:rPr>
                        <a:t>120 / 180 / 240</a:t>
                      </a:r>
                    </a:p>
                  </a:txBody>
                  <a:tcPr marL="91440" marR="91440" marT="45720" marB="45720">
                    <a:solidFill>
                      <a:srgbClr val="FFFFFF"/>
                    </a:solidFill>
                  </a:tcPr>
                </a:tc>
                <a:tc>
                  <a:txBody>
                    <a:bodyPr>
                      <a:noAutofit/>
                    </a:bodyPr>
                    <a:lstStyle/>
                    <a:p>
                      <a:r>
                        <a:rPr sz="1425" b="0">
                          <a:solidFill>
                            <a:srgbClr val="132433"/>
                          </a:solidFill>
                          <a:latin typeface="Aptos"/>
                          <a:ea typeface="Aptos"/>
                          <a:cs typeface="Aptos"/>
                        </a:rPr>
                        <a:t>3 payments</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3DDBF22D-D3B7-4448-971D-340E4EECAB37}"/>
              </a:ext>
            </a:extLst>
          </p:cNvPr>
          <p:cNvSpPr>
            <a:spLocks xmlns:a="http://schemas.openxmlformats.org/drawingml/2006/main" noGrp="1"/>
          </p:cNvSpPr>
          <p:nvPr/>
        </p:nvSpPr>
        <p:spPr>
          <a:xfrm xmlns:a="http://schemas.openxmlformats.org/drawingml/2006/main">
            <a:off x="723900" y="4467225"/>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2433"/>
                </a:solidFill>
                <a:latin typeface="Aptos"/>
                <a:ea typeface="Aptos"/>
                <a:cs typeface="Aptos"/>
              </a:defRPr>
            </a:pPr>
            <a:r>
              <a:rPr sz="1725" b="1">
                <a:solidFill>
                  <a:srgbClr val="132433"/>
                </a:solidFill>
                <a:latin typeface="Aptos"/>
                <a:ea typeface="Aptos"/>
                <a:cs typeface="Aptos"/>
              </a:rPr>
              <a:t>Segment restrictions</a:t>
            </a:r>
          </a:p>
        </p:txBody>
      </p:sp>
      <p:sp>
        <p:nvSpPr>
          <p:cNvPr id="8" name="">
            <a:extLst xmlns:a="http://schemas.openxmlformats.org/drawingml/2006/main">
              <a:ext uri="{FF2B5EF4-FFF2-40B4-BE49-F238E27FC236}">
                <a16:creationId xmlns:a16="http://schemas.microsoft.com/office/drawing/2014/main" id="{27B4BFEC-AC64-4960-8421-9173A63ACE95}"/>
              </a:ext>
            </a:extLst>
          </p:cNvPr>
          <p:cNvSpPr>
            <a:spLocks xmlns:a="http://schemas.openxmlformats.org/drawingml/2006/main" noGrp="1"/>
          </p:cNvSpPr>
          <p:nvPr/>
        </p:nvSpPr>
        <p:spPr>
          <a:xfrm xmlns:a="http://schemas.openxmlformats.org/drawingml/2006/main">
            <a:off x="723900" y="4829175"/>
            <a:ext cx="5238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Card: all four segments. Personal: Basic, Plus,</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Premium. Mortgage: Plus and Premium.</a:t>
            </a:r>
          </a:p>
        </p:txBody>
      </p:sp>
      <p:sp>
        <p:nvSpPr>
          <p:cNvPr id="9" name="">
            <a:extLst xmlns:a="http://schemas.openxmlformats.org/drawingml/2006/main">
              <a:ext uri="{FF2B5EF4-FFF2-40B4-BE49-F238E27FC236}">
                <a16:creationId xmlns:a16="http://schemas.microsoft.com/office/drawing/2014/main" id="{0592FDA4-7DB9-4DFB-A6C9-20D751766B0D}"/>
              </a:ext>
            </a:extLst>
          </p:cNvPr>
          <p:cNvSpPr>
            <a:spLocks xmlns:a="http://schemas.openxmlformats.org/drawingml/2006/main" noGrp="1"/>
          </p:cNvSpPr>
          <p:nvPr/>
        </p:nvSpPr>
        <p:spPr>
          <a:xfrm xmlns:a="http://schemas.openxmlformats.org/drawingml/2006/main">
            <a:off x="6419850" y="4467225"/>
            <a:ext cx="504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2433"/>
                </a:solidFill>
                <a:latin typeface="Aptos"/>
                <a:ea typeface="Aptos"/>
                <a:cs typeface="Aptos"/>
              </a:defRPr>
            </a:pPr>
            <a:r>
              <a:rPr sz="1725" b="1">
                <a:solidFill>
                  <a:srgbClr val="132433"/>
                </a:solidFill>
                <a:latin typeface="Aptos"/>
                <a:ea typeface="Aptos"/>
                <a:cs typeface="Aptos"/>
              </a:rPr>
              <a:t>Quote-level checks</a:t>
            </a:r>
          </a:p>
        </p:txBody>
      </p:sp>
      <p:sp>
        <p:nvSpPr>
          <p:cNvPr id="10" name="">
            <a:extLst xmlns:a="http://schemas.openxmlformats.org/drawingml/2006/main">
              <a:ext uri="{FF2B5EF4-FFF2-40B4-BE49-F238E27FC236}">
                <a16:creationId xmlns:a16="http://schemas.microsoft.com/office/drawing/2014/main" id="{492FC407-1A42-4B7E-A45F-69F746E1B954}"/>
              </a:ext>
            </a:extLst>
          </p:cNvPr>
          <p:cNvSpPr>
            <a:spLocks xmlns:a="http://schemas.openxmlformats.org/drawingml/2006/main" noGrp="1"/>
          </p:cNvSpPr>
          <p:nvPr/>
        </p:nvSpPr>
        <p:spPr>
          <a:xfrm xmlns:a="http://schemas.openxmlformats.org/drawingml/2006/main">
            <a:off x="6419850" y="4829175"/>
            <a:ext cx="5048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Cap the amount by budget and catalog maximum.</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Validate the minimum and reserves at each term.</a:t>
            </a:r>
          </a:p>
        </p:txBody>
      </p:sp>
      <p:sp>
        <p:nvSpPr>
          <p:cNvPr id="11" name="">
            <a:extLst xmlns:a="http://schemas.openxmlformats.org/drawingml/2006/main">
              <a:ext uri="{FF2B5EF4-FFF2-40B4-BE49-F238E27FC236}">
                <a16:creationId xmlns:a16="http://schemas.microsoft.com/office/drawing/2014/main" id="{00F38195-E2AC-4327-9006-F8EDD6DFCBCE}"/>
              </a:ext>
            </a:extLst>
          </p:cNvPr>
          <p:cNvSpPr>
            <a:spLocks xmlns:a="http://schemas.openxmlformats.org/drawingml/2006/main" noGrp="1"/>
          </p:cNvSpPr>
          <p:nvPr/>
        </p:nvSpPr>
        <p:spPr>
          <a:xfrm xmlns:a="http://schemas.openxmlformats.org/drawingml/2006/main">
            <a:off x="704850" y="575310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E7180"/>
                </a:solidFill>
                <a:latin typeface="Aptos"/>
                <a:ea typeface="Aptos"/>
                <a:cs typeface="Aptos"/>
              </a:defRPr>
            </a:pPr>
            <a:r>
              <a:rPr sz="1275" b="0">
                <a:solidFill>
                  <a:srgbClr val="5E7180"/>
                </a:solidFill>
                <a:latin typeface="Aptos"/>
                <a:ea typeface="Aptos"/>
                <a:cs typeface="Aptos"/>
              </a:rPr>
              <a:t>Longer fixed-loan terms lower the payment but increase total interest. A revolving line has no fixed total interest.</a:t>
            </a:r>
          </a:p>
        </p:txBody>
      </p:sp>
    </p:spTree>
    <p:extLst>
      <p:ext uri="{BB962C8B-B14F-4D97-AF65-F5344CB8AC3E}">
        <p14:creationId xmlns:p14="http://schemas.microsoft.com/office/powerpoint/2010/main" val="3567965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CCEA04F-9B76-4AAF-ABFC-7B02DC89DEF3}"/>
              </a:ext>
            </a:extLst>
          </p:cNvPr>
          <p:cNvSpPr>
            <a:spLocks xmlns:a="http://schemas.openxmlformats.org/drawingml/2006/main" noGrp="1"/>
          </p:cNvSpPr>
          <p:nvPr/>
        </p:nvSpPr>
        <p:spPr>
          <a:xfrm xmlns:a="http://schemas.openxmlformats.org/drawingml/2006/main">
            <a:off x="666750" y="4000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32433"/>
                </a:solidFill>
                <a:latin typeface="Aptos"/>
                <a:ea typeface="Aptos"/>
                <a:cs typeface="Aptos"/>
              </a:defRPr>
            </a:pPr>
            <a:r>
              <a:rPr sz="2550" b="1">
                <a:solidFill>
                  <a:srgbClr val="132433"/>
                </a:solidFill>
                <a:latin typeface="Aptos"/>
                <a:ea typeface="Aptos"/>
                <a:cs typeface="Aptos"/>
              </a:rPr>
              <a:t>Worked example: a USD 10,000 personal loan</a:t>
            </a:r>
          </a:p>
        </p:txBody>
      </p:sp>
      <p:sp>
        <p:nvSpPr>
          <p:cNvPr id="2" name="">
            <a:extLst xmlns:a="http://schemas.openxmlformats.org/drawingml/2006/main">
              <a:ext uri="{FF2B5EF4-FFF2-40B4-BE49-F238E27FC236}">
                <a16:creationId xmlns:a16="http://schemas.microsoft.com/office/drawing/2014/main" id="{B1F42FC9-F332-49C3-9C00-6A279CD6E86D}"/>
              </a:ext>
            </a:extLst>
          </p:cNvPr>
          <p:cNvSpPr>
            <a:spLocks xmlns:a="http://schemas.openxmlformats.org/drawingml/2006/main" noGrp="1"/>
          </p:cNvSpPr>
          <p:nvPr/>
        </p:nvSpPr>
        <p:spPr>
          <a:xfrm xmlns:a="http://schemas.openxmlformats.org/drawingml/2006/main">
            <a:off x="685800" y="9715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E7180"/>
                </a:solidFill>
                <a:latin typeface="Aptos"/>
                <a:ea typeface="Aptos"/>
                <a:cs typeface="Aptos"/>
              </a:defRPr>
            </a:pPr>
            <a:r>
              <a:rPr sz="1350" b="0">
                <a:solidFill>
                  <a:srgbClr val="5E7180"/>
                </a:solidFill>
                <a:latin typeface="Aptos"/>
                <a:ea typeface="Aptos"/>
                <a:cs typeface="Aptos"/>
              </a:rPr>
              <a:t>Illustrative scenario using policy version 3. These are assumed inputs, not a recorded customer outcome.</a:t>
            </a:r>
          </a:p>
        </p:txBody>
      </p:sp>
      <p:sp>
        <p:nvSpPr>
          <p:cNvPr id="3" name="">
            <a:extLst xmlns:a="http://schemas.openxmlformats.org/drawingml/2006/main">
              <a:ext uri="{FF2B5EF4-FFF2-40B4-BE49-F238E27FC236}">
                <a16:creationId xmlns:a16="http://schemas.microsoft.com/office/drawing/2014/main" id="{3C3F5667-5C94-45F6-B453-75A39E764336}"/>
              </a:ext>
            </a:extLst>
          </p:cNvPr>
          <p:cNvSpPr>
            <a:spLocks xmlns:a="http://schemas.openxmlformats.org/drawingml/2006/main" noGrp="1"/>
          </p:cNvSpPr>
          <p:nvPr/>
        </p:nvSpPr>
        <p:spPr>
          <a:xfrm xmlns:a="http://schemas.openxmlformats.org/drawingml/2006/main">
            <a:off x="666750" y="1409700"/>
            <a:ext cx="876300" cy="38100"/>
          </a:xfrm>
          <a:prstGeom xmlns:a="http://schemas.openxmlformats.org/drawingml/2006/main" prst="rect">
            <a:avLst/>
          </a:prstGeom>
          <a:solidFill xmlns:a="http://schemas.openxmlformats.org/drawingml/2006/main">
            <a:srgbClr val="1FB6A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9E97B18-4FC1-48BF-A8B4-EFDA732E49AB}"/>
              </a:ext>
            </a:extLst>
          </p:cNvPr>
          <p:cNvSpPr>
            <a:spLocks xmlns:a="http://schemas.openxmlformats.org/drawingml/2006/main" noGrp="1"/>
          </p:cNvSpPr>
          <p:nvPr/>
        </p:nvSpPr>
        <p:spPr>
          <a:xfrm xmlns:a="http://schemas.openxmlformats.org/drawingml/2006/main">
            <a:off x="685800" y="64008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E7180"/>
                </a:solidFill>
                <a:latin typeface="Aptos"/>
                <a:ea typeface="Aptos"/>
                <a:cs typeface="Aptos"/>
              </a:defRPr>
            </a:pPr>
            <a:r>
              <a:rPr sz="900" b="0">
                <a:solidFill>
                  <a:srgbClr val="5E7180"/>
                </a:solidFill>
                <a:latin typeface="Aptos"/>
                <a:ea typeface="Aptos"/>
                <a:cs typeface="Aptos"/>
              </a:rPr>
              <a:t>NOEMA  /  Factored AI &amp; Data Hackathon 2026</a:t>
            </a:r>
          </a:p>
        </p:txBody>
      </p:sp>
      <p:sp>
        <p:nvSpPr>
          <p:cNvPr id="5" name="">
            <a:extLst xmlns:a="http://schemas.openxmlformats.org/drawingml/2006/main">
              <a:ext uri="{FF2B5EF4-FFF2-40B4-BE49-F238E27FC236}">
                <a16:creationId xmlns:a16="http://schemas.microsoft.com/office/drawing/2014/main" id="{3D5B6F56-6BA9-4957-8167-CA76B1DB84A4}"/>
              </a:ext>
            </a:extLst>
          </p:cNvPr>
          <p:cNvSpPr>
            <a:spLocks xmlns:a="http://schemas.openxmlformats.org/drawingml/2006/main" noGrp="1"/>
          </p:cNvSpPr>
          <p:nvPr/>
        </p:nvSpPr>
        <p:spPr>
          <a:xfrm xmlns:a="http://schemas.openxmlformats.org/drawingml/2006/main">
            <a:off x="11096625" y="64008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5E7180"/>
                </a:solidFill>
                <a:latin typeface="Aptos"/>
                <a:ea typeface="Aptos"/>
                <a:cs typeface="Aptos"/>
              </a:defRPr>
            </a:pPr>
            <a:r>
              <a:rPr sz="900" b="1">
                <a:solidFill>
                  <a:srgbClr val="5E7180"/>
                </a:solidFill>
                <a:latin typeface="Aptos"/>
                <a:ea typeface="Aptos"/>
                <a:cs typeface="Aptos"/>
              </a:rPr>
              <a:t>13</a:t>
            </a:r>
          </a:p>
        </p:txBody>
      </p:sp>
      <p:sp>
        <p:nvSpPr>
          <p:cNvPr id="6" name="">
            <a:extLst xmlns:a="http://schemas.openxmlformats.org/drawingml/2006/main">
              <a:ext uri="{FF2B5EF4-FFF2-40B4-BE49-F238E27FC236}">
                <a16:creationId xmlns:a16="http://schemas.microsoft.com/office/drawing/2014/main" id="{E8BE3542-0613-4B8C-9FA0-358216E4D19F}"/>
              </a:ext>
            </a:extLst>
          </p:cNvPr>
          <p:cNvSpPr>
            <a:spLocks xmlns:a="http://schemas.openxmlformats.org/drawingml/2006/main" noGrp="1"/>
          </p:cNvSpPr>
          <p:nvPr/>
        </p:nvSpPr>
        <p:spPr>
          <a:xfrm xmlns:a="http://schemas.openxmlformats.org/drawingml/2006/main">
            <a:off x="723900" y="1685925"/>
            <a:ext cx="10725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32433"/>
                </a:solidFill>
                <a:latin typeface="Aptos"/>
                <a:ea typeface="Aptos"/>
                <a:cs typeface="Aptos"/>
              </a:defRPr>
            </a:pPr>
            <a:r>
              <a:rPr sz="1575" b="1">
                <a:solidFill>
                  <a:srgbClr val="132433"/>
                </a:solidFill>
                <a:latin typeface="Aptos"/>
                <a:ea typeface="Aptos"/>
                <a:cs typeface="Aptos"/>
              </a:rPr>
              <a:t>Income $3,000   Current payments $600   Reserves $1,500   ML capacity $450 / month</a:t>
            </a:r>
          </a:p>
        </p:txBody>
      </p:sp>
      <p:sp>
        <p:nvSpPr>
          <p:cNvPr id="7" name="">
            <a:extLst xmlns:a="http://schemas.openxmlformats.org/drawingml/2006/main">
              <a:ext uri="{FF2B5EF4-FFF2-40B4-BE49-F238E27FC236}">
                <a16:creationId xmlns:a16="http://schemas.microsoft.com/office/drawing/2014/main" id="{F8EAD2CE-27C2-4E15-AB4D-9806301DABAD}"/>
              </a:ext>
            </a:extLst>
          </p:cNvPr>
          <p:cNvSpPr>
            <a:spLocks xmlns:a="http://schemas.openxmlformats.org/drawingml/2006/main" noGrp="1"/>
          </p:cNvSpPr>
          <p:nvPr/>
        </p:nvSpPr>
        <p:spPr>
          <a:xfrm xmlns:a="http://schemas.openxmlformats.org/drawingml/2006/main">
            <a:off x="723900" y="2190750"/>
            <a:ext cx="107251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32433"/>
                </a:solidFill>
                <a:latin typeface="Aptos"/>
                <a:ea typeface="Aptos"/>
                <a:cs typeface="Aptos"/>
              </a:defRPr>
            </a:pPr>
            <a:r>
              <a:rPr sz="1650" b="0">
                <a:solidFill>
                  <a:srgbClr val="132433"/>
                </a:solidFill>
                <a:latin typeface="Aptos"/>
                <a:ea typeface="Aptos"/>
                <a:cs typeface="Aptos"/>
              </a:rPr>
              <a:t>Policy margin: 40% x $3,000 - $600 = $600. Final payment budget: min($600, $450) = $450.</a:t>
            </a:r>
          </a:p>
        </p:txBody>
      </p:sp>
      <p:graphicFrame>
        <p:nvGraphicFramePr>
          <p:cNvPr id="17" name=""/>
          <p:cNvGraphicFramePr/>
          <p:nvPr/>
        </p:nvGraphicFramePr>
        <p:xfrm>
          <a:off xmlns:a="http://schemas.openxmlformats.org/drawingml/2006/main" x="685800" y="3057525"/>
          <a:ext xmlns:a="http://schemas.openxmlformats.org/drawingml/2006/main" cx="10820400" cy="2247900"/>
        </p:xfrm>
        <a:graphic xmlns:a="http://schemas.openxmlformats.org/drawingml/2006/main">
          <a:graphicData uri="http://schemas.openxmlformats.org/drawingml/2006/table">
            <a:tbl>
              <a:tblPr firstRow="1" bandRow="0"/>
              <a:tblGrid>
                <a:gridCol w="1333500"/>
                <a:gridCol w="2524125"/>
                <a:gridCol w="2524125"/>
                <a:gridCol w="4438650"/>
              </a:tblGrid>
              <a:tr h="561975">
                <a:tc>
                  <a:txBody>
                    <a:bodyPr>
                      <a:noAutofit/>
                    </a:bodyPr>
                    <a:lstStyle/>
                    <a:p>
                      <a:r>
                        <a:rPr sz="1500" b="1">
                          <a:solidFill>
                            <a:srgbClr val="FFFFFF"/>
                          </a:solidFill>
                          <a:latin typeface="Aptos"/>
                          <a:ea typeface="Aptos"/>
                          <a:cs typeface="Aptos"/>
                        </a:rPr>
                        <a:t>Term</a:t>
                      </a:r>
                    </a:p>
                  </a:txBody>
                  <a:tcPr marL="91440" marR="91440" marT="45720" marB="45720">
                    <a:solidFill>
                      <a:srgbClr val="071826"/>
                    </a:solidFill>
                  </a:tcPr>
                </a:tc>
                <a:tc>
                  <a:txBody>
                    <a:bodyPr>
                      <a:noAutofit/>
                    </a:bodyPr>
                    <a:lstStyle/>
                    <a:p>
                      <a:r>
                        <a:rPr sz="1500" b="1">
                          <a:solidFill>
                            <a:srgbClr val="FFFFFF"/>
                          </a:solidFill>
                          <a:latin typeface="Aptos"/>
                          <a:ea typeface="Aptos"/>
                          <a:cs typeface="Aptos"/>
                        </a:rPr>
                        <a:t>Monthly payment</a:t>
                      </a:r>
                    </a:p>
                  </a:txBody>
                  <a:tcPr marL="91440" marR="91440" marT="45720" marB="45720">
                    <a:solidFill>
                      <a:srgbClr val="071826"/>
                    </a:solidFill>
                  </a:tcPr>
                </a:tc>
                <a:tc>
                  <a:txBody>
                    <a:bodyPr>
                      <a:noAutofit/>
                    </a:bodyPr>
                    <a:lstStyle/>
                    <a:p>
                      <a:r>
                        <a:rPr sz="1500" b="1">
                          <a:solidFill>
                            <a:srgbClr val="FFFFFF"/>
                          </a:solidFill>
                          <a:latin typeface="Aptos"/>
                          <a:ea typeface="Aptos"/>
                          <a:cs typeface="Aptos"/>
                        </a:rPr>
                        <a:t>Total interest</a:t>
                      </a:r>
                    </a:p>
                  </a:txBody>
                  <a:tcPr marL="91440" marR="91440" marT="45720" marB="45720">
                    <a:solidFill>
                      <a:srgbClr val="071826"/>
                    </a:solidFill>
                  </a:tcPr>
                </a:tc>
                <a:tc>
                  <a:txBody>
                    <a:bodyPr>
                      <a:noAutofit/>
                    </a:bodyPr>
                    <a:lstStyle/>
                    <a:p>
                      <a:r>
                        <a:rPr sz="1500" b="1">
                          <a:solidFill>
                            <a:srgbClr val="FFFFFF"/>
                          </a:solidFill>
                          <a:latin typeface="Aptos"/>
                          <a:ea typeface="Aptos"/>
                          <a:cs typeface="Aptos"/>
                        </a:rPr>
                        <a:t>Full $10,000 request</a:t>
                      </a:r>
                    </a:p>
                  </a:txBody>
                  <a:tcPr marL="91440" marR="91440" marT="45720" marB="45720">
                    <a:solidFill>
                      <a:srgbClr val="071826"/>
                    </a:solidFill>
                  </a:tcPr>
                </a:tc>
              </a:tr>
              <a:tr h="561975">
                <a:tc>
                  <a:txBody>
                    <a:bodyPr>
                      <a:noAutofit/>
                    </a:bodyPr>
                    <a:lstStyle/>
                    <a:p>
                      <a:r>
                        <a:rPr sz="1500" b="1">
                          <a:solidFill>
                            <a:srgbClr val="132433"/>
                          </a:solidFill>
                          <a:latin typeface="Aptos"/>
                          <a:ea typeface="Aptos"/>
                          <a:cs typeface="Aptos"/>
                        </a:rPr>
                        <a:t>24</a:t>
                      </a:r>
                    </a:p>
                  </a:txBody>
                  <a:tcPr marL="91440" marR="91440" marT="45720" marB="45720">
                    <a:solidFill>
                      <a:srgbClr val="FFFFFF"/>
                    </a:solidFill>
                  </a:tcPr>
                </a:tc>
                <a:tc>
                  <a:txBody>
                    <a:bodyPr>
                      <a:noAutofit/>
                    </a:bodyPr>
                    <a:lstStyle/>
                    <a:p>
                      <a:r>
                        <a:rPr sz="1500" b="0">
                          <a:solidFill>
                            <a:srgbClr val="132433"/>
                          </a:solidFill>
                          <a:latin typeface="Aptos"/>
                          <a:ea typeface="Aptos"/>
                          <a:cs typeface="Aptos"/>
                        </a:rPr>
                        <a:t>$509.45</a:t>
                      </a:r>
                    </a:p>
                  </a:txBody>
                  <a:tcPr marL="91440" marR="91440" marT="45720" marB="45720">
                    <a:solidFill>
                      <a:srgbClr val="FFFFFF"/>
                    </a:solidFill>
                  </a:tcPr>
                </a:tc>
                <a:tc>
                  <a:txBody>
                    <a:bodyPr>
                      <a:noAutofit/>
                    </a:bodyPr>
                    <a:lstStyle/>
                    <a:p>
                      <a:r>
                        <a:rPr sz="1500" b="0">
                          <a:solidFill>
                            <a:srgbClr val="132433"/>
                          </a:solidFill>
                          <a:latin typeface="Aptos"/>
                          <a:ea typeface="Aptos"/>
                          <a:cs typeface="Aptos"/>
                        </a:rPr>
                        <a:t>$2,226.72</a:t>
                      </a:r>
                    </a:p>
                  </a:txBody>
                  <a:tcPr marL="91440" marR="91440" marT="45720" marB="45720">
                    <a:solidFill>
                      <a:srgbClr val="FFFFFF"/>
                    </a:solidFill>
                  </a:tcPr>
                </a:tc>
                <a:tc>
                  <a:txBody>
                    <a:bodyPr>
                      <a:noAutofit/>
                    </a:bodyPr>
                    <a:lstStyle/>
                    <a:p>
                      <a:r>
                        <a:rPr sz="1500" b="0">
                          <a:solidFill>
                            <a:srgbClr val="132433"/>
                          </a:solidFill>
                          <a:latin typeface="Aptos"/>
                          <a:ea typeface="Aptos"/>
                          <a:cs typeface="Aptos"/>
                        </a:rPr>
                        <a:t>Over budget: lower counteroffer</a:t>
                      </a:r>
                    </a:p>
                  </a:txBody>
                  <a:tcPr marL="91440" marR="91440" marT="45720" marB="45720">
                    <a:solidFill>
                      <a:srgbClr val="FFFFFF"/>
                    </a:solidFill>
                  </a:tcPr>
                </a:tc>
              </a:tr>
              <a:tr h="561975">
                <a:tc>
                  <a:txBody>
                    <a:bodyPr>
                      <a:noAutofit/>
                    </a:bodyPr>
                    <a:lstStyle/>
                    <a:p>
                      <a:r>
                        <a:rPr sz="1500" b="1">
                          <a:solidFill>
                            <a:srgbClr val="132433"/>
                          </a:solidFill>
                          <a:latin typeface="Aptos"/>
                          <a:ea typeface="Aptos"/>
                          <a:cs typeface="Aptos"/>
                        </a:rPr>
                        <a:t>48</a:t>
                      </a:r>
                    </a:p>
                  </a:txBody>
                  <a:tcPr marL="91440" marR="91440" marT="45720" marB="45720">
                    <a:solidFill>
                      <a:srgbClr val="EDF3F4"/>
                    </a:solidFill>
                  </a:tcPr>
                </a:tc>
                <a:tc>
                  <a:txBody>
                    <a:bodyPr>
                      <a:noAutofit/>
                    </a:bodyPr>
                    <a:lstStyle/>
                    <a:p>
                      <a:r>
                        <a:rPr sz="1500" b="0">
                          <a:solidFill>
                            <a:srgbClr val="132433"/>
                          </a:solidFill>
                          <a:latin typeface="Aptos"/>
                          <a:ea typeface="Aptos"/>
                          <a:cs typeface="Aptos"/>
                        </a:rPr>
                        <a:t>$304.84</a:t>
                      </a:r>
                    </a:p>
                  </a:txBody>
                  <a:tcPr marL="91440" marR="91440" marT="45720" marB="45720">
                    <a:solidFill>
                      <a:srgbClr val="EDF3F4"/>
                    </a:solidFill>
                  </a:tcPr>
                </a:tc>
                <a:tc>
                  <a:txBody>
                    <a:bodyPr>
                      <a:noAutofit/>
                    </a:bodyPr>
                    <a:lstStyle/>
                    <a:p>
                      <a:r>
                        <a:rPr sz="1500" b="0">
                          <a:solidFill>
                            <a:srgbClr val="132433"/>
                          </a:solidFill>
                          <a:latin typeface="Aptos"/>
                          <a:ea typeface="Aptos"/>
                          <a:cs typeface="Aptos"/>
                        </a:rPr>
                        <a:t>$4,632.16</a:t>
                      </a:r>
                    </a:p>
                  </a:txBody>
                  <a:tcPr marL="91440" marR="91440" marT="45720" marB="45720">
                    <a:solidFill>
                      <a:srgbClr val="EDF3F4"/>
                    </a:solidFill>
                  </a:tcPr>
                </a:tc>
                <a:tc>
                  <a:txBody>
                    <a:bodyPr>
                      <a:noAutofit/>
                    </a:bodyPr>
                    <a:lstStyle/>
                    <a:p>
                      <a:r>
                        <a:rPr sz="1500" b="0">
                          <a:solidFill>
                            <a:srgbClr val="132433"/>
                          </a:solidFill>
                          <a:latin typeface="Aptos"/>
                          <a:ea typeface="Aptos"/>
                          <a:cs typeface="Aptos"/>
                        </a:rPr>
                        <a:t>Fits budget and reserves</a:t>
                      </a:r>
                    </a:p>
                  </a:txBody>
                  <a:tcPr marL="91440" marR="91440" marT="45720" marB="45720">
                    <a:solidFill>
                      <a:srgbClr val="EDF3F4"/>
                    </a:solidFill>
                  </a:tcPr>
                </a:tc>
              </a:tr>
              <a:tr h="561975">
                <a:tc>
                  <a:txBody>
                    <a:bodyPr>
                      <a:noAutofit/>
                    </a:bodyPr>
                    <a:lstStyle/>
                    <a:p>
                      <a:r>
                        <a:rPr sz="1500" b="1">
                          <a:solidFill>
                            <a:srgbClr val="132433"/>
                          </a:solidFill>
                          <a:latin typeface="Aptos"/>
                          <a:ea typeface="Aptos"/>
                          <a:cs typeface="Aptos"/>
                        </a:rPr>
                        <a:t>72</a:t>
                      </a:r>
                    </a:p>
                  </a:txBody>
                  <a:tcPr marL="91440" marR="91440" marT="45720" marB="45720">
                    <a:solidFill>
                      <a:srgbClr val="FFFFFF"/>
                    </a:solidFill>
                  </a:tcPr>
                </a:tc>
                <a:tc>
                  <a:txBody>
                    <a:bodyPr>
                      <a:noAutofit/>
                    </a:bodyPr>
                    <a:lstStyle/>
                    <a:p>
                      <a:r>
                        <a:rPr sz="1500" b="0">
                          <a:solidFill>
                            <a:srgbClr val="132433"/>
                          </a:solidFill>
                          <a:latin typeface="Aptos"/>
                          <a:ea typeface="Aptos"/>
                          <a:cs typeface="Aptos"/>
                        </a:rPr>
                        <a:t>$240.11</a:t>
                      </a:r>
                    </a:p>
                  </a:txBody>
                  <a:tcPr marL="91440" marR="91440" marT="45720" marB="45720">
                    <a:solidFill>
                      <a:srgbClr val="FFFFFF"/>
                    </a:solidFill>
                  </a:tcPr>
                </a:tc>
                <a:tc>
                  <a:txBody>
                    <a:bodyPr>
                      <a:noAutofit/>
                    </a:bodyPr>
                    <a:lstStyle/>
                    <a:p>
                      <a:r>
                        <a:rPr sz="1500" b="0">
                          <a:solidFill>
                            <a:srgbClr val="132433"/>
                          </a:solidFill>
                          <a:latin typeface="Aptos"/>
                          <a:ea typeface="Aptos"/>
                          <a:cs typeface="Aptos"/>
                        </a:rPr>
                        <a:t>$7,287.80</a:t>
                      </a:r>
                    </a:p>
                  </a:txBody>
                  <a:tcPr marL="91440" marR="91440" marT="45720" marB="45720">
                    <a:solidFill>
                      <a:srgbClr val="FFFFFF"/>
                    </a:solidFill>
                  </a:tcPr>
                </a:tc>
                <a:tc>
                  <a:txBody>
                    <a:bodyPr>
                      <a:noAutofit/>
                    </a:bodyPr>
                    <a:lstStyle/>
                    <a:p>
                      <a:r>
                        <a:rPr sz="1500" b="0">
                          <a:solidFill>
                            <a:srgbClr val="132433"/>
                          </a:solidFill>
                          <a:latin typeface="Aptos"/>
                          <a:ea typeface="Aptos"/>
                          <a:cs typeface="Aptos"/>
                        </a:rPr>
                        <a:t>Fits budget and reserves</a:t>
                      </a:r>
                    </a:p>
                  </a:txBody>
                  <a:tcPr marL="91440" marR="91440" marT="45720" marB="45720">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237D33D0-597E-46E2-8595-26F1F6E2A36A}"/>
              </a:ext>
            </a:extLst>
          </p:cNvPr>
          <p:cNvSpPr>
            <a:spLocks xmlns:a="http://schemas.openxmlformats.org/drawingml/2006/main" noGrp="1"/>
          </p:cNvSpPr>
          <p:nvPr/>
        </p:nvSpPr>
        <p:spPr>
          <a:xfrm xmlns:a="http://schemas.openxmlformats.org/drawingml/2006/main">
            <a:off x="704850" y="575310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E7180"/>
                </a:solidFill>
                <a:latin typeface="Aptos"/>
                <a:ea typeface="Aptos"/>
                <a:cs typeface="Aptos"/>
              </a:defRPr>
            </a:pPr>
            <a:r>
              <a:rPr sz="1275" b="0">
                <a:solidFill>
                  <a:srgbClr val="5E7180"/>
                </a:solidFill>
                <a:latin typeface="Aptos"/>
                <a:ea typeface="Aptos"/>
                <a:cs typeface="Aptos"/>
              </a:rPr>
              <a:t>The customer can compare lower monthly payments against higher total interest. The effective annual rate is unchanged.</a:t>
            </a:r>
          </a:p>
        </p:txBody>
      </p:sp>
    </p:spTree>
    <p:extLst>
      <p:ext uri="{BB962C8B-B14F-4D97-AF65-F5344CB8AC3E}">
        <p14:creationId xmlns:p14="http://schemas.microsoft.com/office/powerpoint/2010/main" val="1806723131"/>
      </p:ext>
    </p:extLst>
  </p:cSld>
</p:sld>
</file>

<file path=ppt/slides/slide14.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0762420-2A08-47C2-8192-EC82DBAFA832}"/>
              </a:ext>
            </a:extLst>
          </p:cNvPr>
          <p:cNvSpPr>
            <a:spLocks xmlns:a="http://schemas.openxmlformats.org/drawingml/2006/main" noGrp="1"/>
          </p:cNvSpPr>
          <p:nvPr/>
        </p:nvSpPr>
        <p:spPr>
          <a:xfrm xmlns:a="http://schemas.openxmlformats.org/drawingml/2006/main">
            <a:off x="666750" y="4000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32433"/>
                </a:solidFill>
                <a:latin typeface="Aptos"/>
                <a:ea typeface="Aptos"/>
                <a:cs typeface="Aptos"/>
              </a:defRPr>
            </a:pPr>
            <a:r>
              <a:rPr sz="2550" b="1">
                <a:solidFill>
                  <a:srgbClr val="132433"/>
                </a:solidFill>
                <a:latin typeface="Aptos"/>
                <a:ea typeface="Aptos"/>
                <a:cs typeface="Aptos"/>
              </a:rPr>
              <a:t>Policy refinements and offer verification</a:t>
            </a:r>
          </a:p>
        </p:txBody>
      </p:sp>
      <p:sp>
        <p:nvSpPr>
          <p:cNvPr id="2" name="">
            <a:extLst xmlns:a="http://schemas.openxmlformats.org/drawingml/2006/main">
              <a:ext uri="{FF2B5EF4-FFF2-40B4-BE49-F238E27FC236}">
                <a16:creationId xmlns:a16="http://schemas.microsoft.com/office/drawing/2014/main" id="{4B55D676-8C5F-4CF7-A256-D94A8217337C}"/>
              </a:ext>
            </a:extLst>
          </p:cNvPr>
          <p:cNvSpPr>
            <a:spLocks xmlns:a="http://schemas.openxmlformats.org/drawingml/2006/main" noGrp="1"/>
          </p:cNvSpPr>
          <p:nvPr/>
        </p:nvSpPr>
        <p:spPr>
          <a:xfrm xmlns:a="http://schemas.openxmlformats.org/drawingml/2006/main">
            <a:off x="685800" y="9715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E7180"/>
                </a:solidFill>
                <a:latin typeface="Aptos"/>
                <a:ea typeface="Aptos"/>
                <a:cs typeface="Aptos"/>
              </a:defRPr>
            </a:pPr>
            <a:r>
              <a:rPr sz="1350" b="0">
                <a:solidFill>
                  <a:srgbClr val="5E7180"/>
                </a:solidFill>
                <a:latin typeface="Aptos"/>
                <a:ea typeface="Aptos"/>
                <a:cs typeface="Aptos"/>
              </a:rPr>
              <a:t>The implemented changes address missing evidence, repayment arithmetic and traceable product terms.</a:t>
            </a:r>
          </a:p>
        </p:txBody>
      </p:sp>
      <p:sp>
        <p:nvSpPr>
          <p:cNvPr id="3" name="">
            <a:extLst xmlns:a="http://schemas.openxmlformats.org/drawingml/2006/main">
              <a:ext uri="{FF2B5EF4-FFF2-40B4-BE49-F238E27FC236}">
                <a16:creationId xmlns:a16="http://schemas.microsoft.com/office/drawing/2014/main" id="{6C14FB74-85DB-42E9-91C6-5393CF3BACAF}"/>
              </a:ext>
            </a:extLst>
          </p:cNvPr>
          <p:cNvSpPr>
            <a:spLocks xmlns:a="http://schemas.openxmlformats.org/drawingml/2006/main" noGrp="1"/>
          </p:cNvSpPr>
          <p:nvPr/>
        </p:nvSpPr>
        <p:spPr>
          <a:xfrm xmlns:a="http://schemas.openxmlformats.org/drawingml/2006/main">
            <a:off x="666750" y="1409700"/>
            <a:ext cx="876300" cy="38100"/>
          </a:xfrm>
          <a:prstGeom xmlns:a="http://schemas.openxmlformats.org/drawingml/2006/main" prst="rect">
            <a:avLst/>
          </a:prstGeom>
          <a:solidFill xmlns:a="http://schemas.openxmlformats.org/drawingml/2006/main">
            <a:srgbClr val="1FB6A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7FAE169-6C7E-4042-9E44-246AB4BA13F7}"/>
              </a:ext>
            </a:extLst>
          </p:cNvPr>
          <p:cNvSpPr>
            <a:spLocks xmlns:a="http://schemas.openxmlformats.org/drawingml/2006/main" noGrp="1"/>
          </p:cNvSpPr>
          <p:nvPr/>
        </p:nvSpPr>
        <p:spPr>
          <a:xfrm xmlns:a="http://schemas.openxmlformats.org/drawingml/2006/main">
            <a:off x="685800" y="64008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E7180"/>
                </a:solidFill>
                <a:latin typeface="Aptos"/>
                <a:ea typeface="Aptos"/>
                <a:cs typeface="Aptos"/>
              </a:defRPr>
            </a:pPr>
            <a:r>
              <a:rPr sz="900" b="0">
                <a:solidFill>
                  <a:srgbClr val="5E7180"/>
                </a:solidFill>
                <a:latin typeface="Aptos"/>
                <a:ea typeface="Aptos"/>
                <a:cs typeface="Aptos"/>
              </a:rPr>
              <a:t>NOEMA  /  Factored AI &amp; Data Hackathon 2026</a:t>
            </a:r>
          </a:p>
        </p:txBody>
      </p:sp>
      <p:sp>
        <p:nvSpPr>
          <p:cNvPr id="5" name="">
            <a:extLst xmlns:a="http://schemas.openxmlformats.org/drawingml/2006/main">
              <a:ext uri="{FF2B5EF4-FFF2-40B4-BE49-F238E27FC236}">
                <a16:creationId xmlns:a16="http://schemas.microsoft.com/office/drawing/2014/main" id="{853FE900-263B-4546-9FDA-DD7A636B8E98}"/>
              </a:ext>
            </a:extLst>
          </p:cNvPr>
          <p:cNvSpPr>
            <a:spLocks xmlns:a="http://schemas.openxmlformats.org/drawingml/2006/main" noGrp="1"/>
          </p:cNvSpPr>
          <p:nvPr/>
        </p:nvSpPr>
        <p:spPr>
          <a:xfrm xmlns:a="http://schemas.openxmlformats.org/drawingml/2006/main">
            <a:off x="11096625" y="64008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5E7180"/>
                </a:solidFill>
                <a:latin typeface="Aptos"/>
                <a:ea typeface="Aptos"/>
                <a:cs typeface="Aptos"/>
              </a:defRPr>
            </a:pPr>
            <a:r>
              <a:rPr sz="900" b="1">
                <a:solidFill>
                  <a:srgbClr val="5E7180"/>
                </a:solidFill>
                <a:latin typeface="Aptos"/>
                <a:ea typeface="Aptos"/>
                <a:cs typeface="Aptos"/>
              </a:rPr>
              <a:t>14</a:t>
            </a:r>
          </a:p>
        </p:txBody>
      </p:sp>
      <p:graphicFrame>
        <p:nvGraphicFramePr>
          <p:cNvPr id="13" name=""/>
          <p:cNvGraphicFramePr/>
          <p:nvPr/>
        </p:nvGraphicFramePr>
        <p:xfrm>
          <a:off xmlns:a="http://schemas.openxmlformats.org/drawingml/2006/main" x="685800" y="1714500"/>
          <a:ext xmlns:a="http://schemas.openxmlformats.org/drawingml/2006/main" cx="10820400" cy="3362325"/>
        </p:xfrm>
        <a:graphic xmlns:a="http://schemas.openxmlformats.org/drawingml/2006/main">
          <a:graphicData uri="http://schemas.openxmlformats.org/drawingml/2006/table">
            <a:tbl>
              <a:tblPr firstRow="1" bandRow="0"/>
              <a:tblGrid>
                <a:gridCol w="3076575"/>
                <a:gridCol w="7743825"/>
              </a:tblGrid>
              <a:tr h="672465">
                <a:tc>
                  <a:txBody>
                    <a:bodyPr>
                      <a:noAutofit/>
                    </a:bodyPr>
                    <a:lstStyle/>
                    <a:p>
                      <a:r>
                        <a:rPr sz="1500" b="1">
                          <a:solidFill>
                            <a:srgbClr val="FFFFFF"/>
                          </a:solidFill>
                          <a:latin typeface="Aptos"/>
                          <a:ea typeface="Aptos"/>
                          <a:cs typeface="Aptos"/>
                        </a:rPr>
                        <a:t>Refinement</a:t>
                      </a:r>
                    </a:p>
                  </a:txBody>
                  <a:tcPr marL="91440" marR="91440" marT="45720" marB="45720">
                    <a:solidFill>
                      <a:srgbClr val="071826"/>
                    </a:solidFill>
                  </a:tcPr>
                </a:tc>
                <a:tc>
                  <a:txBody>
                    <a:bodyPr>
                      <a:noAutofit/>
                    </a:bodyPr>
                    <a:lstStyle/>
                    <a:p>
                      <a:r>
                        <a:rPr sz="1500" b="1">
                          <a:solidFill>
                            <a:srgbClr val="FFFFFF"/>
                          </a:solidFill>
                          <a:latin typeface="Aptos"/>
                          <a:ea typeface="Aptos"/>
                          <a:cs typeface="Aptos"/>
                        </a:rPr>
                        <a:t>Implemented behavior</a:t>
                      </a:r>
                    </a:p>
                  </a:txBody>
                  <a:tcPr marL="91440" marR="91440" marT="45720" marB="45720">
                    <a:solidFill>
                      <a:srgbClr val="071826"/>
                    </a:solidFill>
                  </a:tcPr>
                </a:tc>
              </a:tr>
              <a:tr h="672465">
                <a:tc>
                  <a:txBody>
                    <a:bodyPr>
                      <a:noAutofit/>
                    </a:bodyPr>
                    <a:lstStyle/>
                    <a:p>
                      <a:r>
                        <a:rPr sz="1500" b="1">
                          <a:solidFill>
                            <a:srgbClr val="132433"/>
                          </a:solidFill>
                          <a:latin typeface="Aptos"/>
                          <a:ea typeface="Aptos"/>
                          <a:cs typeface="Aptos"/>
                        </a:rPr>
                        <a:t>Missing debt or capacity</a:t>
                      </a:r>
                    </a:p>
                  </a:txBody>
                  <a:tcPr marL="91440" marR="91440" marT="45720" marB="45720">
                    <a:solidFill>
                      <a:srgbClr val="FFFFFF"/>
                    </a:solidFill>
                  </a:tcPr>
                </a:tc>
                <a:tc>
                  <a:txBody>
                    <a:bodyPr>
                      <a:noAutofit/>
                    </a:bodyPr>
                    <a:lstStyle/>
                    <a:p>
                      <a:r>
                        <a:rPr sz="1500" b="0">
                          <a:solidFill>
                            <a:srgbClr val="132433"/>
                          </a:solidFill>
                          <a:latin typeface="Aptos"/>
                          <a:ea typeface="Aptos"/>
                          <a:cs typeface="Aptos"/>
                        </a:rPr>
                        <a:t>Missing limit/rate triggers abstention. Missing cash flow cuts margin 20% and excludes mortgages.</a:t>
                      </a:r>
                    </a:p>
                  </a:txBody>
                  <a:tcPr marL="91440" marR="91440" marT="45720" marB="45720">
                    <a:solidFill>
                      <a:srgbClr val="FFFFFF"/>
                    </a:solidFill>
                  </a:tcPr>
                </a:tc>
              </a:tr>
              <a:tr h="672465">
                <a:tc>
                  <a:txBody>
                    <a:bodyPr>
                      <a:noAutofit/>
                    </a:bodyPr>
                    <a:lstStyle/>
                    <a:p>
                      <a:r>
                        <a:rPr sz="1500" b="1">
                          <a:solidFill>
                            <a:srgbClr val="132433"/>
                          </a:solidFill>
                          <a:latin typeface="Aptos"/>
                          <a:ea typeface="Aptos"/>
                          <a:cs typeface="Aptos"/>
                        </a:rPr>
                        <a:t>Correct repayment arithmetic</a:t>
                      </a:r>
                    </a:p>
                  </a:txBody>
                  <a:tcPr marL="91440" marR="91440" marT="45720" marB="45720">
                    <a:solidFill>
                      <a:srgbClr val="EDF3F4"/>
                    </a:solidFill>
                  </a:tcPr>
                </a:tc>
                <a:tc>
                  <a:txBody>
                    <a:bodyPr>
                      <a:noAutofit/>
                    </a:bodyPr>
                    <a:lstStyle/>
                    <a:p>
                      <a:r>
                        <a:rPr sz="1500" b="0">
                          <a:solidFill>
                            <a:srgbClr val="132433"/>
                          </a:solidFill>
                          <a:latin typeface="Aptos"/>
                          <a:ea typeface="Aptos"/>
                          <a:cs typeface="Aptos"/>
                        </a:rPr>
                        <a:t>Existing loans use total term. Cards use drawn balance plus an unused-line stress allowance.</a:t>
                      </a:r>
                    </a:p>
                  </a:txBody>
                  <a:tcPr marL="91440" marR="91440" marT="45720" marB="45720">
                    <a:solidFill>
                      <a:srgbClr val="EDF3F4"/>
                    </a:solidFill>
                  </a:tcPr>
                </a:tc>
              </a:tr>
              <a:tr h="672465">
                <a:tc>
                  <a:txBody>
                    <a:bodyPr>
                      <a:noAutofit/>
                    </a:bodyPr>
                    <a:lstStyle/>
                    <a:p>
                      <a:r>
                        <a:rPr sz="1500" b="1">
                          <a:solidFill>
                            <a:srgbClr val="132433"/>
                          </a:solidFill>
                          <a:latin typeface="Aptos"/>
                          <a:ea typeface="Aptos"/>
                          <a:cs typeface="Aptos"/>
                        </a:rPr>
                        <a:t>Term and reserve checks</a:t>
                      </a:r>
                    </a:p>
                  </a:txBody>
                  <a:tcPr marL="91440" marR="91440" marT="45720" marB="45720">
                    <a:solidFill>
                      <a:srgbClr val="FFFFFF"/>
                    </a:solidFill>
                  </a:tcPr>
                </a:tc>
                <a:tc>
                  <a:txBody>
                    <a:bodyPr>
                      <a:noAutofit/>
                    </a:bodyPr>
                    <a:lstStyle/>
                    <a:p>
                      <a:r>
                        <a:rPr sz="1500" b="0">
                          <a:solidFill>
                            <a:srgbClr val="132433"/>
                          </a:solidFill>
                          <a:latin typeface="Aptos"/>
                          <a:ea typeface="Aptos"/>
                          <a:cs typeface="Aptos"/>
                        </a:rPr>
                        <a:t>Evaluate each term, price the actual requested amount, and disclose any lower counteroffer.</a:t>
                      </a:r>
                    </a:p>
                  </a:txBody>
                  <a:tcPr marL="91440" marR="91440" marT="45720" marB="45720">
                    <a:solidFill>
                      <a:srgbClr val="FFFFFF"/>
                    </a:solidFill>
                  </a:tcPr>
                </a:tc>
              </a:tr>
              <a:tr h="672465">
                <a:tc>
                  <a:txBody>
                    <a:bodyPr>
                      <a:noAutofit/>
                    </a:bodyPr>
                    <a:lstStyle/>
                    <a:p>
                      <a:r>
                        <a:rPr sz="1500" b="1">
                          <a:solidFill>
                            <a:srgbClr val="132433"/>
                          </a:solidFill>
                          <a:latin typeface="Aptos"/>
                          <a:ea typeface="Aptos"/>
                          <a:cs typeface="Aptos"/>
                        </a:rPr>
                        <a:t>Verified quote workflow</a:t>
                      </a:r>
                    </a:p>
                  </a:txBody>
                  <a:tcPr marL="91440" marR="91440" marT="45720" marB="45720">
                    <a:solidFill>
                      <a:srgbClr val="EDF3F4"/>
                    </a:solidFill>
                  </a:tcPr>
                </a:tc>
                <a:tc>
                  <a:txBody>
                    <a:bodyPr>
                      <a:noAutofit/>
                    </a:bodyPr>
                    <a:lstStyle/>
                    <a:p>
                      <a:r>
                        <a:rPr sz="1500" b="0">
                          <a:solidFill>
                            <a:srgbClr val="132433"/>
                          </a:solidFill>
                          <a:latin typeface="Aptos"/>
                          <a:ea typeface="Aptos"/>
                          <a:cs typeface="Aptos"/>
                        </a:rPr>
                        <a:t>Match product and term to eligible offers. Record idempotently, read back, and verify fields.</a:t>
                      </a:r>
                    </a:p>
                  </a:txBody>
                  <a:tcPr marL="91440" marR="91440" marT="45720" marB="45720">
                    <a:solidFill>
                      <a:srgbClr val="EDF3F4"/>
                    </a:solidFill>
                  </a:tcPr>
                </a:tc>
              </a:tr>
            </a:tbl>
          </a:graphicData>
        </a:graphic>
      </p:graphicFrame>
      <p:sp>
        <p:nvSpPr>
          <p:cNvPr id="7" name="">
            <a:extLst xmlns:a="http://schemas.openxmlformats.org/drawingml/2006/main">
              <a:ext uri="{FF2B5EF4-FFF2-40B4-BE49-F238E27FC236}">
                <a16:creationId xmlns:a16="http://schemas.microsoft.com/office/drawing/2014/main" id="{3C6E29E4-014C-48D6-B7D4-4C8C910E79CE}"/>
              </a:ext>
            </a:extLst>
          </p:cNvPr>
          <p:cNvSpPr>
            <a:spLocks xmlns:a="http://schemas.openxmlformats.org/drawingml/2006/main" noGrp="1"/>
          </p:cNvSpPr>
          <p:nvPr/>
        </p:nvSpPr>
        <p:spPr>
          <a:xfrm xmlns:a="http://schemas.openxmlformats.org/drawingml/2006/main">
            <a:off x="704850" y="575310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E7180"/>
                </a:solidFill>
                <a:latin typeface="Aptos"/>
                <a:ea typeface="Aptos"/>
                <a:cs typeface="Aptos"/>
              </a:defRPr>
            </a:pPr>
            <a:r>
              <a:rPr sz="1275" b="0">
                <a:solidFill>
                  <a:srgbClr val="5E7180"/>
                </a:solidFill>
                <a:latin typeface="Aptos"/>
                <a:ea typeface="Aptos"/>
                <a:cs typeface="Aptos"/>
              </a:rPr>
              <a:t>Every decision carries policy version, facts, reasons and warnings. Missing evidence or failed verification can trigger a case.</a:t>
            </a:r>
          </a:p>
        </p:txBody>
      </p:sp>
    </p:spTree>
    <p:extLst>
      <p:ext uri="{BB962C8B-B14F-4D97-AF65-F5344CB8AC3E}">
        <p14:creationId xmlns:p14="http://schemas.microsoft.com/office/powerpoint/2010/main" val="23940910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7872B81-8A78-4881-87F4-8F76D09FECE9}"/>
              </a:ext>
            </a:extLst>
          </p:cNvPr>
          <p:cNvSpPr>
            <a:spLocks xmlns:a="http://schemas.openxmlformats.org/drawingml/2006/main" noGrp="1"/>
          </p:cNvSpPr>
          <p:nvPr/>
        </p:nvSpPr>
        <p:spPr>
          <a:xfrm xmlns:a="http://schemas.openxmlformats.org/drawingml/2006/main">
            <a:off x="666750" y="4000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32433"/>
                </a:solidFill>
                <a:latin typeface="Aptos"/>
                <a:ea typeface="Aptos"/>
                <a:cs typeface="Aptos"/>
              </a:defRPr>
            </a:pPr>
            <a:r>
              <a:rPr sz="2550" b="1">
                <a:solidFill>
                  <a:srgbClr val="132433"/>
                </a:solidFill>
                <a:latin typeface="Aptos"/>
                <a:ea typeface="Aptos"/>
                <a:cs typeface="Aptos"/>
              </a:rPr>
              <a:t>Repayment obligations and reserve rules</a:t>
            </a:r>
          </a:p>
        </p:txBody>
      </p:sp>
      <p:sp>
        <p:nvSpPr>
          <p:cNvPr id="2" name="">
            <a:extLst xmlns:a="http://schemas.openxmlformats.org/drawingml/2006/main">
              <a:ext uri="{FF2B5EF4-FFF2-40B4-BE49-F238E27FC236}">
                <a16:creationId xmlns:a16="http://schemas.microsoft.com/office/drawing/2014/main" id="{3D575C07-AF74-4D28-8994-A1C26740B241}"/>
              </a:ext>
            </a:extLst>
          </p:cNvPr>
          <p:cNvSpPr>
            <a:spLocks xmlns:a="http://schemas.openxmlformats.org/drawingml/2006/main" noGrp="1"/>
          </p:cNvSpPr>
          <p:nvPr/>
        </p:nvSpPr>
        <p:spPr>
          <a:xfrm xmlns:a="http://schemas.openxmlformats.org/drawingml/2006/main">
            <a:off x="685800" y="9715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E7180"/>
                </a:solidFill>
                <a:latin typeface="Aptos"/>
                <a:ea typeface="Aptos"/>
                <a:cs typeface="Aptos"/>
              </a:defRPr>
            </a:pPr>
            <a:r>
              <a:rPr sz="1350" b="0">
                <a:solidFill>
                  <a:srgbClr val="5E7180"/>
                </a:solidFill>
                <a:latin typeface="Aptos"/>
                <a:ea typeface="Aptos"/>
                <a:cs typeface="Aptos"/>
              </a:rPr>
              <a:t>Policy version 3 distinguishes existing debt, liquid reserves and the budget available for a new offer.</a:t>
            </a:r>
          </a:p>
        </p:txBody>
      </p:sp>
      <p:sp>
        <p:nvSpPr>
          <p:cNvPr id="3" name="">
            <a:extLst xmlns:a="http://schemas.openxmlformats.org/drawingml/2006/main">
              <a:ext uri="{FF2B5EF4-FFF2-40B4-BE49-F238E27FC236}">
                <a16:creationId xmlns:a16="http://schemas.microsoft.com/office/drawing/2014/main" id="{51CAAB81-F4E4-4694-AFF1-BE026365A663}"/>
              </a:ext>
            </a:extLst>
          </p:cNvPr>
          <p:cNvSpPr>
            <a:spLocks xmlns:a="http://schemas.openxmlformats.org/drawingml/2006/main" noGrp="1"/>
          </p:cNvSpPr>
          <p:nvPr/>
        </p:nvSpPr>
        <p:spPr>
          <a:xfrm xmlns:a="http://schemas.openxmlformats.org/drawingml/2006/main">
            <a:off x="666750" y="1409700"/>
            <a:ext cx="876300" cy="38100"/>
          </a:xfrm>
          <a:prstGeom xmlns:a="http://schemas.openxmlformats.org/drawingml/2006/main" prst="rect">
            <a:avLst/>
          </a:prstGeom>
          <a:solidFill xmlns:a="http://schemas.openxmlformats.org/drawingml/2006/main">
            <a:srgbClr val="1FB6A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A3CB21E-206B-4942-B6FC-FF44AA8D122F}"/>
              </a:ext>
            </a:extLst>
          </p:cNvPr>
          <p:cNvSpPr>
            <a:spLocks xmlns:a="http://schemas.openxmlformats.org/drawingml/2006/main" noGrp="1"/>
          </p:cNvSpPr>
          <p:nvPr/>
        </p:nvSpPr>
        <p:spPr>
          <a:xfrm xmlns:a="http://schemas.openxmlformats.org/drawingml/2006/main">
            <a:off x="685800" y="64008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E7180"/>
                </a:solidFill>
                <a:latin typeface="Aptos"/>
                <a:ea typeface="Aptos"/>
                <a:cs typeface="Aptos"/>
              </a:defRPr>
            </a:pPr>
            <a:r>
              <a:rPr sz="900" b="0">
                <a:solidFill>
                  <a:srgbClr val="5E7180"/>
                </a:solidFill>
                <a:latin typeface="Aptos"/>
                <a:ea typeface="Aptos"/>
                <a:cs typeface="Aptos"/>
              </a:rPr>
              <a:t>NOEMA  /  Factored AI &amp; Data Hackathon 2026</a:t>
            </a:r>
          </a:p>
        </p:txBody>
      </p:sp>
      <p:sp>
        <p:nvSpPr>
          <p:cNvPr id="5" name="">
            <a:extLst xmlns:a="http://schemas.openxmlformats.org/drawingml/2006/main">
              <a:ext uri="{FF2B5EF4-FFF2-40B4-BE49-F238E27FC236}">
                <a16:creationId xmlns:a16="http://schemas.microsoft.com/office/drawing/2014/main" id="{E97192CA-C026-4C84-9704-D3E4A80290B3}"/>
              </a:ext>
            </a:extLst>
          </p:cNvPr>
          <p:cNvSpPr>
            <a:spLocks xmlns:a="http://schemas.openxmlformats.org/drawingml/2006/main" noGrp="1"/>
          </p:cNvSpPr>
          <p:nvPr/>
        </p:nvSpPr>
        <p:spPr>
          <a:xfrm xmlns:a="http://schemas.openxmlformats.org/drawingml/2006/main">
            <a:off x="11096625" y="64008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5E7180"/>
                </a:solidFill>
                <a:latin typeface="Aptos"/>
                <a:ea typeface="Aptos"/>
                <a:cs typeface="Aptos"/>
              </a:defRPr>
            </a:pPr>
            <a:r>
              <a:rPr sz="900" b="1">
                <a:solidFill>
                  <a:srgbClr val="5E7180"/>
                </a:solidFill>
                <a:latin typeface="Aptos"/>
                <a:ea typeface="Aptos"/>
                <a:cs typeface="Aptos"/>
              </a:rPr>
              <a:t>15</a:t>
            </a:r>
          </a:p>
        </p:txBody>
      </p:sp>
      <p:sp>
        <p:nvSpPr>
          <p:cNvPr id="6" name="">
            <a:extLst xmlns:a="http://schemas.openxmlformats.org/drawingml/2006/main">
              <a:ext uri="{FF2B5EF4-FFF2-40B4-BE49-F238E27FC236}">
                <a16:creationId xmlns:a16="http://schemas.microsoft.com/office/drawing/2014/main" id="{45C4731B-1F67-4F61-A46E-5DCCF111D378}"/>
              </a:ext>
            </a:extLst>
          </p:cNvPr>
          <p:cNvSpPr>
            <a:spLocks xmlns:a="http://schemas.openxmlformats.org/drawingml/2006/main" noGrp="1"/>
          </p:cNvSpPr>
          <p:nvPr/>
        </p:nvSpPr>
        <p:spPr>
          <a:xfrm xmlns:a="http://schemas.openxmlformats.org/drawingml/2006/main">
            <a:off x="723900" y="1743075"/>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2433"/>
                </a:solidFill>
                <a:latin typeface="Aptos"/>
                <a:ea typeface="Aptos"/>
                <a:cs typeface="Aptos"/>
              </a:defRPr>
            </a:pPr>
            <a:r>
              <a:rPr sz="1725" b="1">
                <a:solidFill>
                  <a:srgbClr val="132433"/>
                </a:solidFill>
                <a:latin typeface="Aptos"/>
                <a:ea typeface="Aptos"/>
                <a:cs typeface="Aptos"/>
              </a:rPr>
              <a:t>Existing fixed-payment loans</a:t>
            </a:r>
          </a:p>
        </p:txBody>
      </p:sp>
      <p:sp>
        <p:nvSpPr>
          <p:cNvPr id="7" name="">
            <a:extLst xmlns:a="http://schemas.openxmlformats.org/drawingml/2006/main">
              <a:ext uri="{FF2B5EF4-FFF2-40B4-BE49-F238E27FC236}">
                <a16:creationId xmlns:a16="http://schemas.microsoft.com/office/drawing/2014/main" id="{C0110813-62C3-4EB6-A7D6-B4DF8D043035}"/>
              </a:ext>
            </a:extLst>
          </p:cNvPr>
          <p:cNvSpPr>
            <a:spLocks xmlns:a="http://schemas.openxmlformats.org/drawingml/2006/main" noGrp="1"/>
          </p:cNvSpPr>
          <p:nvPr/>
        </p:nvSpPr>
        <p:spPr>
          <a:xfrm xmlns:a="http://schemas.openxmlformats.org/drawingml/2006/main">
            <a:off x="723900" y="2105025"/>
            <a:ext cx="5143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Monthly payment = P x i / [1 - (1 + i)^(-n)].</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Use the original total term, not remaining term.</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Declare any assumed term.</a:t>
            </a:r>
          </a:p>
        </p:txBody>
      </p:sp>
      <p:sp>
        <p:nvSpPr>
          <p:cNvPr id="8" name="">
            <a:extLst xmlns:a="http://schemas.openxmlformats.org/drawingml/2006/main">
              <a:ext uri="{FF2B5EF4-FFF2-40B4-BE49-F238E27FC236}">
                <a16:creationId xmlns:a16="http://schemas.microsoft.com/office/drawing/2014/main" id="{02E8496F-92A5-4509-AFAE-097A59EDF258}"/>
              </a:ext>
            </a:extLst>
          </p:cNvPr>
          <p:cNvSpPr>
            <a:spLocks xmlns:a="http://schemas.openxmlformats.org/drawingml/2006/main" noGrp="1"/>
          </p:cNvSpPr>
          <p:nvPr/>
        </p:nvSpPr>
        <p:spPr>
          <a:xfrm xmlns:a="http://schemas.openxmlformats.org/drawingml/2006/main">
            <a:off x="6362700" y="1743075"/>
            <a:ext cx="5105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2433"/>
                </a:solidFill>
                <a:latin typeface="Aptos"/>
                <a:ea typeface="Aptos"/>
                <a:cs typeface="Aptos"/>
              </a:defRPr>
            </a:pPr>
            <a:r>
              <a:rPr sz="1725" b="1">
                <a:solidFill>
                  <a:srgbClr val="132433"/>
                </a:solidFill>
                <a:latin typeface="Aptos"/>
                <a:ea typeface="Aptos"/>
                <a:cs typeface="Aptos"/>
              </a:rPr>
              <a:t>Existing revolving cards</a:t>
            </a:r>
          </a:p>
        </p:txBody>
      </p:sp>
      <p:sp>
        <p:nvSpPr>
          <p:cNvPr id="9" name="">
            <a:extLst xmlns:a="http://schemas.openxmlformats.org/drawingml/2006/main">
              <a:ext uri="{FF2B5EF4-FFF2-40B4-BE49-F238E27FC236}">
                <a16:creationId xmlns:a16="http://schemas.microsoft.com/office/drawing/2014/main" id="{90B9C173-7675-4E38-882F-949C680B51EB}"/>
              </a:ext>
            </a:extLst>
          </p:cNvPr>
          <p:cNvSpPr>
            <a:spLocks xmlns:a="http://schemas.openxmlformats.org/drawingml/2006/main" noGrp="1"/>
          </p:cNvSpPr>
          <p:nvPr/>
        </p:nvSpPr>
        <p:spPr>
          <a:xfrm xmlns:a="http://schemas.openxmlformats.org/drawingml/2006/main">
            <a:off x="6362700" y="2105025"/>
            <a:ext cx="5105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5% of drawn balance, with a $25 payment floor.</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Add 0.5% of the unused line as stress.</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Unknown balance: assume the full line is drawn.</a:t>
            </a:r>
          </a:p>
        </p:txBody>
      </p:sp>
      <p:sp>
        <p:nvSpPr>
          <p:cNvPr id="10" name="">
            <a:extLst xmlns:a="http://schemas.openxmlformats.org/drawingml/2006/main">
              <a:ext uri="{FF2B5EF4-FFF2-40B4-BE49-F238E27FC236}">
                <a16:creationId xmlns:a16="http://schemas.microsoft.com/office/drawing/2014/main" id="{A13B7C9A-CDE0-43BB-966B-F9F9BBDF19D7}"/>
              </a:ext>
            </a:extLst>
          </p:cNvPr>
          <p:cNvSpPr>
            <a:spLocks xmlns:a="http://schemas.openxmlformats.org/drawingml/2006/main" noGrp="1"/>
          </p:cNvSpPr>
          <p:nvPr/>
        </p:nvSpPr>
        <p:spPr>
          <a:xfrm xmlns:a="http://schemas.openxmlformats.org/drawingml/2006/main">
            <a:off x="723900" y="3648075"/>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2433"/>
                </a:solidFill>
                <a:latin typeface="Aptos"/>
                <a:ea typeface="Aptos"/>
                <a:cs typeface="Aptos"/>
              </a:defRPr>
            </a:pPr>
            <a:r>
              <a:rPr sz="1725" b="1">
                <a:solidFill>
                  <a:srgbClr val="132433"/>
                </a:solidFill>
                <a:latin typeface="Aptos"/>
                <a:ea typeface="Aptos"/>
                <a:cs typeface="Aptos"/>
              </a:rPr>
              <a:t>Recognized reserves</a:t>
            </a:r>
          </a:p>
        </p:txBody>
      </p:sp>
      <p:sp>
        <p:nvSpPr>
          <p:cNvPr id="11" name="">
            <a:extLst xmlns:a="http://schemas.openxmlformats.org/drawingml/2006/main">
              <a:ext uri="{FF2B5EF4-FFF2-40B4-BE49-F238E27FC236}">
                <a16:creationId xmlns:a16="http://schemas.microsoft.com/office/drawing/2014/main" id="{F2021C58-4D0C-40DE-BAD3-C6B696532750}"/>
              </a:ext>
            </a:extLst>
          </p:cNvPr>
          <p:cNvSpPr>
            <a:spLocks xmlns:a="http://schemas.openxmlformats.org/drawingml/2006/main" noGrp="1"/>
          </p:cNvSpPr>
          <p:nvPr/>
        </p:nvSpPr>
        <p:spPr>
          <a:xfrm xmlns:a="http://schemas.openxmlformats.org/drawingml/2006/main">
            <a:off x="723900" y="4010025"/>
            <a:ext cx="5143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Eligible liquid account balances count at 100%.</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Investment balances count at 70%.</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6 months of current payments permits 45% DTI.</a:t>
            </a:r>
          </a:p>
        </p:txBody>
      </p:sp>
      <p:sp>
        <p:nvSpPr>
          <p:cNvPr id="12" name="">
            <a:extLst xmlns:a="http://schemas.openxmlformats.org/drawingml/2006/main">
              <a:ext uri="{FF2B5EF4-FFF2-40B4-BE49-F238E27FC236}">
                <a16:creationId xmlns:a16="http://schemas.microsoft.com/office/drawing/2014/main" id="{80401470-0620-4201-A51D-B973607F7E7F}"/>
              </a:ext>
            </a:extLst>
          </p:cNvPr>
          <p:cNvSpPr>
            <a:spLocks xmlns:a="http://schemas.openxmlformats.org/drawingml/2006/main" noGrp="1"/>
          </p:cNvSpPr>
          <p:nvPr/>
        </p:nvSpPr>
        <p:spPr>
          <a:xfrm xmlns:a="http://schemas.openxmlformats.org/drawingml/2006/main">
            <a:off x="6362700" y="3648075"/>
            <a:ext cx="5105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2433"/>
                </a:solidFill>
                <a:latin typeface="Aptos"/>
                <a:ea typeface="Aptos"/>
                <a:cs typeface="Aptos"/>
              </a:defRPr>
            </a:pPr>
            <a:r>
              <a:rPr sz="1725" b="1">
                <a:solidFill>
                  <a:srgbClr val="132433"/>
                </a:solidFill>
                <a:latin typeface="Aptos"/>
                <a:ea typeface="Aptos"/>
                <a:cs typeface="Aptos"/>
              </a:rPr>
              <a:t>Reserves for the proposed product</a:t>
            </a:r>
          </a:p>
        </p:txBody>
      </p:sp>
      <p:sp>
        <p:nvSpPr>
          <p:cNvPr id="13" name="">
            <a:extLst xmlns:a="http://schemas.openxmlformats.org/drawingml/2006/main">
              <a:ext uri="{FF2B5EF4-FFF2-40B4-BE49-F238E27FC236}">
                <a16:creationId xmlns:a16="http://schemas.microsoft.com/office/drawing/2014/main" id="{7F5F85D2-1D78-4564-A881-71122694C59B}"/>
              </a:ext>
            </a:extLst>
          </p:cNvPr>
          <p:cNvSpPr>
            <a:spLocks xmlns:a="http://schemas.openxmlformats.org/drawingml/2006/main" noGrp="1"/>
          </p:cNvSpPr>
          <p:nvPr/>
        </p:nvSpPr>
        <p:spPr>
          <a:xfrm xmlns:a="http://schemas.openxmlformats.org/drawingml/2006/main">
            <a:off x="6362700" y="4010025"/>
            <a:ext cx="5105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Personal loan: cover 1 proposed payment.</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Mortgage: cover 3 proposed payments.</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Card: no minimum reserve requirement.</a:t>
            </a:r>
          </a:p>
        </p:txBody>
      </p:sp>
      <p:sp>
        <p:nvSpPr>
          <p:cNvPr id="14" name="">
            <a:extLst xmlns:a="http://schemas.openxmlformats.org/drawingml/2006/main">
              <a:ext uri="{FF2B5EF4-FFF2-40B4-BE49-F238E27FC236}">
                <a16:creationId xmlns:a16="http://schemas.microsoft.com/office/drawing/2014/main" id="{ACAB1550-87B8-4E48-8FDB-0D2007EC447F}"/>
              </a:ext>
            </a:extLst>
          </p:cNvPr>
          <p:cNvSpPr>
            <a:spLocks xmlns:a="http://schemas.openxmlformats.org/drawingml/2006/main" noGrp="1"/>
          </p:cNvSpPr>
          <p:nvPr/>
        </p:nvSpPr>
        <p:spPr>
          <a:xfrm xmlns:a="http://schemas.openxmlformats.org/drawingml/2006/main">
            <a:off x="704850" y="575310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E7180"/>
                </a:solidFill>
                <a:latin typeface="Aptos"/>
                <a:ea typeface="Aptos"/>
                <a:cs typeface="Aptos"/>
              </a:defRPr>
            </a:pPr>
            <a:r>
              <a:rPr sz="1275" b="0">
                <a:solidFill>
                  <a:srgbClr val="5E7180"/>
                </a:solidFill>
                <a:latin typeface="Aptos"/>
                <a:ea typeface="Aptos"/>
                <a:cs typeface="Aptos"/>
              </a:rPr>
              <a:t>P = principal, i = monthly rate, n = months. Payment floor applies to a positive drawn balance. All are prototype rules.</a:t>
            </a:r>
          </a:p>
        </p:txBody>
      </p:sp>
    </p:spTree>
    <p:extLst>
      <p:ext uri="{BB962C8B-B14F-4D97-AF65-F5344CB8AC3E}">
        <p14:creationId xmlns:p14="http://schemas.microsoft.com/office/powerpoint/2010/main" val="7798841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2026-10-05T01:10:44.5810000Z</dcterms:created>
  <dcterms:modified xsi:type="dcterms:W3CDTF">2026-10-05T01:10:44.5810000Z</dcterms:modified>
</coreProperties>
</file>
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2b8d98199b4e8b" /><Relationship Type="http://schemas.openxmlformats.org/officeDocument/2006/relationships/extended-properties" Target="/docProps/app.xml" Id="R999f7d0ecf7f43d6" /><Relationship Type="http://schemas.openxmlformats.org/officeDocument/2006/relationships/officeDocument" Target="/ppt/presentation.xml" Id="Re17bd5c298a246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e797d88c23475a"/>
  </p:sldMasterIdLst>
  <p:notesMasterIdLst>
    <p:notesMasterId xmlns:r="http://schemas.openxmlformats.org/officeDocument/2006/relationships" r:id="R3dbb6189322c4f12"/>
  </p:notesMasterIdLst>
  <p:sldIdLst>
    <p:sldId xmlns:r="http://schemas.openxmlformats.org/officeDocument/2006/relationships" id="256" r:id="R917e8a4628dc4c64"/>
    <p:sldId xmlns:r="http://schemas.openxmlformats.org/officeDocument/2006/relationships" id="257" r:id="R30ba95bf9e494988"/>
    <p:sldId xmlns:r="http://schemas.openxmlformats.org/officeDocument/2006/relationships" id="258" r:id="R4c9d7e2a99494651"/>
    <p:sldId xmlns:r="http://schemas.openxmlformats.org/officeDocument/2006/relationships" id="259" r:id="R54ea97d7e1784a4b"/>
    <p:sldId xmlns:r="http://schemas.openxmlformats.org/officeDocument/2006/relationships" id="260" r:id="Rc8628d9098234b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61fda01d264c0b" /><Relationship Type="http://schemas.openxmlformats.org/officeDocument/2006/relationships/slideMaster" Target="/ppt/slideMasters/slideMaster1.xml" Id="Ra5e797d88c23475a" /><Relationship Type="http://schemas.openxmlformats.org/officeDocument/2006/relationships/notesMaster" Target="/ppt/notesMasters/notesMaster1.xml" Id="R3dbb6189322c4f12" /><Relationship Type="http://schemas.openxmlformats.org/officeDocument/2006/relationships/presProps" Target="/ppt/presProps.xml" Id="Rd0d3d316c39043a6" /><Relationship Type="http://schemas.openxmlformats.org/officeDocument/2006/relationships/tableStyles" Target="/ppt/tableStyles.xml" Id="R5f57b709ccfd42cb" /><Relationship Type="http://schemas.openxmlformats.org/officeDocument/2006/relationships/slide" Target="/ppt/slides/slide1.xml" Id="R917e8a4628dc4c64" /><Relationship Type="http://schemas.openxmlformats.org/officeDocument/2006/relationships/slide" Target="/ppt/slides/slide2.xml" Id="R30ba95bf9e494988" /><Relationship Type="http://schemas.openxmlformats.org/officeDocument/2006/relationships/slide" Target="/ppt/slides/slide3.xml" Id="R4c9d7e2a99494651" /><Relationship Type="http://schemas.openxmlformats.org/officeDocument/2006/relationships/slide" Target="/ppt/slides/slide4.xml" Id="R54ea97d7e1784a4b" /><Relationship Type="http://schemas.openxmlformats.org/officeDocument/2006/relationships/slide" Target="/ppt/slides/slide5.xml" Id="Rc8628d9098234b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4f155835ee4b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52cf90da0b4dd4" /><Relationship Type="http://schemas.openxmlformats.org/officeDocument/2006/relationships/notesMaster" Target="/ppt/notesMasters/notesMaster1.xml" Id="Rd0ccd3ce602643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ab3ffe233f4221" /><Relationship Type="http://schemas.openxmlformats.org/officeDocument/2006/relationships/notesMaster" Target="/ppt/notesMasters/notesMaster1.xml" Id="R9fbf454f0b874a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7e78208b954a0d" /><Relationship Type="http://schemas.openxmlformats.org/officeDocument/2006/relationships/notesMaster" Target="/ppt/notesMasters/notesMaster1.xml" Id="R8507c4bb2df14a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c37a94eec54b77" /><Relationship Type="http://schemas.openxmlformats.org/officeDocument/2006/relationships/notesMaster" Target="/ppt/notesMasters/notesMaster1.xml" Id="R4b9072b2a0074c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7338458ecd4048" /><Relationship Type="http://schemas.openxmlformats.org/officeDocument/2006/relationships/notesMaster" Target="/ppt/notesMasters/notesMaster1.xml" Id="Rc9f39b98cd7148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sections 1, 2, 3, 4, and 10; docs/00_challenge_brief.md.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sections 1, 2, and 3; docs/00_challenge_brief.md. Framing is summarized from the hackathon requirements documented in the repo.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sections 3 and 4; docs/18_noema_ai_final_architecture.md. The architecture summary follows the repository diagram and local deployment constraints.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section 2; docs/05_security.md sections 2 through 7; docs/03_credit_policy.md for policy behavior. Table is native and editable.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docs/23_executive_summary_validation.md; docs/federico_model_and_data_results.txt; README.md section 10. The capacity coverage value reflects conservative abstention rules, not total credit eligibility.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6053461c4f42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e1202ec6e24c89" /><Relationship Type="http://schemas.openxmlformats.org/officeDocument/2006/relationships/slideLayout" Target="/ppt/slideLayouts/slideLayout1.xml" Id="Rbf3d9f845ebe4b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3d9f845ebe4b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0c1f34fc941e9" /><Relationship Type="http://schemas.openxmlformats.org/officeDocument/2006/relationships/image" Target="/ppt/media/image.png" Id="Rd6c8d7dc084b4ac6" /><Relationship Type="http://schemas.openxmlformats.org/officeDocument/2006/relationships/notesSlide" Target="/ppt/notesSlides/notesSlide1.xml" Id="R3a6cc78b82ae4b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2210b01c694d29" /><Relationship Type="http://schemas.openxmlformats.org/officeDocument/2006/relationships/notesSlide" Target="/ppt/notesSlides/notesSlide2.xml" Id="R5c9672399cd340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5f42fa8ea74377" /><Relationship Type="http://schemas.openxmlformats.org/officeDocument/2006/relationships/notesSlide" Target="/ppt/notesSlides/notesSlide3.xml" Id="R6edcb2fb99d745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ef6c0352024d29" /><Relationship Type="http://schemas.openxmlformats.org/officeDocument/2006/relationships/notesSlide" Target="/ppt/notesSlides/notesSlide4.xml" Id="R4dce9777c5d74b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1152214234ab3" /><Relationship Type="http://schemas.openxmlformats.org/officeDocument/2006/relationships/notesSlide" Target="/ppt/notesSlides/notesSlide5.xml" Id="R14c061e46d5542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8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c8d7dc084b4ac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662736-A823-43A8-9B57-6ADCC932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6197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95EF7D-F026-4A57-A05F-34B29FC0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371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402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NOEMA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957355-4605-408F-964D-8F6FF755F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4143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6F3EC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6F3EC"/>
                </a:solidFill>
                <a:latin typeface="Aptos"/>
                <a:ea typeface="Aptos"/>
                <a:cs typeface="Aptos"/>
              </a:rPr>
              <a:t>Credit eligibility assistant for safer banking conversations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A26EF3-746F-4063-8265-56B28AD0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45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13C7E4-3E13-4A23-A1D0-E2AEF21F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9E3E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9E3E7"/>
                </a:solidFill>
                <a:latin typeface="Aptos"/>
                <a:ea typeface="Aptos"/>
                <a:cs typeface="Aptos"/>
              </a:rPr>
              <a:t>Built for Factored AI &amp; Data Hackathon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342728-C106-4B2E-9AF9-8F68F4E5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ACAD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ACAD1"/>
                </a:solidFill>
                <a:latin typeface="Aptos"/>
                <a:ea typeface="Aptos"/>
                <a:cs typeface="Aptos"/>
              </a:rPr>
              <a:t>Spanish and Portuguese · verified data · deterministic credit policy · structured human handoff</a:t>
            </a:r>
          </a:p>
        </p:txBody>
      </p:sp>
    </p:spTree>
    <p:extLst>
      <p:ext uri="{BB962C8B-B14F-4D97-AF65-F5344CB8AC3E}">
        <p14:creationId xmlns:p14="http://schemas.microsoft.com/office/powerpoint/2010/main" val="2517620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8F41CE-6DB9-4208-8E55-CC01612E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324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32433"/>
                </a:solidFill>
                <a:latin typeface="Aptos"/>
                <a:ea typeface="Aptos"/>
                <a:cs typeface="Aptos"/>
              </a:rPr>
              <a:t>The banking gap NOEMA targets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75F0DF-7384-4F8D-A3E4-46267034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876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E718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7180"/>
                </a:solidFill>
                <a:latin typeface="Aptos"/>
                <a:ea typeface="Aptos"/>
                <a:cs typeface="Aptos"/>
              </a:rPr>
              <a:t>Hackathon scoring rewards systems that act safely, not chatbots that sound confident.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CE22D8-C5A5-441A-B8AF-ADED1BA9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763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6A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FBB2FD-ECFC-4519-8B80-7B5B8EA2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320040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741FBE-C620-4CD2-A62F-98F0E654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5715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45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BE3B7E-4066-4FED-8909-A111FA24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4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2433"/>
                </a:solidFill>
                <a:latin typeface="Aptos"/>
                <a:ea typeface="Aptos"/>
                <a:cs typeface="Aptos"/>
              </a:rPr>
              <a:t>The risk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58FCF3-8FCF-4332-9750-E712D1AA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27813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1455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4554"/>
                </a:solidFill>
                <a:latin typeface="Aptos"/>
                <a:ea typeface="Aptos"/>
                <a:cs typeface="Aptos"/>
              </a:rPr>
              <a:t>Credit conversations mix identity, eligibility, personal data, and product terms. A fluent answer can still expose data, invent a number, or approve something the bank cannot defend.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232210-8F5F-45C9-B1C3-C611EADC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714500"/>
            <a:ext cx="320040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0D466F-1492-4600-AFCE-BD94282A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714500"/>
            <a:ext cx="5715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6A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7F5A34-1497-4C8C-919D-AC44B79B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8859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4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2433"/>
                </a:solidFill>
                <a:latin typeface="Aptos"/>
                <a:ea typeface="Aptos"/>
                <a:cs typeface="Aptos"/>
              </a:rPr>
              <a:t>The requirement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ECDE29-B3F0-4DEC-9780-153AAC55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86000"/>
            <a:ext cx="27813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1455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4554"/>
                </a:solidFill>
                <a:latin typeface="Aptos"/>
                <a:ea typeface="Aptos"/>
                <a:cs typeface="Aptos"/>
              </a:rPr>
              <a:t>The challenge asks for a working customer-service system with visible understand, decide, act, verify, and escalate stages.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6E6B82-81B4-4175-BBEF-27B5CF33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14500"/>
            <a:ext cx="320040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496A93-084B-4816-A529-50FB20B4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14500"/>
            <a:ext cx="5715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FB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064E14-3BCA-44A4-96A8-5BD6B5FE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859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4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2433"/>
                </a:solidFill>
                <a:latin typeface="Aptos"/>
                <a:ea typeface="Aptos"/>
                <a:cs typeface="Aptos"/>
              </a:rPr>
              <a:t>NOEMA's 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A75DA8-7BFB-4E09-A846-B93B2FF6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86000"/>
            <a:ext cx="27813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1455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4554"/>
                </a:solidFill>
                <a:latin typeface="Aptos"/>
                <a:ea typeface="Aptos"/>
                <a:cs typeface="Aptos"/>
              </a:rPr>
              <a:t>The language model explains and clarifies. Database tools provide figures. A policy engine decides eligibility. The system escalates with verified facts when evidence is missing.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2DD98C-F3D9-47D8-87E9-64DA0D08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48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4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433"/>
                </a:solidFill>
                <a:latin typeface="Aptos"/>
                <a:ea typeface="Aptos"/>
                <a:cs typeface="Aptos"/>
              </a:rPr>
              <a:t>Design principle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71C847-C928-4FFA-8412-D1633404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4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2433"/>
                </a:solidFill>
                <a:latin typeface="Aptos"/>
                <a:ea typeface="Aptos"/>
                <a:cs typeface="Aptos"/>
              </a:rPr>
              <a:t>No figure comes from the LLM, and the LLM does not decide eligibility.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A3DBA2-FE30-4E84-B934-6763515C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E71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7180"/>
                </a:solidFill>
                <a:latin typeface="Aptos"/>
                <a:ea typeface="Aptos"/>
                <a:cs typeface="Aptos"/>
              </a:rPr>
              <a:t>NOEMA · Factored AI &amp; Data Hackathon 2026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E3501-9F92-49BE-92AE-D7F6F889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1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964007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3D823D7-A1CE-4A61-B33E-CC39DE6F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324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32433"/>
                </a:solidFill>
                <a:latin typeface="Aptos"/>
                <a:ea typeface="Aptos"/>
                <a:cs typeface="Aptos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5E69E-E3E5-40DD-9896-5CE55D81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876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E718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7180"/>
                </a:solidFill>
                <a:latin typeface="Aptos"/>
                <a:ea typeface="Aptos"/>
                <a:cs typeface="Aptos"/>
              </a:rPr>
              <a:t>The frontend stays thin. The API owns orchestration, tools, policies, and verified reads.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75FC9D-DE69-43A5-BFD8-8D6CAF13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763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6A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436ACA-5BE3-48C2-96B4-2C733F2F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1600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0DA7AA-94DC-41E7-A022-0DA52100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1600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6A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AAA5B0-26AF-4461-9C9B-74C6CE8E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145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324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433"/>
                </a:solidFill>
                <a:latin typeface="Aptos"/>
                <a:ea typeface="Aptos"/>
                <a:cs typeface="Aptos"/>
              </a:rPr>
              <a:t>Understand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C29010-FD88-4F47-9E14-EDA5329C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621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28"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5E718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E7180"/>
                </a:solidFill>
                <a:latin typeface="Aptos"/>
                <a:ea typeface="Aptos"/>
                <a:cs typeface="Aptos"/>
              </a:rPr>
              <a:t>Intent, language, slots, missing facts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4C0562-91C6-42DA-A2E5-E92F1020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752600"/>
            <a:ext cx="1600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05D195-D134-480E-8BB1-E87035D0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752600"/>
            <a:ext cx="1600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6A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62D1BE-0FEA-4A03-9918-7A502DDF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19145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324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433"/>
                </a:solidFill>
                <a:latin typeface="Aptos"/>
                <a:ea typeface="Aptos"/>
                <a:cs typeface="Aptos"/>
              </a:rPr>
              <a:t>Access guard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C429D7-0B00-4FB8-A9B4-A048FDB8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1621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222"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5E718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E7180"/>
                </a:solidFill>
                <a:latin typeface="Aptos"/>
                <a:ea typeface="Aptos"/>
                <a:cs typeface="Aptos"/>
              </a:rPr>
              <a:t>Document and birth date check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E4A5F1-BD2D-4CB9-8A6A-7E9D6161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52600"/>
            <a:ext cx="1600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9D4279-D841-418E-A069-8FBDCD09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52600"/>
            <a:ext cx="1600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6A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AD519F-3E47-4899-98FA-809A2950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145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324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433"/>
                </a:solidFill>
                <a:latin typeface="Aptos"/>
                <a:ea typeface="Aptos"/>
                <a:cs typeface="Aptos"/>
              </a:rPr>
              <a:t>Decide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67D352-0CD2-40C3-8AAE-46FDE5EE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621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810"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5E718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E7180"/>
                </a:solidFill>
                <a:latin typeface="Aptos"/>
                <a:ea typeface="Aptos"/>
                <a:cs typeface="Aptos"/>
              </a:rPr>
              <a:t>Models plus versioned policy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9968BE-E1FD-4B30-95E6-B675DB21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752600"/>
            <a:ext cx="1600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6617C4-3CF9-436F-A117-64B50DBD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752600"/>
            <a:ext cx="1600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6A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278D6C-ABA6-4DEE-8E11-B543A444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9145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324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433"/>
                </a:solidFill>
                <a:latin typeface="Aptos"/>
                <a:ea typeface="Aptos"/>
                <a:cs typeface="Aptos"/>
              </a:rPr>
              <a:t>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3BCC19-A84B-47E4-A047-D38F63A8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1621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548"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5E718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E7180"/>
                </a:solidFill>
                <a:latin typeface="Aptos"/>
                <a:ea typeface="Aptos"/>
                <a:cs typeface="Aptos"/>
              </a:rPr>
              <a:t>Typed tools and role allowlist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5967CF-3C1A-4BEE-84D0-09EB8617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52600"/>
            <a:ext cx="1600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B367ED-A996-4584-A272-049D5867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52600"/>
            <a:ext cx="1600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6A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837926-6829-47AC-8D7D-2CCE83DC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145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324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433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9B1C2D-839B-4837-B18F-FA25266E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621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5E718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E7180"/>
                </a:solidFill>
                <a:latin typeface="Aptos"/>
                <a:ea typeface="Aptos"/>
                <a:cs typeface="Aptos"/>
              </a:rPr>
              <a:t>Read back every write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ECAE5A-BB6E-4B7A-9CEC-4BBE002C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752600"/>
            <a:ext cx="1600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84EF69-434E-4BD3-8101-C83D3828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752600"/>
            <a:ext cx="1600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6A6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E6223F-B97F-49D5-A698-B08E1558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9145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324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433"/>
                </a:solidFill>
                <a:latin typeface="Aptos"/>
                <a:ea typeface="Aptos"/>
                <a:cs typeface="Aptos"/>
              </a:rPr>
              <a:t>Escalate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45C032-F061-4379-A92E-42B7B52F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1621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5E718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E7180"/>
                </a:solidFill>
                <a:latin typeface="Aptos"/>
                <a:ea typeface="Aptos"/>
                <a:cs typeface="Aptos"/>
              </a:rPr>
              <a:t>Structured case file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12A15F-C0C5-4437-82A4-21423F12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194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7DD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6247DC-4872-424F-80BF-056EF574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3143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7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2AADE2-21DA-4012-BB7A-3C25B707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FB3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ACB570-8129-4A09-BFBD-73BDBFC7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671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4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2433"/>
                </a:solidFill>
                <a:latin typeface="Aptos"/>
                <a:ea typeface="Aptos"/>
                <a:cs typeface="Aptos"/>
              </a:rPr>
              <a:t>Channels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A8E4E6-460B-45AB-A126-98D7F42C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67200"/>
            <a:ext cx="2724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1455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4554"/>
                </a:solidFill>
                <a:latin typeface="Aptos"/>
                <a:ea typeface="Aptos"/>
                <a:cs typeface="Aptos"/>
              </a:rPr>
              <a:t>Next.js UI exposes chat, glass-box diagnostics, case console, and analytics views.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139555-B9ED-45A8-A2CC-E5FDA8AD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95700"/>
            <a:ext cx="3143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7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A202F8-3084-4485-A9EB-3A59AF9A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9570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6A6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B45DF6-3BD8-4A78-9287-949CFD34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671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4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2433"/>
                </a:solidFill>
                <a:latin typeface="Aptos"/>
                <a:ea typeface="Aptos"/>
                <a:cs typeface="Aptos"/>
              </a:rPr>
              <a:t>Service layer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EEEC41-4B79-4A7C-88CD-68A2878A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267200"/>
            <a:ext cx="2724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1455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4554"/>
                </a:solidFill>
                <a:latin typeface="Aptos"/>
                <a:ea typeface="Aptos"/>
                <a:cs typeface="Aptos"/>
              </a:rPr>
              <a:t>FastAPI calls the orchestrator, verifier, policy engine, ML models, and tool registry.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1B948E-6896-40CF-AC41-6EBCA43C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95700"/>
            <a:ext cx="3143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7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F5E830E-AEF4-48C7-944E-ADB3CF56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9570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45C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98414C2-88CE-48F3-A104-D2EF0662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671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4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2433"/>
                </a:solidFill>
                <a:latin typeface="Aptos"/>
                <a:ea typeface="Aptos"/>
                <a:cs typeface="Aptos"/>
              </a:rPr>
              <a:t>Data and models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800D9E-2CFD-4D7D-B5C5-CB87F60D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2724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1455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4554"/>
                </a:solidFill>
                <a:latin typeface="Aptos"/>
                <a:ea typeface="Aptos"/>
                <a:cs typeface="Aptos"/>
              </a:rPr>
              <a:t>DuckDB and dbt curate gold tables locally. Databricks supports Delta and MLflow planning.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5FC5001-AF3E-4B01-9FBC-DF2AA118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E71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7180"/>
                </a:solidFill>
                <a:latin typeface="Aptos"/>
                <a:ea typeface="Aptos"/>
                <a:cs typeface="Aptos"/>
              </a:rPr>
              <a:t>NOEMA · Factored AI &amp; Data Hackathon 2026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170B35C-4C20-4AE2-A10D-BD7048E5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1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028055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D2B0E3-384B-45BC-AC5B-33BCAB1A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324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32433"/>
                </a:solidFill>
                <a:latin typeface="Aptos"/>
                <a:ea typeface="Aptos"/>
                <a:cs typeface="Aptos"/>
              </a:rPr>
              <a:t>Controls that make the assistant defensible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2F2010-5269-493E-BFF0-5A0D5CAE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876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E718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7180"/>
                </a:solidFill>
                <a:latin typeface="Aptos"/>
                <a:ea typeface="Aptos"/>
                <a:cs typeface="Aptos"/>
              </a:rPr>
              <a:t>NOEMA turns safety rules into executable checks instead of relying on prompt wording.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EB09F0-78EF-4512-93F9-5AD1B16E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763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6A6"/>
          </a:solidFill>
          <a:ln xmlns:a="http://schemas.openxmlformats.org/drawingml/2006/main" w="0">
            <a:noFill/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62000" y="1619250"/>
          <a:ext xmlns:a="http://schemas.openxmlformats.org/drawingml/2006/main" cx="1066800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556000"/>
                <a:gridCol w="3556000"/>
                <a:gridCol w="3556000"/>
              </a:tblGrid>
              <a:tr h="6286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Risk area</a:t>
                      </a:r>
                    </a:p>
                  </a:txBody>
                  <a:tcPr marL="91440" marR="91440" marT="45720" marB="45720">
                    <a:solidFill>
                      <a:srgbClr val="0718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Control in NOEMA</a:t>
                      </a:r>
                    </a:p>
                  </a:txBody>
                  <a:tcPr marL="91440" marR="91440" marT="45720" marB="45720">
                    <a:solidFill>
                      <a:srgbClr val="0718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Evidence</a:t>
                      </a:r>
                    </a:p>
                  </a:txBody>
                  <a:tcPr marL="91440" marR="91440" marT="45720" marB="45720">
                    <a:solidFill>
                      <a:srgbClr val="07182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32433"/>
                          </a:solidFill>
                          <a:latin typeface="Aptos"/>
                          <a:ea typeface="Aptos"/>
                          <a:cs typeface="Aptos"/>
                        </a:rPr>
                        <a:t>Identity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32433"/>
                          </a:solidFill>
                          <a:latin typeface="Aptos"/>
                          <a:ea typeface="Aptos"/>
                          <a:cs typeface="Aptos"/>
                        </a:rPr>
                        <a:t>Document type, document number, and date of birth before personal data leaves the system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32433"/>
                          </a:solidFill>
                          <a:latin typeface="Aptos"/>
                          <a:ea typeface="Aptos"/>
                          <a:cs typeface="Aptos"/>
                        </a:rPr>
                        <a:t>Three attempts, identical errors, constant-time comparison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32433"/>
                          </a:solidFill>
                          <a:latin typeface="Aptos"/>
                          <a:ea typeface="Aptos"/>
                          <a:cs typeface="Aptos"/>
                        </a:rPr>
                        <a:t>Numbers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32433"/>
                          </a:solidFill>
                          <a:latin typeface="Aptos"/>
                          <a:ea typeface="Aptos"/>
                          <a:cs typeface="Aptos"/>
                        </a:rPr>
                        <a:t>Grounding checker blocks figures that did not come from tools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32433"/>
                          </a:solidFill>
                          <a:latin typeface="Aptos"/>
                          <a:ea typeface="Aptos"/>
                          <a:cs typeface="Aptos"/>
                        </a:rPr>
                        <a:t>Final answer cannot carry unsupported values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32433"/>
                          </a:solidFill>
                          <a:latin typeface="Aptos"/>
                          <a:ea typeface="Aptos"/>
                          <a:cs typeface="Aptos"/>
                        </a:rPr>
                        <a:t>Eligibility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32433"/>
                          </a:solidFill>
                          <a:latin typeface="Aptos"/>
                          <a:ea typeface="Aptos"/>
                          <a:cs typeface="Aptos"/>
                        </a:rPr>
                        <a:t>YAML policy and trained models decide credit outcomes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32433"/>
                          </a:solidFill>
                          <a:latin typeface="Aptos"/>
                          <a:ea typeface="Aptos"/>
                          <a:cs typeface="Aptos"/>
                        </a:rPr>
                        <a:t>Policy tested without an LLM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32433"/>
                          </a:solidFill>
                          <a:latin typeface="Aptos"/>
                          <a:ea typeface="Aptos"/>
                          <a:cs typeface="Aptos"/>
                        </a:rPr>
                        <a:t>Actions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32433"/>
                          </a:solidFill>
                          <a:latin typeface="Aptos"/>
                          <a:ea typeface="Aptos"/>
                          <a:cs typeface="Aptos"/>
                        </a:rPr>
                        <a:t>Writes use typed tools, role checks, idempotency keys, and read-back verification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32433"/>
                          </a:solidFill>
                          <a:latin typeface="Aptos"/>
                          <a:ea typeface="Aptos"/>
                          <a:cs typeface="Aptos"/>
                        </a:rPr>
                        <a:t>Mismatch triggers escalation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53FDE8-D216-4AB1-AF10-2B97EE90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4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433"/>
                </a:solidFill>
                <a:latin typeface="Aptos"/>
                <a:ea typeface="Aptos"/>
                <a:cs typeface="Aptos"/>
              </a:rPr>
              <a:t>Security posture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A097EE-D4AF-4121-8CF7-7390477F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162550"/>
            <a:ext cx="8239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148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1455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14554"/>
                </a:solidFill>
                <a:latin typeface="Aptos"/>
                <a:ea typeface="Aptos"/>
                <a:cs typeface="Aptos"/>
              </a:rPr>
              <a:t>The prototype treats synthetic data as real personal data: hashed traces, short retention windows, read-only business tables, and protected metrics.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E5A043-6A4B-49DA-BC86-A051E717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E71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7180"/>
                </a:solidFill>
                <a:latin typeface="Aptos"/>
                <a:ea typeface="Aptos"/>
                <a:cs typeface="Aptos"/>
              </a:rPr>
              <a:t>NOEMA · Factored AI &amp; Data Hackathon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79C856-D12A-49DB-B415-445F3F1B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1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60094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D3EDDF-59D5-432F-965A-A13ED1AB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324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32433"/>
                </a:solidFill>
                <a:latin typeface="Aptos"/>
                <a:ea typeface="Aptos"/>
                <a:cs typeface="Aptos"/>
              </a:rPr>
              <a:t>Validation and demo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43D293-CBE8-4697-A2B2-F0871567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876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E718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7180"/>
                </a:solidFill>
                <a:latin typeface="Aptos"/>
                <a:ea typeface="Aptos"/>
                <a:cs typeface="Aptos"/>
              </a:rPr>
              <a:t>The current prototype is ready for a credible hackathon demo, with production gaps stated plainly.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44A023-1D84-494C-BF35-2E1209E6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763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6A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E2FCDC-23BA-4829-8E96-C4624871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655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FB6A6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FB6A6"/>
                </a:solidFill>
                <a:latin typeface="Aptos"/>
                <a:ea typeface="Aptos"/>
                <a:cs typeface="Aptos"/>
              </a:rPr>
              <a:t>945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F7888F-1E87-4FC1-8EB7-E7C22B5B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4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433"/>
                </a:solidFill>
                <a:latin typeface="Aptos"/>
                <a:ea typeface="Aptos"/>
                <a:cs typeface="Aptos"/>
              </a:rPr>
              <a:t>backend tests passed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E76EF1-64F6-4D81-AF47-EC4E86F0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69545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655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C9A45C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C9A45C"/>
                </a:solidFill>
                <a:latin typeface="Aptos"/>
                <a:ea typeface="Aptos"/>
                <a:cs typeface="Aptos"/>
              </a:rPr>
              <a:t>23.5M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D4FBE9-8966-4D8E-9C28-304948A4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00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4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433"/>
                </a:solidFill>
                <a:latin typeface="Aptos"/>
                <a:ea typeface="Aptos"/>
                <a:cs typeface="Aptos"/>
              </a:rPr>
              <a:t>source rows audited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84437C-0F33-4E10-9E0C-21305A71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9545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655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6D8FB3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6D8FB3"/>
                </a:solidFill>
                <a:latin typeface="Aptos"/>
                <a:ea typeface="Aptos"/>
                <a:cs typeface="Aptos"/>
              </a:rPr>
              <a:t>25/25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94F7C3-E886-48D5-8617-A59DCF05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003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4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433"/>
                </a:solidFill>
                <a:latin typeface="Aptos"/>
                <a:ea typeface="Aptos"/>
                <a:cs typeface="Aptos"/>
              </a:rPr>
              <a:t>dbt models and tests passed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97EA7D-C663-41E2-9513-34A744A2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69545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655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FB6A6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FB6A6"/>
                </a:solidFill>
                <a:latin typeface="Aptos"/>
                <a:ea typeface="Aptos"/>
                <a:cs typeface="Aptos"/>
              </a:rPr>
              <a:t>5.57%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013CF4-E1A3-4E53-8DC0-2A88C4AA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4003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25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4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2433"/>
                </a:solidFill>
                <a:latin typeface="Aptos"/>
                <a:ea typeface="Aptos"/>
                <a:cs typeface="Aptos"/>
              </a:rPr>
              <a:t>capacity model coverage under conservative rules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412695-C9BA-450C-A832-309EE17E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81375"/>
            <a:ext cx="1072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7D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9D7A74-6F0F-4097-A7C8-DE3A28F1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2194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550FAF-22F8-48CE-BE06-4ABC2AD3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571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6A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088505-7A37-4057-A977-BFC71661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576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4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2433"/>
                </a:solidFill>
                <a:latin typeface="Aptos"/>
                <a:ea typeface="Aptos"/>
                <a:cs typeface="Aptos"/>
              </a:rPr>
              <a:t>Demo strengths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4108D9-C447-4BFE-A12D-8AD6F471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577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223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1455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4554"/>
                </a:solidFill>
                <a:latin typeface="Aptos"/>
                <a:ea typeface="Aptos"/>
                <a:cs typeface="Aptos"/>
              </a:rPr>
              <a:t>Runnable local flow, visible policy diagnostics, verified write patterns, and structured escalation rather than raw transcripts.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A73DF3-98ED-448F-A398-FA5D532D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86200"/>
            <a:ext cx="32194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F724A4-981D-440A-85C0-9D10E883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86200"/>
            <a:ext cx="571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45C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B14287-89D8-473D-9A2F-CF345642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576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4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2433"/>
                </a:solidFill>
                <a:latin typeface="Aptos"/>
                <a:ea typeface="Aptos"/>
                <a:cs typeface="Aptos"/>
              </a:rPr>
              <a:t>Honest limitation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22D667-A70A-4AAC-8EE8-B00AE2DB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4577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1455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4554"/>
                </a:solidFill>
                <a:latin typeface="Aptos"/>
                <a:ea typeface="Aptos"/>
                <a:cs typeface="Aptos"/>
              </a:rPr>
              <a:t>The main chatbot endpoint should still move onto the stricter orchestrator and grounding path before production use.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79073E-2C78-4B3D-B498-FBAFC667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86200"/>
            <a:ext cx="32194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7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9BDE09-3167-4C92-AA88-4E84B44D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86200"/>
            <a:ext cx="571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FB3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9674E4-5D6F-4A21-9BED-F97903EE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576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4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2433"/>
                </a:solidFill>
                <a:latin typeface="Aptos"/>
                <a:ea typeface="Aptos"/>
                <a:cs typeface="Aptos"/>
              </a:rPr>
              <a:t>Submission fit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8BEE97-A9E1-4A03-9273-4844B32D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577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1455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4554"/>
                </a:solidFill>
                <a:latin typeface="Aptos"/>
                <a:ea typeface="Aptos"/>
                <a:cs typeface="Aptos"/>
              </a:rPr>
              <a:t>The five-slide deck, repository, live URL, and short demo video map directly to the Factored deliverables.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6F29C3-6F1F-4A0B-BF75-805B90DC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E71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7180"/>
                </a:solidFill>
                <a:latin typeface="Aptos"/>
                <a:ea typeface="Aptos"/>
                <a:cs typeface="Aptos"/>
              </a:rPr>
              <a:t>NOEMA · Factored AI &amp; Data Hackathon 2026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B3D4D5-8227-40FD-941A-B1DBF075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1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097493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2026-10-05T00:32:45.4070000Z</dcterms:created>
  <dcterms:modified xsi:type="dcterms:W3CDTF">2026-10-05T00:32:45.4070000Z</dcterms:modified>
</coreProperties>
</file>